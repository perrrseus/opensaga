
<file path=[Content_Types].xml><?xml version="1.0" encoding="utf-8"?>
<Types xmlns="http://schemas.openxmlformats.org/package/2006/content-types">
  <Default Extension="bin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81" r:id="rId7"/>
    <p:sldId id="261" r:id="rId8"/>
    <p:sldId id="262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307" r:id="rId18"/>
    <p:sldId id="310" r:id="rId19"/>
    <p:sldId id="311" r:id="rId20"/>
    <p:sldId id="290" r:id="rId21"/>
    <p:sldId id="292" r:id="rId22"/>
    <p:sldId id="291" r:id="rId23"/>
    <p:sldId id="294" r:id="rId24"/>
    <p:sldId id="295" r:id="rId25"/>
    <p:sldId id="305" r:id="rId26"/>
    <p:sldId id="296" r:id="rId27"/>
    <p:sldId id="304" r:id="rId28"/>
    <p:sldId id="306" r:id="rId29"/>
    <p:sldId id="298" r:id="rId30"/>
    <p:sldId id="303" r:id="rId31"/>
    <p:sldId id="299" r:id="rId32"/>
    <p:sldId id="300" r:id="rId33"/>
    <p:sldId id="301" r:id="rId34"/>
    <p:sldId id="309" r:id="rId35"/>
    <p:sldId id="308" r:id="rId36"/>
    <p:sldId id="293" r:id="rId37"/>
    <p:sldId id="280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E1EB"/>
    <a:srgbClr val="050004"/>
    <a:srgbClr val="FAE022"/>
    <a:srgbClr val="91A0C9"/>
    <a:srgbClr val="FCEE7C"/>
    <a:srgbClr val="EAD13B"/>
    <a:srgbClr val="F18933"/>
    <a:srgbClr val="658862"/>
    <a:srgbClr val="4C6D59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24" autoAdjust="0"/>
    <p:restoredTop sz="89692" autoAdjust="0"/>
  </p:normalViewPr>
  <p:slideViewPr>
    <p:cSldViewPr snapToGrid="0">
      <p:cViewPr varScale="1">
        <p:scale>
          <a:sx n="97" d="100"/>
          <a:sy n="97" d="100"/>
        </p:scale>
        <p:origin x="-1276" y="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7C8D6-8378-491C-A88C-F5C0F1DDB3DF}" type="datetimeFigureOut">
              <a:rPr lang="zh-CN" altLang="en-US"/>
              <a:t>2026/1/12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681912-8CC0-4B9F-BE2A-5B54BD796BF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606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852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323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70607A-EB09-4464-B9F9-BBAE9FEA8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884A62-FE00-4E3D-ADA0-E22F86BE8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06559F-931E-4C1C-BAA3-CE3BB96CA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/>
              <a:t>2026/1/12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0C8357-4EE7-434F-8F1D-EB72F50A2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63E9BA-C35D-4623-8AEC-12CBA1765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91243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461D68-9D60-45C1-84CF-8694F122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A4BDC1-FF73-432D-AC47-8EEEC5E09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CF9B87-024B-4A06-BA78-956CBBDA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/>
              <a:t>2026/1/12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57915F-D67C-484A-9A5C-333C71D19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8CB9FE-E585-479C-9939-C1DF8EC97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14483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C1372-734A-4296-9FB4-2B237227A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2504FB-3962-4ABB-8F21-3B1297384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73F61E-C842-45A9-9C07-EC60B6A6D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/>
              <a:t>2026/1/12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C42772-006F-42F3-A53C-D6F9334C5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E654AF-4882-4FA1-A3C1-F88A71FB2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27049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E3B72-32AE-40DB-856E-1F79DC1CC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6AB566-0A02-47B8-B36A-57903E92C8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0B06DF-2A5D-49B6-940D-1C73553E3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D9A042-4577-4206-93A8-735631107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/>
              <a:t>2026/1/12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D834B9-AC17-4E4F-9973-2C6080B73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C0070B-569D-4FDB-83D2-2831B39FB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45851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FA247E-FC99-4DEE-9659-A61E58CA1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EFF825-A106-4C43-96EC-00D9D7D29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506D75-1984-4130-BBE1-66A0B2075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05EF971-1A5F-4FCD-A849-5068EEBFA0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74A3C7F-A504-486F-AC52-BAFC7D2EE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F8FD0D-2A45-42AA-9F3A-D4BBA2C3F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/>
              <a:t>2026/1/12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E9B8A7F-BFA8-4329-AFC8-89D05783C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2C94869-7BF3-4FFD-812C-03E8CEB5C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26188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FA247E-FC99-4DEE-9659-A61E58CA1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EFF825-A106-4C43-96EC-00D9D7D29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506D75-1984-4130-BBE1-66A0B2075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05EF971-1A5F-4FCD-A849-5068EEBFA0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74A3C7F-A504-486F-AC52-BAFC7D2EE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F8FD0D-2A45-42AA-9F3A-D4BBA2C3F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/>
              <a:t>2026/1/12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E9B8A7F-BFA8-4329-AFC8-89D05783C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2C94869-7BF3-4FFD-812C-03E8CEB5C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006004" y="6733864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行业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191341307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7CC1BC-64C9-4962-A764-37E770FB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38FC6B-45DE-432B-B145-F8D8AB2AC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/>
              <a:t>2026/1/12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13F784-0D7C-43D2-A802-629BA7317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781AAF-B2A9-4052-BD38-326FE4C1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84558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BCC6E6-411E-4830-BEE1-1A6268018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/>
              <a:t>2026/1/12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4BA76C-B531-4C6F-850E-214EA4DF3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662A71-4ED7-4C0E-AF3B-EACBFA46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26273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2B54FA-E333-4D04-A18F-7D50B83F6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2AD769-544A-47A1-A306-AEDAED293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514AB2-F4D7-4383-B3E7-D0F716378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D2DB71-2A42-4C00-9449-CA0DA297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/>
              <a:t>2026/1/12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C5D84D-5127-4599-9769-61D2E6955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5A3411-124D-4AEE-9E12-7E3048799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43541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C113AC-DF3C-45F8-8376-712B7F9BF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9E7EF9C-8988-4176-8DA2-5346BDB81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72ECB9-BC6A-47B2-9484-877938926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7DA26D-1083-4E20-8433-3EACB781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/>
              <a:t>2026/1/12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488704-F74A-430C-9177-1F6D51338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EC994E-AAE0-4342-820B-14F521FA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2172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1F35A-5862-461C-A776-246D30F82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AA2EDF-8154-4C55-8E92-834173DDF7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806EFA-9976-4A7A-810D-76C7047B7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/>
              <a:t>2026/1/12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8A798A-BE9A-4072-A93C-D1D1E203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DD673F-0533-4515-9B56-B753621D6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50983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D47182-1EDE-4FA1-B130-E58222460D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E14DC1-ED6B-47BE-A195-B8D73B1D8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C965E7-1B02-43B7-BFDC-37294AFC8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/>
              <a:t>2026/1/12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516B03-A310-4DD8-90FD-D6C9AA68E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74A88E-0943-4A05-8AAD-3E4E90A97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06208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A2F3B47-B08B-4181-88A1-0D61C596F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D1A009-55AC-40B1-BECE-C8E17CE74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4A7723-30C6-41D1-B39D-85DF3D3995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C556E-D11A-48D7-81C0-B1B5323EC136}" type="datetimeFigureOut">
              <a:rPr lang="zh-CN" altLang="en-US"/>
              <a:t>2026/1/12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6D8014-D4F0-4B30-B629-8D6D50AFBF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5A88B7-1EF5-48FA-988D-161EF7D69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5263E-7865-4889-9FDE-7A423744D6B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638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50" r:id="rId10"/>
    <p:sldLayoutId id="2147483651" r:id="rId11"/>
    <p:sldLayoutId id="2147483652" r:id="rId12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90BFAEB5-FEA0-8531-1A53-414D69F79383}"/>
              </a:ext>
            </a:extLst>
          </p:cNvPr>
          <p:cNvGrpSpPr/>
          <p:nvPr/>
        </p:nvGrpSpPr>
        <p:grpSpPr>
          <a:xfrm>
            <a:off x="0" y="-64953"/>
            <a:ext cx="12192001" cy="6865604"/>
            <a:chOff x="0" y="-64953"/>
            <a:chExt cx="12192001" cy="6865604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28B77C6-EE10-4A31-B0A3-BEE4738AE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4318820" y="-1072529"/>
              <a:ext cx="3554361" cy="1219200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A038334-2C1D-4BC4-8E46-67C930782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 flipH="1" flipV="1">
              <a:off x="4381500" y="-4446453"/>
              <a:ext cx="3429000" cy="12192000"/>
            </a:xfrm>
            <a:prstGeom prst="rect">
              <a:avLst/>
            </a:prstGeom>
          </p:spPr>
        </p:pic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0E52608C-1F53-43ED-A782-E51250605CA8}"/>
              </a:ext>
            </a:extLst>
          </p:cNvPr>
          <p:cNvSpPr/>
          <p:nvPr/>
        </p:nvSpPr>
        <p:spPr>
          <a:xfrm>
            <a:off x="1523999" y="1681876"/>
            <a:ext cx="9143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8000" b="1" spc="300" dirty="0" err="1">
                <a:solidFill>
                  <a:schemeClr val="bg1"/>
                </a:solidFill>
                <a:cs typeface="+mn-ea"/>
                <a:sym typeface="+mn-lt"/>
              </a:rPr>
              <a:t>OpenSaga</a:t>
            </a:r>
            <a:endParaRPr lang="zh-CN" altLang="en-US" sz="8000" b="1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8DACF7-8259-4490-B07D-82BFB4AF18B6}"/>
              </a:ext>
            </a:extLst>
          </p:cNvPr>
          <p:cNvSpPr txBox="1"/>
          <p:nvPr/>
        </p:nvSpPr>
        <p:spPr>
          <a:xfrm>
            <a:off x="3015968" y="3179382"/>
            <a:ext cx="6021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基于时序图分析的开源协作故事可视化叙述平台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箭头: V 形 9">
            <a:extLst>
              <a:ext uri="{FF2B5EF4-FFF2-40B4-BE49-F238E27FC236}">
                <a16:creationId xmlns:a16="http://schemas.microsoft.com/office/drawing/2014/main" id="{ADECF1D8-16DE-49B2-A88A-574127AB1734}"/>
              </a:ext>
            </a:extLst>
          </p:cNvPr>
          <p:cNvSpPr/>
          <p:nvPr/>
        </p:nvSpPr>
        <p:spPr>
          <a:xfrm rot="5400000">
            <a:off x="5980133" y="6005258"/>
            <a:ext cx="231732" cy="538620"/>
          </a:xfrm>
          <a:prstGeom prst="chevron">
            <a:avLst>
              <a:gd name="adj" fmla="val 768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F93A1E8-FAE7-7864-E9BB-A4AEC0935816}"/>
              </a:ext>
            </a:extLst>
          </p:cNvPr>
          <p:cNvGrpSpPr/>
          <p:nvPr/>
        </p:nvGrpSpPr>
        <p:grpSpPr>
          <a:xfrm>
            <a:off x="4804923" y="4163578"/>
            <a:ext cx="2275844" cy="738664"/>
            <a:chOff x="4630632" y="4114476"/>
            <a:chExt cx="2275844" cy="738664"/>
          </a:xfrm>
        </p:grpSpPr>
        <p:sp>
          <p:nvSpPr>
            <p:cNvPr id="3" name="TextBox 11">
              <a:extLst>
                <a:ext uri="{FF2B5EF4-FFF2-40B4-BE49-F238E27FC236}">
                  <a16:creationId xmlns:a16="http://schemas.microsoft.com/office/drawing/2014/main" id="{1095D3C3-25FC-AE6C-D8AB-1BB187337F00}"/>
                </a:ext>
              </a:extLst>
            </p:cNvPr>
            <p:cNvSpPr txBox="1"/>
            <p:nvPr/>
          </p:nvSpPr>
          <p:spPr>
            <a:xfrm>
              <a:off x="5285519" y="4114476"/>
              <a:ext cx="1620957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rPr>
                <a:t>队伍名称：珀修斯</a:t>
              </a:r>
              <a:endPara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en-US" altLang="zh-CN" sz="1400" b="1" kern="0" dirty="0">
                <a:solidFill>
                  <a:schemeClr val="bg1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kern="0" dirty="0">
                  <a:solidFill>
                    <a:schemeClr val="bg1"/>
                  </a:solidFill>
                </a:rPr>
                <a:t>队长：毛浩然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4" name="Freeform 26">
              <a:extLst>
                <a:ext uri="{FF2B5EF4-FFF2-40B4-BE49-F238E27FC236}">
                  <a16:creationId xmlns:a16="http://schemas.microsoft.com/office/drawing/2014/main" id="{7C8D86AE-1B72-6E22-4BA1-F24364E7BD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30632" y="4183436"/>
              <a:ext cx="533504" cy="533504"/>
            </a:xfrm>
            <a:custGeom>
              <a:avLst/>
              <a:gdLst>
                <a:gd name="T0" fmla="*/ 96 w 660"/>
                <a:gd name="T1" fmla="*/ 96 h 660"/>
                <a:gd name="T2" fmla="*/ 96 w 660"/>
                <a:gd name="T3" fmla="*/ 563 h 660"/>
                <a:gd name="T4" fmla="*/ 563 w 660"/>
                <a:gd name="T5" fmla="*/ 563 h 660"/>
                <a:gd name="T6" fmla="*/ 563 w 660"/>
                <a:gd name="T7" fmla="*/ 96 h 660"/>
                <a:gd name="T8" fmla="*/ 578 w 660"/>
                <a:gd name="T9" fmla="*/ 180 h 660"/>
                <a:gd name="T10" fmla="*/ 465 w 660"/>
                <a:gd name="T11" fmla="*/ 120 h 660"/>
                <a:gd name="T12" fmla="*/ 380 w 660"/>
                <a:gd name="T13" fmla="*/ 44 h 660"/>
                <a:gd name="T14" fmla="*/ 578 w 660"/>
                <a:gd name="T15" fmla="*/ 180 h 660"/>
                <a:gd name="T16" fmla="*/ 482 w 660"/>
                <a:gd name="T17" fmla="*/ 474 h 660"/>
                <a:gd name="T18" fmla="*/ 619 w 660"/>
                <a:gd name="T19" fmla="*/ 340 h 660"/>
                <a:gd name="T20" fmla="*/ 341 w 660"/>
                <a:gd name="T21" fmla="*/ 619 h 660"/>
                <a:gd name="T22" fmla="*/ 340 w 660"/>
                <a:gd name="T23" fmla="*/ 548 h 660"/>
                <a:gd name="T24" fmla="*/ 440 w 660"/>
                <a:gd name="T25" fmla="*/ 506 h 660"/>
                <a:gd name="T26" fmla="*/ 220 w 660"/>
                <a:gd name="T27" fmla="*/ 506 h 660"/>
                <a:gd name="T28" fmla="*/ 320 w 660"/>
                <a:gd name="T29" fmla="*/ 548 h 660"/>
                <a:gd name="T30" fmla="*/ 319 w 660"/>
                <a:gd name="T31" fmla="*/ 619 h 660"/>
                <a:gd name="T32" fmla="*/ 65 w 660"/>
                <a:gd name="T33" fmla="*/ 213 h 660"/>
                <a:gd name="T34" fmla="*/ 151 w 660"/>
                <a:gd name="T35" fmla="*/ 281 h 660"/>
                <a:gd name="T36" fmla="*/ 40 w 660"/>
                <a:gd name="T37" fmla="*/ 320 h 660"/>
                <a:gd name="T38" fmla="*/ 319 w 660"/>
                <a:gd name="T39" fmla="*/ 40 h 660"/>
                <a:gd name="T40" fmla="*/ 320 w 660"/>
                <a:gd name="T41" fmla="*/ 147 h 660"/>
                <a:gd name="T42" fmla="*/ 319 w 660"/>
                <a:gd name="T43" fmla="*/ 40 h 660"/>
                <a:gd name="T44" fmla="*/ 419 w 660"/>
                <a:gd name="T45" fmla="*/ 151 h 660"/>
                <a:gd name="T46" fmla="*/ 340 w 660"/>
                <a:gd name="T47" fmla="*/ 40 h 660"/>
                <a:gd name="T48" fmla="*/ 429 w 660"/>
                <a:gd name="T49" fmla="*/ 135 h 660"/>
                <a:gd name="T50" fmla="*/ 416 w 660"/>
                <a:gd name="T51" fmla="*/ 177 h 660"/>
                <a:gd name="T52" fmla="*/ 471 w 660"/>
                <a:gd name="T53" fmla="*/ 219 h 660"/>
                <a:gd name="T54" fmla="*/ 340 w 660"/>
                <a:gd name="T55" fmla="*/ 320 h 660"/>
                <a:gd name="T56" fmla="*/ 488 w 660"/>
                <a:gd name="T57" fmla="*/ 169 h 660"/>
                <a:gd name="T58" fmla="*/ 442 w 660"/>
                <a:gd name="T59" fmla="*/ 169 h 660"/>
                <a:gd name="T60" fmla="*/ 488 w 660"/>
                <a:gd name="T61" fmla="*/ 169 h 660"/>
                <a:gd name="T62" fmla="*/ 320 w 660"/>
                <a:gd name="T63" fmla="*/ 320 h 660"/>
                <a:gd name="T64" fmla="*/ 173 w 660"/>
                <a:gd name="T65" fmla="*/ 282 h 660"/>
                <a:gd name="T66" fmla="*/ 320 w 660"/>
                <a:gd name="T67" fmla="*/ 173 h 660"/>
                <a:gd name="T68" fmla="*/ 159 w 660"/>
                <a:gd name="T69" fmla="*/ 352 h 660"/>
                <a:gd name="T70" fmla="*/ 159 w 660"/>
                <a:gd name="T71" fmla="*/ 307 h 660"/>
                <a:gd name="T72" fmla="*/ 40 w 660"/>
                <a:gd name="T73" fmla="*/ 340 h 660"/>
                <a:gd name="T74" fmla="*/ 151 w 660"/>
                <a:gd name="T75" fmla="*/ 379 h 660"/>
                <a:gd name="T76" fmla="*/ 65 w 660"/>
                <a:gd name="T77" fmla="*/ 447 h 660"/>
                <a:gd name="T78" fmla="*/ 173 w 660"/>
                <a:gd name="T79" fmla="*/ 377 h 660"/>
                <a:gd name="T80" fmla="*/ 320 w 660"/>
                <a:gd name="T81" fmla="*/ 340 h 660"/>
                <a:gd name="T82" fmla="*/ 282 w 660"/>
                <a:gd name="T83" fmla="*/ 486 h 660"/>
                <a:gd name="T84" fmla="*/ 173 w 660"/>
                <a:gd name="T85" fmla="*/ 377 h 660"/>
                <a:gd name="T86" fmla="*/ 330 w 660"/>
                <a:gd name="T87" fmla="*/ 523 h 660"/>
                <a:gd name="T88" fmla="*/ 330 w 660"/>
                <a:gd name="T89" fmla="*/ 477 h 660"/>
                <a:gd name="T90" fmla="*/ 377 w 660"/>
                <a:gd name="T91" fmla="*/ 486 h 660"/>
                <a:gd name="T92" fmla="*/ 340 w 660"/>
                <a:gd name="T93" fmla="*/ 340 h 660"/>
                <a:gd name="T94" fmla="*/ 455 w 660"/>
                <a:gd name="T95" fmla="*/ 478 h 660"/>
                <a:gd name="T96" fmla="*/ 512 w 660"/>
                <a:gd name="T97" fmla="*/ 320 h 660"/>
                <a:gd name="T98" fmla="*/ 510 w 660"/>
                <a:gd name="T99" fmla="*/ 191 h 660"/>
                <a:gd name="T100" fmla="*/ 619 w 660"/>
                <a:gd name="T101" fmla="*/ 320 h 660"/>
                <a:gd name="T102" fmla="*/ 125 w 660"/>
                <a:gd name="T103" fmla="*/ 125 h 660"/>
                <a:gd name="T104" fmla="*/ 195 w 660"/>
                <a:gd name="T105" fmla="*/ 151 h 660"/>
                <a:gd name="T106" fmla="*/ 81 w 660"/>
                <a:gd name="T107" fmla="*/ 180 h 660"/>
                <a:gd name="T108" fmla="*/ 81 w 660"/>
                <a:gd name="T109" fmla="*/ 479 h 660"/>
                <a:gd name="T110" fmla="*/ 195 w 660"/>
                <a:gd name="T111" fmla="*/ 508 h 660"/>
                <a:gd name="T112" fmla="*/ 125 w 660"/>
                <a:gd name="T113" fmla="*/ 535 h 660"/>
                <a:gd name="T114" fmla="*/ 535 w 660"/>
                <a:gd name="T115" fmla="*/ 535 h 660"/>
                <a:gd name="T116" fmla="*/ 465 w 660"/>
                <a:gd name="T117" fmla="*/ 508 h 660"/>
                <a:gd name="T118" fmla="*/ 578 w 660"/>
                <a:gd name="T119" fmla="*/ 479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60" h="660">
                  <a:moveTo>
                    <a:pt x="330" y="0"/>
                  </a:moveTo>
                  <a:cubicBezTo>
                    <a:pt x="242" y="0"/>
                    <a:pt x="159" y="34"/>
                    <a:pt x="96" y="96"/>
                  </a:cubicBezTo>
                  <a:cubicBezTo>
                    <a:pt x="34" y="159"/>
                    <a:pt x="0" y="242"/>
                    <a:pt x="0" y="330"/>
                  </a:cubicBezTo>
                  <a:cubicBezTo>
                    <a:pt x="0" y="418"/>
                    <a:pt x="34" y="501"/>
                    <a:pt x="96" y="563"/>
                  </a:cubicBezTo>
                  <a:cubicBezTo>
                    <a:pt x="159" y="626"/>
                    <a:pt x="242" y="660"/>
                    <a:pt x="330" y="660"/>
                  </a:cubicBezTo>
                  <a:cubicBezTo>
                    <a:pt x="418" y="660"/>
                    <a:pt x="501" y="626"/>
                    <a:pt x="563" y="563"/>
                  </a:cubicBezTo>
                  <a:cubicBezTo>
                    <a:pt x="626" y="501"/>
                    <a:pt x="660" y="418"/>
                    <a:pt x="660" y="330"/>
                  </a:cubicBezTo>
                  <a:cubicBezTo>
                    <a:pt x="660" y="242"/>
                    <a:pt x="626" y="159"/>
                    <a:pt x="563" y="96"/>
                  </a:cubicBezTo>
                  <a:cubicBezTo>
                    <a:pt x="501" y="34"/>
                    <a:pt x="418" y="0"/>
                    <a:pt x="330" y="0"/>
                  </a:cubicBezTo>
                  <a:close/>
                  <a:moveTo>
                    <a:pt x="578" y="180"/>
                  </a:moveTo>
                  <a:cubicBezTo>
                    <a:pt x="557" y="175"/>
                    <a:pt x="536" y="169"/>
                    <a:pt x="514" y="165"/>
                  </a:cubicBezTo>
                  <a:cubicBezTo>
                    <a:pt x="512" y="140"/>
                    <a:pt x="491" y="120"/>
                    <a:pt x="465" y="120"/>
                  </a:cubicBezTo>
                  <a:cubicBezTo>
                    <a:pt x="459" y="120"/>
                    <a:pt x="453" y="121"/>
                    <a:pt x="448" y="123"/>
                  </a:cubicBezTo>
                  <a:cubicBezTo>
                    <a:pt x="429" y="95"/>
                    <a:pt x="406" y="68"/>
                    <a:pt x="380" y="44"/>
                  </a:cubicBezTo>
                  <a:cubicBezTo>
                    <a:pt x="438" y="54"/>
                    <a:pt x="492" y="82"/>
                    <a:pt x="535" y="125"/>
                  </a:cubicBezTo>
                  <a:cubicBezTo>
                    <a:pt x="552" y="142"/>
                    <a:pt x="566" y="160"/>
                    <a:pt x="578" y="180"/>
                  </a:cubicBezTo>
                  <a:close/>
                  <a:moveTo>
                    <a:pt x="595" y="447"/>
                  </a:moveTo>
                  <a:cubicBezTo>
                    <a:pt x="558" y="458"/>
                    <a:pt x="520" y="467"/>
                    <a:pt x="482" y="474"/>
                  </a:cubicBezTo>
                  <a:cubicBezTo>
                    <a:pt x="501" y="431"/>
                    <a:pt x="511" y="386"/>
                    <a:pt x="512" y="340"/>
                  </a:cubicBezTo>
                  <a:cubicBezTo>
                    <a:pt x="619" y="340"/>
                    <a:pt x="619" y="340"/>
                    <a:pt x="619" y="340"/>
                  </a:cubicBezTo>
                  <a:cubicBezTo>
                    <a:pt x="618" y="377"/>
                    <a:pt x="610" y="413"/>
                    <a:pt x="595" y="447"/>
                  </a:cubicBezTo>
                  <a:close/>
                  <a:moveTo>
                    <a:pt x="341" y="619"/>
                  </a:moveTo>
                  <a:cubicBezTo>
                    <a:pt x="341" y="619"/>
                    <a:pt x="340" y="619"/>
                    <a:pt x="340" y="619"/>
                  </a:cubicBezTo>
                  <a:cubicBezTo>
                    <a:pt x="340" y="548"/>
                    <a:pt x="340" y="548"/>
                    <a:pt x="340" y="548"/>
                  </a:cubicBezTo>
                  <a:cubicBezTo>
                    <a:pt x="359" y="545"/>
                    <a:pt x="374" y="530"/>
                    <a:pt x="378" y="512"/>
                  </a:cubicBezTo>
                  <a:cubicBezTo>
                    <a:pt x="399" y="511"/>
                    <a:pt x="419" y="509"/>
                    <a:pt x="440" y="506"/>
                  </a:cubicBezTo>
                  <a:cubicBezTo>
                    <a:pt x="415" y="548"/>
                    <a:pt x="382" y="586"/>
                    <a:pt x="341" y="619"/>
                  </a:cubicBezTo>
                  <a:close/>
                  <a:moveTo>
                    <a:pt x="220" y="506"/>
                  </a:moveTo>
                  <a:cubicBezTo>
                    <a:pt x="240" y="509"/>
                    <a:pt x="261" y="511"/>
                    <a:pt x="282" y="512"/>
                  </a:cubicBezTo>
                  <a:cubicBezTo>
                    <a:pt x="286" y="530"/>
                    <a:pt x="301" y="545"/>
                    <a:pt x="320" y="548"/>
                  </a:cubicBezTo>
                  <a:cubicBezTo>
                    <a:pt x="320" y="619"/>
                    <a:pt x="320" y="619"/>
                    <a:pt x="320" y="619"/>
                  </a:cubicBezTo>
                  <a:cubicBezTo>
                    <a:pt x="319" y="619"/>
                    <a:pt x="319" y="619"/>
                    <a:pt x="319" y="619"/>
                  </a:cubicBezTo>
                  <a:cubicBezTo>
                    <a:pt x="278" y="586"/>
                    <a:pt x="245" y="548"/>
                    <a:pt x="220" y="506"/>
                  </a:cubicBezTo>
                  <a:close/>
                  <a:moveTo>
                    <a:pt x="65" y="213"/>
                  </a:moveTo>
                  <a:cubicBezTo>
                    <a:pt x="102" y="201"/>
                    <a:pt x="140" y="192"/>
                    <a:pt x="178" y="186"/>
                  </a:cubicBezTo>
                  <a:cubicBezTo>
                    <a:pt x="164" y="216"/>
                    <a:pt x="155" y="248"/>
                    <a:pt x="151" y="281"/>
                  </a:cubicBezTo>
                  <a:cubicBezTo>
                    <a:pt x="130" y="284"/>
                    <a:pt x="114" y="300"/>
                    <a:pt x="110" y="320"/>
                  </a:cubicBezTo>
                  <a:cubicBezTo>
                    <a:pt x="40" y="320"/>
                    <a:pt x="40" y="320"/>
                    <a:pt x="40" y="320"/>
                  </a:cubicBezTo>
                  <a:cubicBezTo>
                    <a:pt x="42" y="282"/>
                    <a:pt x="50" y="246"/>
                    <a:pt x="65" y="213"/>
                  </a:cubicBezTo>
                  <a:close/>
                  <a:moveTo>
                    <a:pt x="319" y="40"/>
                  </a:moveTo>
                  <a:cubicBezTo>
                    <a:pt x="319" y="40"/>
                    <a:pt x="319" y="40"/>
                    <a:pt x="320" y="40"/>
                  </a:cubicBezTo>
                  <a:cubicBezTo>
                    <a:pt x="320" y="147"/>
                    <a:pt x="320" y="147"/>
                    <a:pt x="320" y="147"/>
                  </a:cubicBezTo>
                  <a:cubicBezTo>
                    <a:pt x="286" y="147"/>
                    <a:pt x="253" y="149"/>
                    <a:pt x="220" y="153"/>
                  </a:cubicBezTo>
                  <a:cubicBezTo>
                    <a:pt x="245" y="111"/>
                    <a:pt x="278" y="73"/>
                    <a:pt x="319" y="40"/>
                  </a:cubicBezTo>
                  <a:close/>
                  <a:moveTo>
                    <a:pt x="429" y="135"/>
                  </a:moveTo>
                  <a:cubicBezTo>
                    <a:pt x="425" y="140"/>
                    <a:pt x="421" y="145"/>
                    <a:pt x="419" y="151"/>
                  </a:cubicBezTo>
                  <a:cubicBezTo>
                    <a:pt x="393" y="148"/>
                    <a:pt x="366" y="147"/>
                    <a:pt x="340" y="147"/>
                  </a:cubicBezTo>
                  <a:cubicBezTo>
                    <a:pt x="340" y="40"/>
                    <a:pt x="340" y="40"/>
                    <a:pt x="340" y="40"/>
                  </a:cubicBezTo>
                  <a:cubicBezTo>
                    <a:pt x="340" y="40"/>
                    <a:pt x="341" y="40"/>
                    <a:pt x="341" y="40"/>
                  </a:cubicBezTo>
                  <a:cubicBezTo>
                    <a:pt x="376" y="69"/>
                    <a:pt x="406" y="101"/>
                    <a:pt x="429" y="135"/>
                  </a:cubicBezTo>
                  <a:close/>
                  <a:moveTo>
                    <a:pt x="340" y="173"/>
                  </a:moveTo>
                  <a:cubicBezTo>
                    <a:pt x="365" y="173"/>
                    <a:pt x="391" y="174"/>
                    <a:pt x="416" y="177"/>
                  </a:cubicBezTo>
                  <a:cubicBezTo>
                    <a:pt x="420" y="201"/>
                    <a:pt x="440" y="219"/>
                    <a:pt x="465" y="219"/>
                  </a:cubicBezTo>
                  <a:cubicBezTo>
                    <a:pt x="467" y="219"/>
                    <a:pt x="469" y="219"/>
                    <a:pt x="471" y="219"/>
                  </a:cubicBezTo>
                  <a:cubicBezTo>
                    <a:pt x="482" y="251"/>
                    <a:pt x="489" y="285"/>
                    <a:pt x="490" y="320"/>
                  </a:cubicBezTo>
                  <a:cubicBezTo>
                    <a:pt x="340" y="320"/>
                    <a:pt x="340" y="320"/>
                    <a:pt x="340" y="320"/>
                  </a:cubicBezTo>
                  <a:lnTo>
                    <a:pt x="340" y="173"/>
                  </a:lnTo>
                  <a:close/>
                  <a:moveTo>
                    <a:pt x="488" y="169"/>
                  </a:moveTo>
                  <a:cubicBezTo>
                    <a:pt x="488" y="182"/>
                    <a:pt x="478" y="192"/>
                    <a:pt x="465" y="192"/>
                  </a:cubicBezTo>
                  <a:cubicBezTo>
                    <a:pt x="452" y="192"/>
                    <a:pt x="442" y="182"/>
                    <a:pt x="442" y="169"/>
                  </a:cubicBezTo>
                  <a:cubicBezTo>
                    <a:pt x="442" y="157"/>
                    <a:pt x="452" y="147"/>
                    <a:pt x="465" y="147"/>
                  </a:cubicBezTo>
                  <a:cubicBezTo>
                    <a:pt x="478" y="147"/>
                    <a:pt x="488" y="157"/>
                    <a:pt x="488" y="169"/>
                  </a:cubicBezTo>
                  <a:close/>
                  <a:moveTo>
                    <a:pt x="320" y="173"/>
                  </a:moveTo>
                  <a:cubicBezTo>
                    <a:pt x="320" y="320"/>
                    <a:pt x="320" y="320"/>
                    <a:pt x="320" y="320"/>
                  </a:cubicBezTo>
                  <a:cubicBezTo>
                    <a:pt x="207" y="320"/>
                    <a:pt x="207" y="320"/>
                    <a:pt x="207" y="320"/>
                  </a:cubicBezTo>
                  <a:cubicBezTo>
                    <a:pt x="204" y="302"/>
                    <a:pt x="190" y="288"/>
                    <a:pt x="173" y="282"/>
                  </a:cubicBezTo>
                  <a:cubicBezTo>
                    <a:pt x="178" y="248"/>
                    <a:pt x="189" y="214"/>
                    <a:pt x="204" y="181"/>
                  </a:cubicBezTo>
                  <a:cubicBezTo>
                    <a:pt x="243" y="176"/>
                    <a:pt x="281" y="173"/>
                    <a:pt x="320" y="173"/>
                  </a:cubicBezTo>
                  <a:close/>
                  <a:moveTo>
                    <a:pt x="181" y="330"/>
                  </a:moveTo>
                  <a:cubicBezTo>
                    <a:pt x="181" y="342"/>
                    <a:pt x="171" y="352"/>
                    <a:pt x="159" y="352"/>
                  </a:cubicBezTo>
                  <a:cubicBezTo>
                    <a:pt x="146" y="352"/>
                    <a:pt x="136" y="342"/>
                    <a:pt x="136" y="330"/>
                  </a:cubicBezTo>
                  <a:cubicBezTo>
                    <a:pt x="136" y="317"/>
                    <a:pt x="146" y="307"/>
                    <a:pt x="159" y="307"/>
                  </a:cubicBezTo>
                  <a:cubicBezTo>
                    <a:pt x="171" y="307"/>
                    <a:pt x="181" y="317"/>
                    <a:pt x="181" y="330"/>
                  </a:cubicBezTo>
                  <a:close/>
                  <a:moveTo>
                    <a:pt x="40" y="340"/>
                  </a:moveTo>
                  <a:cubicBezTo>
                    <a:pt x="110" y="340"/>
                    <a:pt x="110" y="340"/>
                    <a:pt x="110" y="340"/>
                  </a:cubicBezTo>
                  <a:cubicBezTo>
                    <a:pt x="114" y="360"/>
                    <a:pt x="130" y="375"/>
                    <a:pt x="151" y="379"/>
                  </a:cubicBezTo>
                  <a:cubicBezTo>
                    <a:pt x="155" y="411"/>
                    <a:pt x="164" y="443"/>
                    <a:pt x="178" y="474"/>
                  </a:cubicBezTo>
                  <a:cubicBezTo>
                    <a:pt x="140" y="467"/>
                    <a:pt x="102" y="458"/>
                    <a:pt x="65" y="447"/>
                  </a:cubicBezTo>
                  <a:cubicBezTo>
                    <a:pt x="50" y="413"/>
                    <a:pt x="42" y="377"/>
                    <a:pt x="40" y="340"/>
                  </a:cubicBezTo>
                  <a:close/>
                  <a:moveTo>
                    <a:pt x="173" y="377"/>
                  </a:moveTo>
                  <a:cubicBezTo>
                    <a:pt x="190" y="372"/>
                    <a:pt x="204" y="358"/>
                    <a:pt x="207" y="340"/>
                  </a:cubicBezTo>
                  <a:cubicBezTo>
                    <a:pt x="320" y="340"/>
                    <a:pt x="320" y="340"/>
                    <a:pt x="320" y="340"/>
                  </a:cubicBezTo>
                  <a:cubicBezTo>
                    <a:pt x="320" y="451"/>
                    <a:pt x="320" y="451"/>
                    <a:pt x="320" y="451"/>
                  </a:cubicBezTo>
                  <a:cubicBezTo>
                    <a:pt x="302" y="455"/>
                    <a:pt x="288" y="468"/>
                    <a:pt x="282" y="486"/>
                  </a:cubicBezTo>
                  <a:cubicBezTo>
                    <a:pt x="256" y="484"/>
                    <a:pt x="230" y="482"/>
                    <a:pt x="204" y="478"/>
                  </a:cubicBezTo>
                  <a:cubicBezTo>
                    <a:pt x="189" y="446"/>
                    <a:pt x="178" y="412"/>
                    <a:pt x="173" y="377"/>
                  </a:cubicBezTo>
                  <a:close/>
                  <a:moveTo>
                    <a:pt x="353" y="500"/>
                  </a:moveTo>
                  <a:cubicBezTo>
                    <a:pt x="353" y="512"/>
                    <a:pt x="342" y="523"/>
                    <a:pt x="330" y="523"/>
                  </a:cubicBezTo>
                  <a:cubicBezTo>
                    <a:pt x="317" y="523"/>
                    <a:pt x="307" y="512"/>
                    <a:pt x="307" y="500"/>
                  </a:cubicBezTo>
                  <a:cubicBezTo>
                    <a:pt x="307" y="487"/>
                    <a:pt x="317" y="477"/>
                    <a:pt x="330" y="477"/>
                  </a:cubicBezTo>
                  <a:cubicBezTo>
                    <a:pt x="342" y="477"/>
                    <a:pt x="353" y="487"/>
                    <a:pt x="353" y="500"/>
                  </a:cubicBezTo>
                  <a:close/>
                  <a:moveTo>
                    <a:pt x="377" y="486"/>
                  </a:moveTo>
                  <a:cubicBezTo>
                    <a:pt x="372" y="468"/>
                    <a:pt x="358" y="455"/>
                    <a:pt x="340" y="451"/>
                  </a:cubicBezTo>
                  <a:cubicBezTo>
                    <a:pt x="340" y="340"/>
                    <a:pt x="340" y="340"/>
                    <a:pt x="340" y="340"/>
                  </a:cubicBezTo>
                  <a:cubicBezTo>
                    <a:pt x="490" y="340"/>
                    <a:pt x="490" y="340"/>
                    <a:pt x="490" y="340"/>
                  </a:cubicBezTo>
                  <a:cubicBezTo>
                    <a:pt x="488" y="387"/>
                    <a:pt x="477" y="434"/>
                    <a:pt x="455" y="478"/>
                  </a:cubicBezTo>
                  <a:cubicBezTo>
                    <a:pt x="430" y="482"/>
                    <a:pt x="404" y="484"/>
                    <a:pt x="377" y="486"/>
                  </a:cubicBezTo>
                  <a:close/>
                  <a:moveTo>
                    <a:pt x="512" y="320"/>
                  </a:moveTo>
                  <a:cubicBezTo>
                    <a:pt x="511" y="283"/>
                    <a:pt x="504" y="246"/>
                    <a:pt x="492" y="211"/>
                  </a:cubicBezTo>
                  <a:cubicBezTo>
                    <a:pt x="500" y="206"/>
                    <a:pt x="506" y="199"/>
                    <a:pt x="510" y="191"/>
                  </a:cubicBezTo>
                  <a:cubicBezTo>
                    <a:pt x="539" y="197"/>
                    <a:pt x="567" y="204"/>
                    <a:pt x="595" y="213"/>
                  </a:cubicBezTo>
                  <a:cubicBezTo>
                    <a:pt x="610" y="246"/>
                    <a:pt x="618" y="282"/>
                    <a:pt x="619" y="320"/>
                  </a:cubicBezTo>
                  <a:lnTo>
                    <a:pt x="512" y="320"/>
                  </a:lnTo>
                  <a:close/>
                  <a:moveTo>
                    <a:pt x="125" y="125"/>
                  </a:moveTo>
                  <a:cubicBezTo>
                    <a:pt x="168" y="82"/>
                    <a:pt x="221" y="54"/>
                    <a:pt x="280" y="44"/>
                  </a:cubicBezTo>
                  <a:cubicBezTo>
                    <a:pt x="245" y="76"/>
                    <a:pt x="217" y="112"/>
                    <a:pt x="195" y="151"/>
                  </a:cubicBezTo>
                  <a:cubicBezTo>
                    <a:pt x="194" y="153"/>
                    <a:pt x="193" y="155"/>
                    <a:pt x="192" y="157"/>
                  </a:cubicBezTo>
                  <a:cubicBezTo>
                    <a:pt x="155" y="162"/>
                    <a:pt x="118" y="170"/>
                    <a:pt x="81" y="180"/>
                  </a:cubicBezTo>
                  <a:cubicBezTo>
                    <a:pt x="93" y="160"/>
                    <a:pt x="108" y="142"/>
                    <a:pt x="125" y="125"/>
                  </a:cubicBezTo>
                  <a:close/>
                  <a:moveTo>
                    <a:pt x="81" y="479"/>
                  </a:moveTo>
                  <a:cubicBezTo>
                    <a:pt x="118" y="489"/>
                    <a:pt x="155" y="497"/>
                    <a:pt x="192" y="503"/>
                  </a:cubicBezTo>
                  <a:cubicBezTo>
                    <a:pt x="193" y="505"/>
                    <a:pt x="194" y="506"/>
                    <a:pt x="195" y="508"/>
                  </a:cubicBezTo>
                  <a:cubicBezTo>
                    <a:pt x="217" y="547"/>
                    <a:pt x="245" y="583"/>
                    <a:pt x="280" y="615"/>
                  </a:cubicBezTo>
                  <a:cubicBezTo>
                    <a:pt x="221" y="605"/>
                    <a:pt x="168" y="577"/>
                    <a:pt x="125" y="535"/>
                  </a:cubicBezTo>
                  <a:cubicBezTo>
                    <a:pt x="108" y="518"/>
                    <a:pt x="93" y="499"/>
                    <a:pt x="81" y="479"/>
                  </a:cubicBezTo>
                  <a:close/>
                  <a:moveTo>
                    <a:pt x="535" y="535"/>
                  </a:moveTo>
                  <a:cubicBezTo>
                    <a:pt x="492" y="577"/>
                    <a:pt x="438" y="605"/>
                    <a:pt x="380" y="615"/>
                  </a:cubicBezTo>
                  <a:cubicBezTo>
                    <a:pt x="415" y="583"/>
                    <a:pt x="443" y="547"/>
                    <a:pt x="465" y="508"/>
                  </a:cubicBezTo>
                  <a:cubicBezTo>
                    <a:pt x="466" y="506"/>
                    <a:pt x="467" y="505"/>
                    <a:pt x="468" y="503"/>
                  </a:cubicBezTo>
                  <a:cubicBezTo>
                    <a:pt x="505" y="497"/>
                    <a:pt x="542" y="489"/>
                    <a:pt x="578" y="479"/>
                  </a:cubicBezTo>
                  <a:cubicBezTo>
                    <a:pt x="566" y="499"/>
                    <a:pt x="552" y="518"/>
                    <a:pt x="535" y="5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6" name="TextBox 11">
            <a:extLst>
              <a:ext uri="{FF2B5EF4-FFF2-40B4-BE49-F238E27FC236}">
                <a16:creationId xmlns:a16="http://schemas.microsoft.com/office/drawing/2014/main" id="{0F8D2789-ADF5-6AC0-7B47-2C1D2617F0FF}"/>
              </a:ext>
            </a:extLst>
          </p:cNvPr>
          <p:cNvSpPr txBox="1"/>
          <p:nvPr/>
        </p:nvSpPr>
        <p:spPr>
          <a:xfrm>
            <a:off x="4746845" y="3614826"/>
            <a:ext cx="23920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dirty="0">
                <a:solidFill>
                  <a:schemeClr val="bg1"/>
                </a:solidFill>
              </a:rPr>
              <a:t>（本项目基于</a:t>
            </a:r>
            <a:r>
              <a:rPr lang="en-US" altLang="zh-CN" sz="1400" b="1" kern="0" dirty="0" err="1">
                <a:solidFill>
                  <a:schemeClr val="bg1"/>
                </a:solidFill>
              </a:rPr>
              <a:t>EasyGraph</a:t>
            </a:r>
            <a:r>
              <a:rPr lang="zh-CN" altLang="en-US" sz="1400" b="1" kern="0" dirty="0">
                <a:solidFill>
                  <a:schemeClr val="bg1"/>
                </a:solidFill>
              </a:rPr>
              <a:t>）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7167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:p15="http://schemas.microsoft.com/office/powerpoint/2012/main"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28B77C6-EE10-4A31-B0A3-BEE4738AE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711670" y="-1323366"/>
            <a:ext cx="4159044" cy="121920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DEE9934-2262-452B-B00B-12E780F20419}"/>
              </a:ext>
            </a:extLst>
          </p:cNvPr>
          <p:cNvSpPr/>
          <p:nvPr/>
        </p:nvSpPr>
        <p:spPr>
          <a:xfrm>
            <a:off x="9286918" y="454776"/>
            <a:ext cx="220346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cs typeface="+mn-ea"/>
                <a:sym typeface="+mn-lt"/>
              </a:rPr>
              <a:t>Agenda</a:t>
            </a:r>
            <a:endParaRPr lang="zh-CN" altLang="en-US" sz="3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05D3BAE-FFA8-4485-BFE3-FA37CCB1D91F}"/>
              </a:ext>
            </a:extLst>
          </p:cNvPr>
          <p:cNvCxnSpPr/>
          <p:nvPr/>
        </p:nvCxnSpPr>
        <p:spPr>
          <a:xfrm flipH="1">
            <a:off x="1804582" y="3695232"/>
            <a:ext cx="0" cy="2498534"/>
          </a:xfrm>
          <a:prstGeom prst="line">
            <a:avLst/>
          </a:prstGeom>
          <a:ln>
            <a:solidFill>
              <a:srgbClr val="D0E1EB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CCB89F1-CE89-47BA-97CD-5CB472358B8A}"/>
              </a:ext>
            </a:extLst>
          </p:cNvPr>
          <p:cNvCxnSpPr/>
          <p:nvPr/>
        </p:nvCxnSpPr>
        <p:spPr>
          <a:xfrm flipH="1">
            <a:off x="4336805" y="3170790"/>
            <a:ext cx="0" cy="1996881"/>
          </a:xfrm>
          <a:prstGeom prst="line">
            <a:avLst/>
          </a:prstGeom>
          <a:ln>
            <a:solidFill>
              <a:srgbClr val="D0E1EB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80EE0B0-BF93-400E-8122-B713C01074E4}"/>
              </a:ext>
            </a:extLst>
          </p:cNvPr>
          <p:cNvCxnSpPr/>
          <p:nvPr/>
        </p:nvCxnSpPr>
        <p:spPr>
          <a:xfrm flipH="1">
            <a:off x="7051855" y="2946647"/>
            <a:ext cx="33901" cy="2712281"/>
          </a:xfrm>
          <a:prstGeom prst="line">
            <a:avLst/>
          </a:prstGeom>
          <a:ln>
            <a:solidFill>
              <a:srgbClr val="D0E1EB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EF4BB45-8EF2-4C17-AA17-B3D6435EDAD1}"/>
              </a:ext>
            </a:extLst>
          </p:cNvPr>
          <p:cNvCxnSpPr/>
          <p:nvPr/>
        </p:nvCxnSpPr>
        <p:spPr>
          <a:xfrm flipH="1">
            <a:off x="9782354" y="4060583"/>
            <a:ext cx="0" cy="1107088"/>
          </a:xfrm>
          <a:prstGeom prst="line">
            <a:avLst/>
          </a:prstGeom>
          <a:ln>
            <a:solidFill>
              <a:srgbClr val="D0E1EB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0B9856A-EE6C-48AD-AE98-A650693F60F3}"/>
              </a:ext>
            </a:extLst>
          </p:cNvPr>
          <p:cNvSpPr txBox="1"/>
          <p:nvPr/>
        </p:nvSpPr>
        <p:spPr>
          <a:xfrm>
            <a:off x="543919" y="2770248"/>
            <a:ext cx="2635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n w="3175">
                  <a:noFill/>
                </a:ln>
                <a:solidFill>
                  <a:srgbClr val="F8FBFE"/>
                </a:solidFill>
                <a:cs typeface="+mn-ea"/>
                <a:sym typeface="+mn-lt"/>
              </a:rPr>
              <a:t>问题与机遇</a:t>
            </a: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AAEB8BFD-9714-407C-B574-508568576D42}"/>
              </a:ext>
            </a:extLst>
          </p:cNvPr>
          <p:cNvSpPr/>
          <p:nvPr/>
        </p:nvSpPr>
        <p:spPr>
          <a:xfrm>
            <a:off x="912582" y="3316163"/>
            <a:ext cx="18754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Vision</a:t>
            </a:r>
            <a:endParaRPr 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1D4289D-29B8-4A2C-A4CC-6C96E5BFB19E}"/>
              </a:ext>
            </a:extLst>
          </p:cNvPr>
          <p:cNvSpPr/>
          <p:nvPr/>
        </p:nvSpPr>
        <p:spPr>
          <a:xfrm>
            <a:off x="1028203" y="2106874"/>
            <a:ext cx="155275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zh-CN" altLang="en-US" sz="4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FE52698-146E-4054-9B3E-226BC26E2EBF}"/>
              </a:ext>
            </a:extLst>
          </p:cNvPr>
          <p:cNvSpPr txBox="1"/>
          <p:nvPr/>
        </p:nvSpPr>
        <p:spPr>
          <a:xfrm>
            <a:off x="3070092" y="2240154"/>
            <a:ext cx="2635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ln w="3175">
                  <a:noFill/>
                </a:ln>
                <a:solidFill>
                  <a:srgbClr val="F8FBFE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方案与设计</a:t>
            </a: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A2FAD42E-18A9-4DEB-B207-E889B8F9963D}"/>
              </a:ext>
            </a:extLst>
          </p:cNvPr>
          <p:cNvSpPr/>
          <p:nvPr/>
        </p:nvSpPr>
        <p:spPr>
          <a:xfrm>
            <a:off x="3449955" y="2801458"/>
            <a:ext cx="18754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Design</a:t>
            </a:r>
            <a:endParaRPr 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322A177-15AE-4E45-9CCB-58A3B2D665AE}"/>
              </a:ext>
            </a:extLst>
          </p:cNvPr>
          <p:cNvSpPr/>
          <p:nvPr/>
        </p:nvSpPr>
        <p:spPr>
          <a:xfrm>
            <a:off x="3565576" y="1592169"/>
            <a:ext cx="155275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zh-CN" altLang="en-US" sz="4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45C20BE-03D0-448A-9986-225027548B44}"/>
              </a:ext>
            </a:extLst>
          </p:cNvPr>
          <p:cNvSpPr txBox="1"/>
          <p:nvPr/>
        </p:nvSpPr>
        <p:spPr>
          <a:xfrm>
            <a:off x="5791192" y="2005280"/>
            <a:ext cx="2635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ln w="3175">
                  <a:noFill/>
                </a:ln>
                <a:solidFill>
                  <a:srgbClr val="F8FBFE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技术实现</a:t>
            </a: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E91FD5D3-9D3C-4A42-9F8E-E388938227D3}"/>
              </a:ext>
            </a:extLst>
          </p:cNvPr>
          <p:cNvSpPr/>
          <p:nvPr/>
        </p:nvSpPr>
        <p:spPr>
          <a:xfrm>
            <a:off x="6159855" y="2551195"/>
            <a:ext cx="18754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Implementation</a:t>
            </a:r>
            <a:endParaRPr 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69E3BFA-7B54-46E6-9FF7-60EC51BFE5CF}"/>
              </a:ext>
            </a:extLst>
          </p:cNvPr>
          <p:cNvSpPr/>
          <p:nvPr/>
        </p:nvSpPr>
        <p:spPr>
          <a:xfrm>
            <a:off x="6275476" y="1341906"/>
            <a:ext cx="155275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zh-CN" altLang="en-US" sz="4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A9799AA-4776-46A3-B9CC-06B94D0102EF}"/>
              </a:ext>
            </a:extLst>
          </p:cNvPr>
          <p:cNvSpPr txBox="1"/>
          <p:nvPr/>
        </p:nvSpPr>
        <p:spPr>
          <a:xfrm>
            <a:off x="8517138" y="3015305"/>
            <a:ext cx="2635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ln w="3175">
                  <a:noFill/>
                </a:ln>
                <a:solidFill>
                  <a:srgbClr val="F8FBFE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成果与展望</a:t>
            </a: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5AD329AD-E17C-4A83-9EFC-C5A387545FFC}"/>
              </a:ext>
            </a:extLst>
          </p:cNvPr>
          <p:cNvSpPr/>
          <p:nvPr/>
        </p:nvSpPr>
        <p:spPr>
          <a:xfrm>
            <a:off x="8879453" y="3590342"/>
            <a:ext cx="18754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Glimpse</a:t>
            </a:r>
            <a:endParaRPr 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C56964C-DDCF-43AC-B274-544B96D2219E}"/>
              </a:ext>
            </a:extLst>
          </p:cNvPr>
          <p:cNvSpPr/>
          <p:nvPr/>
        </p:nvSpPr>
        <p:spPr>
          <a:xfrm>
            <a:off x="8995074" y="2381053"/>
            <a:ext cx="155275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zh-CN" altLang="en-US" sz="440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757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:p15="http://schemas.microsoft.com/office/powerpoint/2012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17" grpId="0"/>
      <p:bldP spid="18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28B77C6-EE10-4A31-B0A3-BEE4738AE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318819" y="-1015180"/>
            <a:ext cx="3554361" cy="12192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A038334-2C1D-4BC4-8E46-67C930782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 flipV="1">
            <a:off x="4381500" y="-4381500"/>
            <a:ext cx="3429000" cy="12192000"/>
          </a:xfrm>
          <a:prstGeom prst="rect">
            <a:avLst/>
          </a:prstGeom>
        </p:spPr>
      </p:pic>
      <p:sp>
        <p:nvSpPr>
          <p:cNvPr id="10" name="箭头: V 形 9">
            <a:extLst>
              <a:ext uri="{FF2B5EF4-FFF2-40B4-BE49-F238E27FC236}">
                <a16:creationId xmlns:a16="http://schemas.microsoft.com/office/drawing/2014/main" id="{ADECF1D8-16DE-49B2-A88A-574127AB1734}"/>
              </a:ext>
            </a:extLst>
          </p:cNvPr>
          <p:cNvSpPr/>
          <p:nvPr/>
        </p:nvSpPr>
        <p:spPr>
          <a:xfrm rot="5400000">
            <a:off x="5980133" y="6005258"/>
            <a:ext cx="231732" cy="538620"/>
          </a:xfrm>
          <a:prstGeom prst="chevron">
            <a:avLst>
              <a:gd name="adj" fmla="val 768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0762A0-B9C1-4863-AD7D-4AABCEC77931}"/>
              </a:ext>
            </a:extLst>
          </p:cNvPr>
          <p:cNvSpPr txBox="1"/>
          <p:nvPr/>
        </p:nvSpPr>
        <p:spPr>
          <a:xfrm>
            <a:off x="2521214" y="2235481"/>
            <a:ext cx="40233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>
                <a:gradFill>
                  <a:gsLst>
                    <a:gs pos="0">
                      <a:srgbClr val="E1EDFB"/>
                    </a:gs>
                    <a:gs pos="100000">
                      <a:srgbClr val="F0F6FD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Part 01</a:t>
            </a:r>
            <a:endParaRPr lang="zh-CN" altLang="en-US" sz="13800">
              <a:gradFill>
                <a:gsLst>
                  <a:gs pos="0">
                    <a:srgbClr val="E1EDFB"/>
                  </a:gs>
                  <a:gs pos="100000">
                    <a:srgbClr val="F0F6FD"/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07071AD-CE42-42E3-9688-C957DA8435E6}"/>
              </a:ext>
            </a:extLst>
          </p:cNvPr>
          <p:cNvSpPr txBox="1"/>
          <p:nvPr/>
        </p:nvSpPr>
        <p:spPr>
          <a:xfrm>
            <a:off x="5418361" y="2472642"/>
            <a:ext cx="48913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ln w="3175">
                  <a:noFill/>
                </a:ln>
                <a:solidFill>
                  <a:srgbClr val="F8FBFE"/>
                </a:solidFill>
                <a:cs typeface="+mn-ea"/>
                <a:sym typeface="+mn-lt"/>
              </a:rPr>
              <a:t>问题与机遇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69BBCFBA-075C-4B7C-A485-7F27EB69BA9A}"/>
              </a:ext>
            </a:extLst>
          </p:cNvPr>
          <p:cNvSpPr/>
          <p:nvPr/>
        </p:nvSpPr>
        <p:spPr>
          <a:xfrm>
            <a:off x="6338814" y="3206462"/>
            <a:ext cx="30504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Vision</a:t>
            </a:r>
            <a:endParaRPr 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067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dir="in"/>
      </p:transition>
    </mc:Choice>
    <mc:Fallback xmlns:p15="http://schemas.microsoft.com/office/powerpoint/2012/main" xmlns="">
      <p:transition spd="slow">
        <p:split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D60FB3-8669-4C08-BEA7-700A6AB83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018420">
            <a:off x="-1251561" y="-378414"/>
            <a:ext cx="5553733" cy="9374717"/>
          </a:xfrm>
          <a:prstGeom prst="rect">
            <a:avLst/>
          </a:prstGeom>
        </p:spPr>
      </p:pic>
      <p:sp>
        <p:nvSpPr>
          <p:cNvPr id="9" name="Rectangle 7">
            <a:extLst>
              <a:ext uri="{FF2B5EF4-FFF2-40B4-BE49-F238E27FC236}">
                <a16:creationId xmlns:a16="http://schemas.microsoft.com/office/drawing/2014/main" id="{5273B289-BDC8-4F2F-9711-DB1A5D07DB0E}"/>
              </a:ext>
            </a:extLst>
          </p:cNvPr>
          <p:cNvSpPr/>
          <p:nvPr/>
        </p:nvSpPr>
        <p:spPr>
          <a:xfrm>
            <a:off x="2240075" y="2771018"/>
            <a:ext cx="850793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痛点二：社区健康度 “不可析”</a:t>
            </a:r>
            <a:r>
              <a:rPr lang="en-US" altLang="zh-CN" b="1" dirty="0">
                <a:solidFill>
                  <a:schemeClr val="bg1"/>
                </a:solidFill>
              </a:rPr>
              <a:t>—— </a:t>
            </a:r>
            <a:r>
              <a:rPr lang="zh-CN" altLang="en-US" b="1" dirty="0">
                <a:solidFill>
                  <a:schemeClr val="bg1"/>
                </a:solidFill>
              </a:rPr>
              <a:t>无法定位健康波动的根本原因：</a:t>
            </a:r>
          </a:p>
          <a:p>
            <a:endParaRPr lang="en-US" altLang="zh-CN" b="1" dirty="0">
              <a:solidFill>
                <a:schemeClr val="bg1"/>
              </a:solidFill>
            </a:endParaRPr>
          </a:p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现有仪表盘（如 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</a:rPr>
              <a:t>GitHub Pulse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）仅提供提交频率、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</a:rPr>
              <a:t>PR 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处理时长等孤立指标，缺乏指标间的因果关联分析；并且无动态趋势追踪能力，</a:t>
            </a:r>
            <a:endParaRPr lang="en-US" altLang="zh-CN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例如，某段时间健康度下滑是因为维护者响应延迟，还是核心贡献者流失？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438E0B1F-A2ED-A4E7-0A27-9E5D811D846D}"/>
              </a:ext>
            </a:extLst>
          </p:cNvPr>
          <p:cNvSpPr/>
          <p:nvPr/>
        </p:nvSpPr>
        <p:spPr>
          <a:xfrm>
            <a:off x="644357" y="1140511"/>
            <a:ext cx="85079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痛点一：协作网络 “不可见”</a:t>
            </a:r>
            <a:r>
              <a:rPr lang="en-US" altLang="zh-CN" b="1" dirty="0">
                <a:solidFill>
                  <a:schemeClr val="bg1"/>
                </a:solidFill>
              </a:rPr>
              <a:t>—— </a:t>
            </a:r>
            <a:r>
              <a:rPr lang="zh-CN" altLang="en-US" b="1" dirty="0">
                <a:solidFill>
                  <a:schemeClr val="bg1"/>
                </a:solidFill>
              </a:rPr>
              <a:t>无法追溯协作关系的形成与演变：</a:t>
            </a:r>
            <a:endParaRPr lang="en-US" altLang="zh-CN" b="1" dirty="0">
              <a:solidFill>
                <a:schemeClr val="bg1"/>
              </a:solidFill>
            </a:endParaRPr>
          </a:p>
          <a:p>
            <a:endParaRPr lang="en-US" altLang="zh-CN" b="1" dirty="0">
              <a:solidFill>
                <a:schemeClr val="bg1"/>
              </a:solidFill>
            </a:endParaRPr>
          </a:p>
          <a:p>
            <a:r>
              <a:rPr lang="zh-CN" altLang="en-US" b="1" dirty="0">
                <a:solidFill>
                  <a:schemeClr val="bg1"/>
                </a:solidFill>
              </a:rPr>
              <a:t>知道谁提交了代码、做了什么修改，可是不知道贡献者之间的协作链路，</a:t>
            </a:r>
            <a:endParaRPr lang="en-US" altLang="zh-CN" b="1" dirty="0">
              <a:solidFill>
                <a:schemeClr val="bg1"/>
              </a:solidFill>
            </a:endParaRPr>
          </a:p>
          <a:p>
            <a:r>
              <a:rPr lang="zh-CN" altLang="en-US" b="1" dirty="0">
                <a:solidFill>
                  <a:schemeClr val="bg1"/>
                </a:solidFill>
              </a:rPr>
              <a:t>例如，核心维护者与新贡献者的互动、跨团队协作的连接点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64CA493F-13CC-8DFD-65E5-334EE1A2A8B7}"/>
              </a:ext>
            </a:extLst>
          </p:cNvPr>
          <p:cNvSpPr/>
          <p:nvPr/>
        </p:nvSpPr>
        <p:spPr>
          <a:xfrm>
            <a:off x="3684070" y="4945151"/>
            <a:ext cx="85079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痛点三：贡献者成长 “不可追”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</a:rPr>
              <a:t>—— 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无法还原个体价值的积累路径：</a:t>
            </a:r>
          </a:p>
          <a:p>
            <a:endParaRPr lang="en-US" altLang="zh-CN" b="1" dirty="0">
              <a:solidFill>
                <a:schemeClr val="bg1"/>
              </a:solidFill>
            </a:endParaRPr>
          </a:p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传统工具仅统计贡献者的提交次数、代码量，无法呈现角色跃迁轨迹，</a:t>
            </a:r>
            <a:endParaRPr lang="en-US" altLang="zh-CN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例如，从 “偶尔提交者” 到 “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</a:rPr>
              <a:t>PR 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审核者” 再到 “核心维护者” 的成长过程</a:t>
            </a:r>
            <a:endParaRPr lang="en-US" altLang="zh-CN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265D266-FE85-3135-7594-6E84C1C0C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751276">
            <a:off x="10116402" y="-144903"/>
            <a:ext cx="2922334" cy="4932910"/>
          </a:xfrm>
          <a:prstGeom prst="rect">
            <a:avLst/>
          </a:prstGeom>
        </p:spPr>
      </p:pic>
      <p:sp>
        <p:nvSpPr>
          <p:cNvPr id="7" name="TextBox 24">
            <a:extLst>
              <a:ext uri="{FF2B5EF4-FFF2-40B4-BE49-F238E27FC236}">
                <a16:creationId xmlns:a16="http://schemas.microsoft.com/office/drawing/2014/main" id="{F2A81771-D68B-4EAE-9771-7505A2709626}"/>
              </a:ext>
            </a:extLst>
          </p:cNvPr>
          <p:cNvSpPr txBox="1"/>
          <p:nvPr/>
        </p:nvSpPr>
        <p:spPr>
          <a:xfrm>
            <a:off x="304363" y="420866"/>
            <a:ext cx="11432666" cy="370150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开源协作分析的核心痛点：从“快照数据”到“动态故事”的鸿沟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3827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p15="http://schemas.microsoft.com/office/powerpoint/2012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3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86;p19">
            <a:extLst>
              <a:ext uri="{FF2B5EF4-FFF2-40B4-BE49-F238E27FC236}">
                <a16:creationId xmlns:a16="http://schemas.microsoft.com/office/drawing/2014/main" id="{22EF72CD-B3A4-4F54-BE4B-FB79E41474FE}"/>
              </a:ext>
            </a:extLst>
          </p:cNvPr>
          <p:cNvSpPr txBox="1"/>
          <p:nvPr/>
        </p:nvSpPr>
        <p:spPr>
          <a:xfrm>
            <a:off x="1627267" y="2682411"/>
            <a:ext cx="10757474" cy="686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zh-CN" altLang="en-US" sz="4000" b="1" dirty="0">
                <a:solidFill>
                  <a:schemeClr val="bg1">
                    <a:lumMod val="95000"/>
                  </a:schemeClr>
                </a:solidFill>
              </a:rPr>
              <a:t>代码协作的本质是知识网络的构建与传递</a:t>
            </a:r>
          </a:p>
        </p:txBody>
      </p:sp>
    </p:spTree>
    <p:extLst>
      <p:ext uri="{BB962C8B-B14F-4D97-AF65-F5344CB8AC3E}">
        <p14:creationId xmlns:p14="http://schemas.microsoft.com/office/powerpoint/2010/main" val="3463504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p15="http://schemas.microsoft.com/office/powerpoint/2012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2DDCC-BCA9-0566-B903-5841BF4A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EEEC2E0-B16E-F81C-00C1-B449C53AD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318819" y="-1015180"/>
            <a:ext cx="3554361" cy="12192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05B90DA-563C-68B2-8466-313A11A42E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 flipV="1">
            <a:off x="4381500" y="-4381500"/>
            <a:ext cx="3429000" cy="12192000"/>
          </a:xfrm>
          <a:prstGeom prst="rect">
            <a:avLst/>
          </a:prstGeom>
        </p:spPr>
      </p:pic>
      <p:sp>
        <p:nvSpPr>
          <p:cNvPr id="10" name="箭头: V 形 9">
            <a:extLst>
              <a:ext uri="{FF2B5EF4-FFF2-40B4-BE49-F238E27FC236}">
                <a16:creationId xmlns:a16="http://schemas.microsoft.com/office/drawing/2014/main" id="{629A49B1-9415-EC22-BDC9-662239482455}"/>
              </a:ext>
            </a:extLst>
          </p:cNvPr>
          <p:cNvSpPr/>
          <p:nvPr/>
        </p:nvSpPr>
        <p:spPr>
          <a:xfrm rot="5400000">
            <a:off x="5980133" y="6005258"/>
            <a:ext cx="231732" cy="538620"/>
          </a:xfrm>
          <a:prstGeom prst="chevron">
            <a:avLst>
              <a:gd name="adj" fmla="val 768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F9FD028-0179-A49F-02AC-91AEB16C0364}"/>
              </a:ext>
            </a:extLst>
          </p:cNvPr>
          <p:cNvSpPr txBox="1"/>
          <p:nvPr/>
        </p:nvSpPr>
        <p:spPr>
          <a:xfrm>
            <a:off x="2521214" y="2235481"/>
            <a:ext cx="40233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gradFill>
                  <a:gsLst>
                    <a:gs pos="0">
                      <a:srgbClr val="E1EDFB"/>
                    </a:gs>
                    <a:gs pos="100000">
                      <a:srgbClr val="F0F6FD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Part 02</a:t>
            </a:r>
            <a:endParaRPr lang="zh-CN" altLang="en-US" sz="13800" dirty="0">
              <a:gradFill>
                <a:gsLst>
                  <a:gs pos="0">
                    <a:srgbClr val="E1EDFB"/>
                  </a:gs>
                  <a:gs pos="100000">
                    <a:srgbClr val="F0F6FD"/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4DE717F-7386-439C-9FAC-458FC7F1BBD7}"/>
              </a:ext>
            </a:extLst>
          </p:cNvPr>
          <p:cNvSpPr txBox="1"/>
          <p:nvPr/>
        </p:nvSpPr>
        <p:spPr>
          <a:xfrm>
            <a:off x="5418361" y="2472642"/>
            <a:ext cx="48913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ln w="3175">
                  <a:noFill/>
                </a:ln>
                <a:solidFill>
                  <a:srgbClr val="F8FBFE"/>
                </a:solidFill>
                <a:cs typeface="+mn-ea"/>
                <a:sym typeface="+mn-lt"/>
              </a:rPr>
              <a:t>方案与设计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DE81F5E4-E9A3-C1B3-93E0-0104CD2CB405}"/>
              </a:ext>
            </a:extLst>
          </p:cNvPr>
          <p:cNvSpPr/>
          <p:nvPr/>
        </p:nvSpPr>
        <p:spPr>
          <a:xfrm>
            <a:off x="6338814" y="3206462"/>
            <a:ext cx="30504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Design</a:t>
            </a:r>
            <a:endParaRPr 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4511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dir="in"/>
      </p:transition>
    </mc:Choice>
    <mc:Fallback xmlns:p15="http://schemas.microsoft.com/office/powerpoint/2012/main" xmlns="">
      <p:transition spd="slow">
        <p:split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997AEBC8-11CE-97A7-00F5-AA9788FE3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376" y="2073164"/>
            <a:ext cx="3554361" cy="1219200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A31C0669-D3B2-B80D-B5BB-275046569880}"/>
              </a:ext>
            </a:extLst>
          </p:cNvPr>
          <p:cNvGrpSpPr/>
          <p:nvPr/>
        </p:nvGrpSpPr>
        <p:grpSpPr>
          <a:xfrm>
            <a:off x="-80229" y="-3950082"/>
            <a:ext cx="12705863" cy="11189797"/>
            <a:chOff x="-80229" y="-3950082"/>
            <a:chExt cx="12705863" cy="11189797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339051B5-5F08-06F8-6CCB-3C74A8E58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4127488" y="-6042"/>
              <a:ext cx="3038040" cy="11453474"/>
            </a:xfrm>
            <a:prstGeom prst="rect">
              <a:avLst/>
            </a:prstGeom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26133D91-7842-E6AF-C4E4-99FD8955B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9323544">
              <a:off x="9587594" y="-3950082"/>
              <a:ext cx="3038040" cy="10420942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A03EC4D0-CD0C-4F9F-9976-EE885B7F93E6}"/>
              </a:ext>
            </a:extLst>
          </p:cNvPr>
          <p:cNvSpPr txBox="1"/>
          <p:nvPr/>
        </p:nvSpPr>
        <p:spPr>
          <a:xfrm>
            <a:off x="4023518" y="406810"/>
            <a:ext cx="35253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err="1">
                <a:solidFill>
                  <a:schemeClr val="bg1"/>
                </a:solidFill>
                <a:cs typeface="+mn-ea"/>
                <a:sym typeface="+mn-lt"/>
              </a:rPr>
              <a:t>OpenSaga</a:t>
            </a:r>
            <a:r>
              <a:rPr lang="zh-CN" altLang="en-US" sz="3200" b="1" dirty="0">
                <a:solidFill>
                  <a:schemeClr val="bg1"/>
                </a:solidFill>
                <a:cs typeface="+mn-ea"/>
                <a:sym typeface="+mn-lt"/>
              </a:rPr>
              <a:t>的功能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D7B1B25-278C-7FE5-C780-7BDBEA0318DF}"/>
              </a:ext>
            </a:extLst>
          </p:cNvPr>
          <p:cNvGrpSpPr/>
          <p:nvPr/>
        </p:nvGrpSpPr>
        <p:grpSpPr>
          <a:xfrm>
            <a:off x="-524876" y="2251281"/>
            <a:ext cx="14760893" cy="2289285"/>
            <a:chOff x="-314366" y="1260389"/>
            <a:chExt cx="14760893" cy="2289285"/>
          </a:xfrm>
        </p:grpSpPr>
        <p:sp>
          <p:nvSpPr>
            <p:cNvPr id="5" name="Rectangle 17">
              <a:extLst>
                <a:ext uri="{FF2B5EF4-FFF2-40B4-BE49-F238E27FC236}">
                  <a16:creationId xmlns:a16="http://schemas.microsoft.com/office/drawing/2014/main" id="{A864E99F-0F2D-4EBF-8CBB-54DD065D60CC}"/>
                </a:ext>
              </a:extLst>
            </p:cNvPr>
            <p:cNvSpPr/>
            <p:nvPr/>
          </p:nvSpPr>
          <p:spPr>
            <a:xfrm>
              <a:off x="271474" y="1279015"/>
              <a:ext cx="2472062" cy="324485"/>
            </a:xfrm>
            <a:prstGeom prst="rect">
              <a:avLst/>
            </a:prstGeom>
          </p:spPr>
          <p:txBody>
            <a:bodyPr vert="horz" wrap="square" lIns="182880" tIns="91440" rIns="182880" bIns="91440" rtlCol="0" anchor="ctr">
              <a:noAutofit/>
            </a:bodyPr>
            <a:lstStyle/>
            <a:p>
              <a:r>
                <a:rPr lang="zh-CN" altLang="en-US" sz="2400" b="1" dirty="0">
                  <a:solidFill>
                    <a:schemeClr val="bg1">
                      <a:lumMod val="95000"/>
                    </a:schemeClr>
                  </a:solidFill>
                </a:rPr>
                <a:t>时序分析</a:t>
              </a:r>
            </a:p>
          </p:txBody>
        </p:sp>
        <p:sp>
          <p:nvSpPr>
            <p:cNvPr id="6" name="Rectangle 34">
              <a:extLst>
                <a:ext uri="{FF2B5EF4-FFF2-40B4-BE49-F238E27FC236}">
                  <a16:creationId xmlns:a16="http://schemas.microsoft.com/office/drawing/2014/main" id="{629A96C7-E7C3-4A72-9BA7-1567AE13B4F5}"/>
                </a:ext>
              </a:extLst>
            </p:cNvPr>
            <p:cNvSpPr/>
            <p:nvPr/>
          </p:nvSpPr>
          <p:spPr>
            <a:xfrm>
              <a:off x="1633351" y="1260389"/>
              <a:ext cx="1012228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828800">
                <a:buClr>
                  <a:srgbClr val="E24848"/>
                </a:buClr>
                <a:defRPr/>
              </a:pPr>
              <a:r>
                <a:rPr lang="zh-CN" altLang="en-US" noProof="1">
                  <a:solidFill>
                    <a:schemeClr val="bg1"/>
                  </a:solidFill>
                  <a:cs typeface="+mn-ea"/>
                  <a:sym typeface="+mn-lt"/>
                </a:rPr>
                <a:t>→月度协作网络指标计算</a:t>
              </a:r>
              <a:r>
                <a:rPr lang="zh-CN" altLang="en-US" dirty="0">
                  <a:solidFill>
                    <a:schemeClr val="bg1"/>
                  </a:solidFill>
                </a:rPr>
                <a:t>（活跃开发者数、协作事件数、网络密度等）</a:t>
              </a:r>
              <a:r>
                <a:rPr lang="zh-CN" altLang="en-US" noProof="1">
                  <a:solidFill>
                    <a:schemeClr val="bg1"/>
                  </a:solidFill>
                  <a:cs typeface="+mn-ea"/>
                  <a:sym typeface="+mn-lt"/>
                </a:rPr>
                <a:t>、社区数量</a:t>
              </a:r>
              <a:r>
                <a:rPr lang="en-US" altLang="zh-CN" noProof="1">
                  <a:solidFill>
                    <a:schemeClr val="bg1"/>
                  </a:solidFill>
                  <a:cs typeface="+mn-ea"/>
                  <a:sym typeface="+mn-lt"/>
                </a:rPr>
                <a:t>/</a:t>
              </a:r>
              <a:r>
                <a:rPr lang="zh-CN" altLang="en-US" noProof="1">
                  <a:solidFill>
                    <a:schemeClr val="bg1"/>
                  </a:solidFill>
                  <a:cs typeface="+mn-ea"/>
                  <a:sym typeface="+mn-lt"/>
                </a:rPr>
                <a:t>规模变化趋势图</a:t>
              </a:r>
              <a:endParaRPr lang="en-US" kern="1200" noProof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B3C2EB62-CADA-4DA4-8F4D-3D5DECACFAD4}"/>
                </a:ext>
              </a:extLst>
            </p:cNvPr>
            <p:cNvSpPr/>
            <p:nvPr/>
          </p:nvSpPr>
          <p:spPr>
            <a:xfrm>
              <a:off x="130281" y="2215273"/>
              <a:ext cx="1859280" cy="324485"/>
            </a:xfrm>
            <a:prstGeom prst="rect">
              <a:avLst/>
            </a:prstGeom>
          </p:spPr>
          <p:txBody>
            <a:bodyPr vert="horz" wrap="square" lIns="182880" tIns="91440" rIns="182880" bIns="91440" rtlCol="0" anchor="ctr">
              <a:noAutofit/>
            </a:bodyPr>
            <a:lstStyle/>
            <a:p>
              <a:pPr algn="ctr" defTabSz="1828800">
                <a:lnSpc>
                  <a:spcPct val="12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cs typeface="+mn-ea"/>
                  <a:sym typeface="+mn-lt"/>
                </a:rPr>
                <a:t>多维关联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" name="Rectangle 34">
              <a:extLst>
                <a:ext uri="{FF2B5EF4-FFF2-40B4-BE49-F238E27FC236}">
                  <a16:creationId xmlns:a16="http://schemas.microsoft.com/office/drawing/2014/main" id="{2FE9F27F-7F71-49F4-B0EF-F030A554671D}"/>
                </a:ext>
              </a:extLst>
            </p:cNvPr>
            <p:cNvSpPr/>
            <p:nvPr/>
          </p:nvSpPr>
          <p:spPr>
            <a:xfrm>
              <a:off x="1586622" y="2235586"/>
              <a:ext cx="524171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828800">
                <a:buClr>
                  <a:srgbClr val="E24848"/>
                </a:buClr>
                <a:defRPr/>
              </a:pPr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</a:rPr>
                <a:t> →开发者</a:t>
              </a:r>
              <a:r>
                <a:rPr lang="en-US" altLang="zh-CN" dirty="0">
                  <a:solidFill>
                    <a:schemeClr val="bg1">
                      <a:lumMod val="95000"/>
                    </a:schemeClr>
                  </a:solidFill>
                </a:rPr>
                <a:t>—</a:t>
              </a:r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</a:rPr>
                <a:t>技术栈关联、协作关系与权重的关联</a:t>
              </a:r>
              <a:endParaRPr lang="en-US" sz="1400" kern="1200" noProof="1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9" name="Rectangle 17">
              <a:extLst>
                <a:ext uri="{FF2B5EF4-FFF2-40B4-BE49-F238E27FC236}">
                  <a16:creationId xmlns:a16="http://schemas.microsoft.com/office/drawing/2014/main" id="{E66E034F-D0B6-46D8-8372-AF489347A05C}"/>
                </a:ext>
              </a:extLst>
            </p:cNvPr>
            <p:cNvSpPr/>
            <p:nvPr/>
          </p:nvSpPr>
          <p:spPr>
            <a:xfrm>
              <a:off x="130281" y="3135058"/>
              <a:ext cx="1859280" cy="324485"/>
            </a:xfrm>
            <a:prstGeom prst="rect">
              <a:avLst/>
            </a:prstGeom>
          </p:spPr>
          <p:txBody>
            <a:bodyPr vert="horz" wrap="square" lIns="182880" tIns="91440" rIns="182880" bIns="91440" rtlCol="0" anchor="ctr">
              <a:noAutofit/>
            </a:bodyPr>
            <a:lstStyle/>
            <a:p>
              <a:pPr algn="ctr" defTabSz="1828800">
                <a:lnSpc>
                  <a:spcPct val="120000"/>
                </a:lnSpc>
              </a:pPr>
              <a:r>
                <a:rPr lang="zh-CN" altLang="en-US" sz="2400" b="1" dirty="0">
                  <a:solidFill>
                    <a:schemeClr val="bg1">
                      <a:lumMod val="95000"/>
                    </a:schemeClr>
                  </a:solidFill>
                </a:rPr>
                <a:t>角色分析</a:t>
              </a:r>
              <a:endParaRPr lang="en-US" altLang="zh-CN" sz="3200" b="1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" name="Rectangle 34">
              <a:extLst>
                <a:ext uri="{FF2B5EF4-FFF2-40B4-BE49-F238E27FC236}">
                  <a16:creationId xmlns:a16="http://schemas.microsoft.com/office/drawing/2014/main" id="{71D8E7F7-A508-05CB-6131-B8D0D1F4AA52}"/>
                </a:ext>
              </a:extLst>
            </p:cNvPr>
            <p:cNvSpPr/>
            <p:nvPr/>
          </p:nvSpPr>
          <p:spPr>
            <a:xfrm>
              <a:off x="-314366" y="1737216"/>
              <a:ext cx="546408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828800" rtl="0">
                <a:buClr>
                  <a:srgbClr val="E24848"/>
                </a:buClr>
                <a:defRPr/>
              </a:pPr>
              <a:r>
                <a:rPr lang="zh-CN" altLang="en-US" noProof="1">
                  <a:solidFill>
                    <a:schemeClr val="bg1"/>
                  </a:solidFill>
                  <a:cs typeface="+mn-ea"/>
                  <a:sym typeface="+mn-lt"/>
                </a:rPr>
                <a:t>→关系演变可视化、网络结构演化追踪</a:t>
              </a:r>
              <a:endParaRPr lang="en-US" kern="1200" noProof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3" name="Rectangle 34">
              <a:extLst>
                <a:ext uri="{FF2B5EF4-FFF2-40B4-BE49-F238E27FC236}">
                  <a16:creationId xmlns:a16="http://schemas.microsoft.com/office/drawing/2014/main" id="{A21181DF-541C-F82E-BEFB-FCC3ED74C388}"/>
                </a:ext>
              </a:extLst>
            </p:cNvPr>
            <p:cNvSpPr/>
            <p:nvPr/>
          </p:nvSpPr>
          <p:spPr>
            <a:xfrm>
              <a:off x="6478588" y="2227932"/>
              <a:ext cx="546408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828800">
                <a:buClr>
                  <a:srgbClr val="E24848"/>
                </a:buClr>
                <a:defRPr/>
              </a:pPr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</a:rPr>
                <a:t>→行为</a:t>
              </a:r>
              <a:r>
                <a:rPr lang="en-US" altLang="zh-CN" dirty="0">
                  <a:solidFill>
                    <a:schemeClr val="bg1">
                      <a:lumMod val="95000"/>
                    </a:schemeClr>
                  </a:solidFill>
                </a:rPr>
                <a:t>-</a:t>
              </a:r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</a:rPr>
                <a:t>影响关联（基于协作网络）、个体</a:t>
              </a:r>
              <a:r>
                <a:rPr lang="en-US" altLang="zh-CN" dirty="0">
                  <a:solidFill>
                    <a:schemeClr val="bg1">
                      <a:lumMod val="95000"/>
                    </a:schemeClr>
                  </a:solidFill>
                </a:rPr>
                <a:t>-</a:t>
              </a:r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</a:rPr>
                <a:t>群体关联</a:t>
              </a:r>
              <a:endParaRPr lang="en-US" altLang="zh-CN" dirty="0">
                <a:solidFill>
                  <a:schemeClr val="bg1">
                    <a:lumMod val="95000"/>
                  </a:schemeClr>
                </a:solidFill>
              </a:endParaRPr>
            </a:p>
            <a:p>
              <a:pPr algn="ctr" defTabSz="1828800">
                <a:buClr>
                  <a:srgbClr val="E24848"/>
                </a:buClr>
                <a:defRPr/>
              </a:pPr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</a:rPr>
                <a:t>（</a:t>
              </a:r>
              <a:r>
                <a:rPr lang="en-US" altLang="zh-CN" dirty="0">
                  <a:solidFill>
                    <a:schemeClr val="bg1">
                      <a:lumMod val="95000"/>
                    </a:schemeClr>
                  </a:solidFill>
                </a:rPr>
                <a:t>PageRank</a:t>
              </a:r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</a:rPr>
                <a:t>和社区分析）</a:t>
              </a:r>
              <a:endParaRPr lang="en-US" kern="1200" noProof="1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0D94ED77-5EFA-327A-F6D7-8AD08F2C2D80}"/>
                </a:ext>
              </a:extLst>
            </p:cNvPr>
            <p:cNvSpPr txBox="1"/>
            <p:nvPr/>
          </p:nvSpPr>
          <p:spPr>
            <a:xfrm>
              <a:off x="1653858" y="3179980"/>
              <a:ext cx="66798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</a:rPr>
                <a:t>→核心贡献者识别（</a:t>
              </a:r>
              <a:r>
                <a:rPr lang="en-US" altLang="zh-CN" dirty="0">
                  <a:solidFill>
                    <a:schemeClr val="bg1">
                      <a:lumMod val="95000"/>
                    </a:schemeClr>
                  </a:solidFill>
                </a:rPr>
                <a:t>PageRank</a:t>
              </a:r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</a:rPr>
                <a:t>算法）、开发者技术属性分析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2AD17FF-F670-1D7B-C6F1-D80567C89E19}"/>
                </a:ext>
              </a:extLst>
            </p:cNvPr>
            <p:cNvSpPr txBox="1"/>
            <p:nvPr/>
          </p:nvSpPr>
          <p:spPr>
            <a:xfrm>
              <a:off x="7766701" y="3180342"/>
              <a:ext cx="66798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</a:rPr>
                <a:t>→核心开发者动态</a:t>
              </a:r>
              <a:r>
                <a:rPr lang="zh-CN" altLang="en-US" i="0" dirty="0">
                  <a:solidFill>
                    <a:srgbClr val="F9FAFB"/>
                  </a:solidFill>
                  <a:effectLst/>
                  <a:latin typeface="quote-cjk-patch"/>
                </a:rPr>
                <a:t>识别、</a:t>
              </a:r>
              <a:r>
                <a:rPr lang="en-US" altLang="zh-CN" i="0" dirty="0">
                  <a:solidFill>
                    <a:srgbClr val="F9FAFB"/>
                  </a:solidFill>
                  <a:effectLst/>
                  <a:latin typeface="quote-cjk-patch"/>
                </a:rPr>
                <a:t> </a:t>
              </a:r>
              <a:r>
                <a:rPr lang="zh-CN" altLang="en-US" i="0" dirty="0">
                  <a:solidFill>
                    <a:srgbClr val="F9FAFB"/>
                  </a:solidFill>
                  <a:effectLst/>
                  <a:latin typeface="quote-cjk-patch"/>
                </a:rPr>
                <a:t>影响力演变追踪</a:t>
              </a:r>
              <a:endParaRPr lang="zh-CN" altLang="en-US" dirty="0"/>
            </a:p>
          </p:txBody>
        </p:sp>
      </p:grpSp>
      <p:sp>
        <p:nvSpPr>
          <p:cNvPr id="30" name="Freeform 5">
            <a:extLst>
              <a:ext uri="{FF2B5EF4-FFF2-40B4-BE49-F238E27FC236}">
                <a16:creationId xmlns:a16="http://schemas.microsoft.com/office/drawing/2014/main" id="{04F3ABFB-83CA-D89D-7840-167AA010B29C}"/>
              </a:ext>
            </a:extLst>
          </p:cNvPr>
          <p:cNvSpPr>
            <a:spLocks noEditPoints="1"/>
          </p:cNvSpPr>
          <p:nvPr/>
        </p:nvSpPr>
        <p:spPr bwMode="auto">
          <a:xfrm>
            <a:off x="10735819" y="4782244"/>
            <a:ext cx="741590" cy="741588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255" y="135"/>
              </a:cxn>
              <a:cxn ang="0">
                <a:pos x="277" y="122"/>
              </a:cxn>
              <a:cxn ang="0">
                <a:pos x="303" y="116"/>
              </a:cxn>
              <a:cxn ang="0">
                <a:pos x="296" y="105"/>
              </a:cxn>
              <a:cxn ang="0">
                <a:pos x="278" y="89"/>
              </a:cxn>
              <a:cxn ang="0">
                <a:pos x="265" y="90"/>
              </a:cxn>
              <a:cxn ang="0">
                <a:pos x="256" y="82"/>
              </a:cxn>
              <a:cxn ang="0">
                <a:pos x="231" y="73"/>
              </a:cxn>
              <a:cxn ang="0">
                <a:pos x="234" y="98"/>
              </a:cxn>
              <a:cxn ang="0">
                <a:pos x="224" y="118"/>
              </a:cxn>
              <a:cxn ang="0">
                <a:pos x="205" y="103"/>
              </a:cxn>
              <a:cxn ang="0">
                <a:pos x="175" y="89"/>
              </a:cxn>
              <a:cxn ang="0">
                <a:pos x="183" y="68"/>
              </a:cxn>
              <a:cxn ang="0">
                <a:pos x="212" y="58"/>
              </a:cxn>
              <a:cxn ang="0">
                <a:pos x="207" y="47"/>
              </a:cxn>
              <a:cxn ang="0">
                <a:pos x="188" y="50"/>
              </a:cxn>
              <a:cxn ang="0">
                <a:pos x="168" y="37"/>
              </a:cxn>
              <a:cxn ang="0">
                <a:pos x="171" y="52"/>
              </a:cxn>
              <a:cxn ang="0">
                <a:pos x="157" y="52"/>
              </a:cxn>
              <a:cxn ang="0">
                <a:pos x="141" y="40"/>
              </a:cxn>
              <a:cxn ang="0">
                <a:pos x="126" y="47"/>
              </a:cxn>
              <a:cxn ang="0">
                <a:pos x="143" y="51"/>
              </a:cxn>
              <a:cxn ang="0">
                <a:pos x="131" y="58"/>
              </a:cxn>
              <a:cxn ang="0">
                <a:pos x="56" y="107"/>
              </a:cxn>
              <a:cxn ang="0">
                <a:pos x="65" y="118"/>
              </a:cxn>
              <a:cxn ang="0">
                <a:pos x="79" y="135"/>
              </a:cxn>
              <a:cxn ang="0">
                <a:pos x="74" y="158"/>
              </a:cxn>
              <a:cxn ang="0">
                <a:pos x="88" y="185"/>
              </a:cxn>
              <a:cxn ang="0">
                <a:pos x="108" y="214"/>
              </a:cxn>
              <a:cxn ang="0">
                <a:pos x="118" y="227"/>
              </a:cxn>
              <a:cxn ang="0">
                <a:pos x="105" y="197"/>
              </a:cxn>
              <a:cxn ang="0">
                <a:pos x="125" y="225"/>
              </a:cxn>
              <a:cxn ang="0">
                <a:pos x="150" y="255"/>
              </a:cxn>
              <a:cxn ang="0">
                <a:pos x="184" y="269"/>
              </a:cxn>
              <a:cxn ang="0">
                <a:pos x="213" y="290"/>
              </a:cxn>
              <a:cxn ang="0">
                <a:pos x="224" y="288"/>
              </a:cxn>
              <a:cxn ang="0">
                <a:pos x="212" y="268"/>
              </a:cxn>
              <a:cxn ang="0">
                <a:pos x="197" y="262"/>
              </a:cxn>
              <a:cxn ang="0">
                <a:pos x="194" y="239"/>
              </a:cxn>
              <a:cxn ang="0">
                <a:pos x="171" y="250"/>
              </a:cxn>
              <a:cxn ang="0">
                <a:pos x="168" y="210"/>
              </a:cxn>
              <a:cxn ang="0">
                <a:pos x="184" y="206"/>
              </a:cxn>
              <a:cxn ang="0">
                <a:pos x="196" y="202"/>
              </a:cxn>
              <a:cxn ang="0">
                <a:pos x="214" y="211"/>
              </a:cxn>
              <a:cxn ang="0">
                <a:pos x="221" y="205"/>
              </a:cxn>
              <a:cxn ang="0">
                <a:pos x="234" y="179"/>
              </a:cxn>
              <a:cxn ang="0">
                <a:pos x="233" y="171"/>
              </a:cxn>
              <a:cxn ang="0">
                <a:pos x="252" y="157"/>
              </a:cxn>
              <a:cxn ang="0">
                <a:pos x="266" y="143"/>
              </a:cxn>
              <a:cxn ang="0">
                <a:pos x="273" y="131"/>
              </a:cxn>
              <a:cxn ang="0">
                <a:pos x="255" y="135"/>
              </a:cxn>
              <a:cxn ang="0">
                <a:pos x="295" y="298"/>
              </a:cxn>
              <a:cxn ang="0">
                <a:pos x="272" y="288"/>
              </a:cxn>
              <a:cxn ang="0">
                <a:pos x="251" y="288"/>
              </a:cxn>
              <a:cxn ang="0">
                <a:pos x="236" y="286"/>
              </a:cxn>
              <a:cxn ang="0">
                <a:pos x="230" y="307"/>
              </a:cxn>
              <a:cxn ang="0">
                <a:pos x="223" y="335"/>
              </a:cxn>
              <a:cxn ang="0">
                <a:pos x="308" y="302"/>
              </a:cxn>
            </a:cxnLst>
            <a:rect l="0" t="0" r="r" b="b"/>
            <a:pathLst>
              <a:path w="384" h="384">
                <a:moveTo>
                  <a:pt x="384" y="192"/>
                </a:moveTo>
                <a:cubicBezTo>
                  <a:pt x="384" y="298"/>
                  <a:pt x="298" y="384"/>
                  <a:pt x="192" y="384"/>
                </a:cubicBezTo>
                <a:cubicBezTo>
                  <a:pt x="86" y="384"/>
                  <a:pt x="0" y="298"/>
                  <a:pt x="0" y="192"/>
                </a:cubicBezTo>
                <a:cubicBezTo>
                  <a:pt x="0" y="86"/>
                  <a:pt x="86" y="0"/>
                  <a:pt x="192" y="0"/>
                </a:cubicBezTo>
                <a:cubicBezTo>
                  <a:pt x="298" y="0"/>
                  <a:pt x="384" y="86"/>
                  <a:pt x="384" y="192"/>
                </a:cubicBezTo>
                <a:close/>
                <a:moveTo>
                  <a:pt x="255" y="135"/>
                </a:moveTo>
                <a:cubicBezTo>
                  <a:pt x="256" y="135"/>
                  <a:pt x="257" y="130"/>
                  <a:pt x="258" y="129"/>
                </a:cubicBezTo>
                <a:cubicBezTo>
                  <a:pt x="260" y="127"/>
                  <a:pt x="262" y="126"/>
                  <a:pt x="264" y="125"/>
                </a:cubicBezTo>
                <a:cubicBezTo>
                  <a:pt x="268" y="124"/>
                  <a:pt x="272" y="123"/>
                  <a:pt x="277" y="122"/>
                </a:cubicBezTo>
                <a:cubicBezTo>
                  <a:pt x="281" y="121"/>
                  <a:pt x="286" y="121"/>
                  <a:pt x="289" y="125"/>
                </a:cubicBezTo>
                <a:cubicBezTo>
                  <a:pt x="289" y="124"/>
                  <a:pt x="295" y="119"/>
                  <a:pt x="295" y="119"/>
                </a:cubicBezTo>
                <a:cubicBezTo>
                  <a:pt x="298" y="118"/>
                  <a:pt x="301" y="118"/>
                  <a:pt x="303" y="116"/>
                </a:cubicBezTo>
                <a:cubicBezTo>
                  <a:pt x="303" y="115"/>
                  <a:pt x="303" y="110"/>
                  <a:pt x="303" y="110"/>
                </a:cubicBezTo>
                <a:cubicBezTo>
                  <a:pt x="299" y="111"/>
                  <a:pt x="298" y="107"/>
                  <a:pt x="297" y="103"/>
                </a:cubicBezTo>
                <a:cubicBezTo>
                  <a:pt x="297" y="104"/>
                  <a:pt x="297" y="104"/>
                  <a:pt x="296" y="105"/>
                </a:cubicBezTo>
                <a:cubicBezTo>
                  <a:pt x="296" y="102"/>
                  <a:pt x="291" y="104"/>
                  <a:pt x="290" y="104"/>
                </a:cubicBezTo>
                <a:cubicBezTo>
                  <a:pt x="284" y="102"/>
                  <a:pt x="285" y="98"/>
                  <a:pt x="283" y="94"/>
                </a:cubicBezTo>
                <a:cubicBezTo>
                  <a:pt x="282" y="92"/>
                  <a:pt x="279" y="91"/>
                  <a:pt x="278" y="89"/>
                </a:cubicBezTo>
                <a:cubicBezTo>
                  <a:pt x="277" y="87"/>
                  <a:pt x="277" y="84"/>
                  <a:pt x="274" y="84"/>
                </a:cubicBezTo>
                <a:cubicBezTo>
                  <a:pt x="273" y="84"/>
                  <a:pt x="270" y="89"/>
                  <a:pt x="270" y="89"/>
                </a:cubicBezTo>
                <a:cubicBezTo>
                  <a:pt x="267" y="88"/>
                  <a:pt x="266" y="89"/>
                  <a:pt x="265" y="90"/>
                </a:cubicBezTo>
                <a:cubicBezTo>
                  <a:pt x="263" y="91"/>
                  <a:pt x="262" y="91"/>
                  <a:pt x="260" y="92"/>
                </a:cubicBezTo>
                <a:cubicBezTo>
                  <a:pt x="265" y="90"/>
                  <a:pt x="258" y="88"/>
                  <a:pt x="256" y="88"/>
                </a:cubicBezTo>
                <a:cubicBezTo>
                  <a:pt x="260" y="87"/>
                  <a:pt x="258" y="83"/>
                  <a:pt x="256" y="82"/>
                </a:cubicBezTo>
                <a:cubicBezTo>
                  <a:pt x="256" y="82"/>
                  <a:pt x="257" y="82"/>
                  <a:pt x="257" y="82"/>
                </a:cubicBezTo>
                <a:cubicBezTo>
                  <a:pt x="257" y="79"/>
                  <a:pt x="250" y="77"/>
                  <a:pt x="247" y="76"/>
                </a:cubicBezTo>
                <a:cubicBezTo>
                  <a:pt x="245" y="74"/>
                  <a:pt x="233" y="72"/>
                  <a:pt x="231" y="73"/>
                </a:cubicBezTo>
                <a:cubicBezTo>
                  <a:pt x="228" y="75"/>
                  <a:pt x="231" y="80"/>
                  <a:pt x="231" y="83"/>
                </a:cubicBezTo>
                <a:cubicBezTo>
                  <a:pt x="232" y="86"/>
                  <a:pt x="228" y="86"/>
                  <a:pt x="228" y="89"/>
                </a:cubicBezTo>
                <a:cubicBezTo>
                  <a:pt x="228" y="93"/>
                  <a:pt x="236" y="92"/>
                  <a:pt x="234" y="98"/>
                </a:cubicBezTo>
                <a:cubicBezTo>
                  <a:pt x="233" y="102"/>
                  <a:pt x="228" y="102"/>
                  <a:pt x="226" y="105"/>
                </a:cubicBezTo>
                <a:cubicBezTo>
                  <a:pt x="224" y="108"/>
                  <a:pt x="227" y="112"/>
                  <a:pt x="229" y="114"/>
                </a:cubicBezTo>
                <a:cubicBezTo>
                  <a:pt x="231" y="115"/>
                  <a:pt x="225" y="118"/>
                  <a:pt x="224" y="118"/>
                </a:cubicBezTo>
                <a:cubicBezTo>
                  <a:pt x="220" y="120"/>
                  <a:pt x="217" y="114"/>
                  <a:pt x="216" y="110"/>
                </a:cubicBezTo>
                <a:cubicBezTo>
                  <a:pt x="215" y="108"/>
                  <a:pt x="215" y="104"/>
                  <a:pt x="212" y="103"/>
                </a:cubicBezTo>
                <a:cubicBezTo>
                  <a:pt x="210" y="102"/>
                  <a:pt x="206" y="102"/>
                  <a:pt x="205" y="103"/>
                </a:cubicBezTo>
                <a:cubicBezTo>
                  <a:pt x="203" y="99"/>
                  <a:pt x="198" y="98"/>
                  <a:pt x="194" y="97"/>
                </a:cubicBezTo>
                <a:cubicBezTo>
                  <a:pt x="189" y="95"/>
                  <a:pt x="185" y="95"/>
                  <a:pt x="180" y="96"/>
                </a:cubicBezTo>
                <a:cubicBezTo>
                  <a:pt x="181" y="95"/>
                  <a:pt x="179" y="88"/>
                  <a:pt x="175" y="89"/>
                </a:cubicBezTo>
                <a:cubicBezTo>
                  <a:pt x="176" y="86"/>
                  <a:pt x="176" y="84"/>
                  <a:pt x="176" y="81"/>
                </a:cubicBezTo>
                <a:cubicBezTo>
                  <a:pt x="177" y="79"/>
                  <a:pt x="178" y="77"/>
                  <a:pt x="179" y="75"/>
                </a:cubicBezTo>
                <a:cubicBezTo>
                  <a:pt x="180" y="74"/>
                  <a:pt x="185" y="69"/>
                  <a:pt x="183" y="68"/>
                </a:cubicBezTo>
                <a:cubicBezTo>
                  <a:pt x="188" y="69"/>
                  <a:pt x="193" y="69"/>
                  <a:pt x="196" y="66"/>
                </a:cubicBezTo>
                <a:cubicBezTo>
                  <a:pt x="198" y="63"/>
                  <a:pt x="199" y="60"/>
                  <a:pt x="202" y="57"/>
                </a:cubicBezTo>
                <a:cubicBezTo>
                  <a:pt x="205" y="53"/>
                  <a:pt x="209" y="58"/>
                  <a:pt x="212" y="58"/>
                </a:cubicBezTo>
                <a:cubicBezTo>
                  <a:pt x="217" y="59"/>
                  <a:pt x="217" y="53"/>
                  <a:pt x="214" y="51"/>
                </a:cubicBezTo>
                <a:cubicBezTo>
                  <a:pt x="218" y="51"/>
                  <a:pt x="215" y="45"/>
                  <a:pt x="213" y="44"/>
                </a:cubicBezTo>
                <a:cubicBezTo>
                  <a:pt x="211" y="43"/>
                  <a:pt x="202" y="46"/>
                  <a:pt x="207" y="47"/>
                </a:cubicBezTo>
                <a:cubicBezTo>
                  <a:pt x="206" y="47"/>
                  <a:pt x="200" y="59"/>
                  <a:pt x="196" y="53"/>
                </a:cubicBezTo>
                <a:cubicBezTo>
                  <a:pt x="195" y="52"/>
                  <a:pt x="195" y="47"/>
                  <a:pt x="193" y="46"/>
                </a:cubicBezTo>
                <a:cubicBezTo>
                  <a:pt x="190" y="46"/>
                  <a:pt x="189" y="49"/>
                  <a:pt x="188" y="50"/>
                </a:cubicBezTo>
                <a:cubicBezTo>
                  <a:pt x="190" y="47"/>
                  <a:pt x="181" y="45"/>
                  <a:pt x="180" y="44"/>
                </a:cubicBezTo>
                <a:cubicBezTo>
                  <a:pt x="183" y="42"/>
                  <a:pt x="180" y="39"/>
                  <a:pt x="178" y="38"/>
                </a:cubicBezTo>
                <a:cubicBezTo>
                  <a:pt x="176" y="36"/>
                  <a:pt x="169" y="35"/>
                  <a:pt x="168" y="37"/>
                </a:cubicBezTo>
                <a:cubicBezTo>
                  <a:pt x="163" y="43"/>
                  <a:pt x="173" y="44"/>
                  <a:pt x="175" y="45"/>
                </a:cubicBezTo>
                <a:cubicBezTo>
                  <a:pt x="176" y="46"/>
                  <a:pt x="179" y="48"/>
                  <a:pt x="177" y="49"/>
                </a:cubicBezTo>
                <a:cubicBezTo>
                  <a:pt x="176" y="50"/>
                  <a:pt x="171" y="51"/>
                  <a:pt x="171" y="52"/>
                </a:cubicBezTo>
                <a:cubicBezTo>
                  <a:pt x="169" y="54"/>
                  <a:pt x="172" y="57"/>
                  <a:pt x="170" y="59"/>
                </a:cubicBezTo>
                <a:cubicBezTo>
                  <a:pt x="168" y="57"/>
                  <a:pt x="168" y="53"/>
                  <a:pt x="166" y="50"/>
                </a:cubicBezTo>
                <a:cubicBezTo>
                  <a:pt x="168" y="53"/>
                  <a:pt x="157" y="52"/>
                  <a:pt x="157" y="52"/>
                </a:cubicBezTo>
                <a:cubicBezTo>
                  <a:pt x="154" y="52"/>
                  <a:pt x="148" y="54"/>
                  <a:pt x="145" y="50"/>
                </a:cubicBezTo>
                <a:cubicBezTo>
                  <a:pt x="144" y="49"/>
                  <a:pt x="144" y="44"/>
                  <a:pt x="146" y="45"/>
                </a:cubicBezTo>
                <a:cubicBezTo>
                  <a:pt x="144" y="43"/>
                  <a:pt x="142" y="41"/>
                  <a:pt x="141" y="40"/>
                </a:cubicBezTo>
                <a:cubicBezTo>
                  <a:pt x="132" y="43"/>
                  <a:pt x="125" y="47"/>
                  <a:pt x="117" y="51"/>
                </a:cubicBezTo>
                <a:cubicBezTo>
                  <a:pt x="118" y="51"/>
                  <a:pt x="119" y="51"/>
                  <a:pt x="120" y="50"/>
                </a:cubicBezTo>
                <a:cubicBezTo>
                  <a:pt x="122" y="50"/>
                  <a:pt x="124" y="48"/>
                  <a:pt x="126" y="47"/>
                </a:cubicBezTo>
                <a:cubicBezTo>
                  <a:pt x="128" y="46"/>
                  <a:pt x="134" y="43"/>
                  <a:pt x="136" y="46"/>
                </a:cubicBezTo>
                <a:cubicBezTo>
                  <a:pt x="137" y="45"/>
                  <a:pt x="137" y="45"/>
                  <a:pt x="138" y="44"/>
                </a:cubicBezTo>
                <a:cubicBezTo>
                  <a:pt x="139" y="46"/>
                  <a:pt x="141" y="48"/>
                  <a:pt x="143" y="51"/>
                </a:cubicBezTo>
                <a:cubicBezTo>
                  <a:pt x="141" y="50"/>
                  <a:pt x="137" y="50"/>
                  <a:pt x="135" y="50"/>
                </a:cubicBezTo>
                <a:cubicBezTo>
                  <a:pt x="133" y="51"/>
                  <a:pt x="130" y="51"/>
                  <a:pt x="130" y="53"/>
                </a:cubicBezTo>
                <a:cubicBezTo>
                  <a:pt x="130" y="55"/>
                  <a:pt x="131" y="57"/>
                  <a:pt x="131" y="58"/>
                </a:cubicBezTo>
                <a:cubicBezTo>
                  <a:pt x="128" y="56"/>
                  <a:pt x="125" y="52"/>
                  <a:pt x="121" y="51"/>
                </a:cubicBezTo>
                <a:cubicBezTo>
                  <a:pt x="119" y="51"/>
                  <a:pt x="117" y="51"/>
                  <a:pt x="115" y="52"/>
                </a:cubicBezTo>
                <a:cubicBezTo>
                  <a:pt x="91" y="65"/>
                  <a:pt x="71" y="84"/>
                  <a:pt x="56" y="107"/>
                </a:cubicBezTo>
                <a:cubicBezTo>
                  <a:pt x="57" y="108"/>
                  <a:pt x="58" y="109"/>
                  <a:pt x="59" y="109"/>
                </a:cubicBezTo>
                <a:cubicBezTo>
                  <a:pt x="62" y="110"/>
                  <a:pt x="59" y="117"/>
                  <a:pt x="64" y="113"/>
                </a:cubicBezTo>
                <a:cubicBezTo>
                  <a:pt x="66" y="115"/>
                  <a:pt x="66" y="116"/>
                  <a:pt x="65" y="118"/>
                </a:cubicBezTo>
                <a:cubicBezTo>
                  <a:pt x="65" y="118"/>
                  <a:pt x="75" y="124"/>
                  <a:pt x="76" y="125"/>
                </a:cubicBezTo>
                <a:cubicBezTo>
                  <a:pt x="78" y="126"/>
                  <a:pt x="80" y="128"/>
                  <a:pt x="81" y="130"/>
                </a:cubicBezTo>
                <a:cubicBezTo>
                  <a:pt x="82" y="132"/>
                  <a:pt x="80" y="134"/>
                  <a:pt x="79" y="135"/>
                </a:cubicBezTo>
                <a:cubicBezTo>
                  <a:pt x="78" y="134"/>
                  <a:pt x="75" y="130"/>
                  <a:pt x="74" y="131"/>
                </a:cubicBezTo>
                <a:cubicBezTo>
                  <a:pt x="73" y="133"/>
                  <a:pt x="74" y="139"/>
                  <a:pt x="77" y="139"/>
                </a:cubicBezTo>
                <a:cubicBezTo>
                  <a:pt x="73" y="139"/>
                  <a:pt x="75" y="155"/>
                  <a:pt x="74" y="158"/>
                </a:cubicBezTo>
                <a:cubicBezTo>
                  <a:pt x="74" y="158"/>
                  <a:pt x="74" y="158"/>
                  <a:pt x="74" y="158"/>
                </a:cubicBezTo>
                <a:cubicBezTo>
                  <a:pt x="73" y="161"/>
                  <a:pt x="76" y="173"/>
                  <a:pt x="81" y="172"/>
                </a:cubicBezTo>
                <a:cubicBezTo>
                  <a:pt x="78" y="172"/>
                  <a:pt x="87" y="184"/>
                  <a:pt x="88" y="185"/>
                </a:cubicBezTo>
                <a:cubicBezTo>
                  <a:pt x="91" y="187"/>
                  <a:pt x="95" y="188"/>
                  <a:pt x="97" y="192"/>
                </a:cubicBezTo>
                <a:cubicBezTo>
                  <a:pt x="100" y="195"/>
                  <a:pt x="100" y="201"/>
                  <a:pt x="103" y="203"/>
                </a:cubicBezTo>
                <a:cubicBezTo>
                  <a:pt x="102" y="206"/>
                  <a:pt x="108" y="210"/>
                  <a:pt x="108" y="214"/>
                </a:cubicBezTo>
                <a:cubicBezTo>
                  <a:pt x="108" y="214"/>
                  <a:pt x="107" y="214"/>
                  <a:pt x="107" y="215"/>
                </a:cubicBezTo>
                <a:cubicBezTo>
                  <a:pt x="108" y="218"/>
                  <a:pt x="113" y="218"/>
                  <a:pt x="115" y="221"/>
                </a:cubicBezTo>
                <a:cubicBezTo>
                  <a:pt x="116" y="223"/>
                  <a:pt x="115" y="228"/>
                  <a:pt x="118" y="227"/>
                </a:cubicBezTo>
                <a:cubicBezTo>
                  <a:pt x="118" y="222"/>
                  <a:pt x="115" y="216"/>
                  <a:pt x="112" y="212"/>
                </a:cubicBezTo>
                <a:cubicBezTo>
                  <a:pt x="110" y="209"/>
                  <a:pt x="109" y="207"/>
                  <a:pt x="108" y="204"/>
                </a:cubicBezTo>
                <a:cubicBezTo>
                  <a:pt x="106" y="202"/>
                  <a:pt x="106" y="199"/>
                  <a:pt x="105" y="197"/>
                </a:cubicBezTo>
                <a:cubicBezTo>
                  <a:pt x="106" y="197"/>
                  <a:pt x="112" y="199"/>
                  <a:pt x="111" y="200"/>
                </a:cubicBezTo>
                <a:cubicBezTo>
                  <a:pt x="109" y="205"/>
                  <a:pt x="119" y="214"/>
                  <a:pt x="122" y="217"/>
                </a:cubicBezTo>
                <a:cubicBezTo>
                  <a:pt x="123" y="218"/>
                  <a:pt x="128" y="225"/>
                  <a:pt x="125" y="225"/>
                </a:cubicBezTo>
                <a:cubicBezTo>
                  <a:pt x="129" y="225"/>
                  <a:pt x="133" y="230"/>
                  <a:pt x="135" y="233"/>
                </a:cubicBezTo>
                <a:cubicBezTo>
                  <a:pt x="137" y="236"/>
                  <a:pt x="136" y="241"/>
                  <a:pt x="138" y="245"/>
                </a:cubicBezTo>
                <a:cubicBezTo>
                  <a:pt x="139" y="250"/>
                  <a:pt x="146" y="252"/>
                  <a:pt x="150" y="255"/>
                </a:cubicBezTo>
                <a:cubicBezTo>
                  <a:pt x="154" y="256"/>
                  <a:pt x="157" y="259"/>
                  <a:pt x="160" y="260"/>
                </a:cubicBezTo>
                <a:cubicBezTo>
                  <a:pt x="166" y="262"/>
                  <a:pt x="167" y="260"/>
                  <a:pt x="171" y="260"/>
                </a:cubicBezTo>
                <a:cubicBezTo>
                  <a:pt x="178" y="259"/>
                  <a:pt x="179" y="266"/>
                  <a:pt x="184" y="269"/>
                </a:cubicBezTo>
                <a:cubicBezTo>
                  <a:pt x="187" y="270"/>
                  <a:pt x="194" y="273"/>
                  <a:pt x="198" y="271"/>
                </a:cubicBezTo>
                <a:cubicBezTo>
                  <a:pt x="196" y="272"/>
                  <a:pt x="203" y="282"/>
                  <a:pt x="204" y="283"/>
                </a:cubicBezTo>
                <a:cubicBezTo>
                  <a:pt x="206" y="286"/>
                  <a:pt x="210" y="287"/>
                  <a:pt x="213" y="290"/>
                </a:cubicBezTo>
                <a:cubicBezTo>
                  <a:pt x="213" y="290"/>
                  <a:pt x="214" y="289"/>
                  <a:pt x="214" y="288"/>
                </a:cubicBezTo>
                <a:cubicBezTo>
                  <a:pt x="213" y="291"/>
                  <a:pt x="218" y="296"/>
                  <a:pt x="221" y="296"/>
                </a:cubicBezTo>
                <a:cubicBezTo>
                  <a:pt x="223" y="295"/>
                  <a:pt x="224" y="290"/>
                  <a:pt x="224" y="288"/>
                </a:cubicBezTo>
                <a:cubicBezTo>
                  <a:pt x="219" y="290"/>
                  <a:pt x="215" y="288"/>
                  <a:pt x="212" y="283"/>
                </a:cubicBezTo>
                <a:cubicBezTo>
                  <a:pt x="211" y="282"/>
                  <a:pt x="207" y="275"/>
                  <a:pt x="211" y="275"/>
                </a:cubicBezTo>
                <a:cubicBezTo>
                  <a:pt x="216" y="275"/>
                  <a:pt x="212" y="271"/>
                  <a:pt x="212" y="268"/>
                </a:cubicBezTo>
                <a:cubicBezTo>
                  <a:pt x="211" y="264"/>
                  <a:pt x="208" y="262"/>
                  <a:pt x="206" y="259"/>
                </a:cubicBezTo>
                <a:cubicBezTo>
                  <a:pt x="205" y="262"/>
                  <a:pt x="200" y="261"/>
                  <a:pt x="198" y="259"/>
                </a:cubicBezTo>
                <a:cubicBezTo>
                  <a:pt x="198" y="259"/>
                  <a:pt x="197" y="261"/>
                  <a:pt x="197" y="262"/>
                </a:cubicBezTo>
                <a:cubicBezTo>
                  <a:pt x="196" y="262"/>
                  <a:pt x="195" y="262"/>
                  <a:pt x="194" y="261"/>
                </a:cubicBezTo>
                <a:cubicBezTo>
                  <a:pt x="194" y="258"/>
                  <a:pt x="194" y="255"/>
                  <a:pt x="195" y="251"/>
                </a:cubicBezTo>
                <a:cubicBezTo>
                  <a:pt x="196" y="247"/>
                  <a:pt x="205" y="238"/>
                  <a:pt x="194" y="239"/>
                </a:cubicBezTo>
                <a:cubicBezTo>
                  <a:pt x="190" y="239"/>
                  <a:pt x="188" y="240"/>
                  <a:pt x="187" y="244"/>
                </a:cubicBezTo>
                <a:cubicBezTo>
                  <a:pt x="186" y="247"/>
                  <a:pt x="186" y="249"/>
                  <a:pt x="183" y="251"/>
                </a:cubicBezTo>
                <a:cubicBezTo>
                  <a:pt x="181" y="252"/>
                  <a:pt x="173" y="251"/>
                  <a:pt x="171" y="250"/>
                </a:cubicBezTo>
                <a:cubicBezTo>
                  <a:pt x="166" y="247"/>
                  <a:pt x="163" y="239"/>
                  <a:pt x="163" y="234"/>
                </a:cubicBezTo>
                <a:cubicBezTo>
                  <a:pt x="163" y="227"/>
                  <a:pt x="166" y="221"/>
                  <a:pt x="163" y="215"/>
                </a:cubicBezTo>
                <a:cubicBezTo>
                  <a:pt x="164" y="213"/>
                  <a:pt x="166" y="211"/>
                  <a:pt x="168" y="210"/>
                </a:cubicBezTo>
                <a:cubicBezTo>
                  <a:pt x="169" y="209"/>
                  <a:pt x="171" y="210"/>
                  <a:pt x="172" y="207"/>
                </a:cubicBezTo>
                <a:cubicBezTo>
                  <a:pt x="171" y="207"/>
                  <a:pt x="170" y="206"/>
                  <a:pt x="170" y="206"/>
                </a:cubicBezTo>
                <a:cubicBezTo>
                  <a:pt x="173" y="208"/>
                  <a:pt x="180" y="203"/>
                  <a:pt x="184" y="206"/>
                </a:cubicBezTo>
                <a:cubicBezTo>
                  <a:pt x="186" y="207"/>
                  <a:pt x="188" y="208"/>
                  <a:pt x="189" y="205"/>
                </a:cubicBezTo>
                <a:cubicBezTo>
                  <a:pt x="189" y="205"/>
                  <a:pt x="187" y="202"/>
                  <a:pt x="188" y="200"/>
                </a:cubicBezTo>
                <a:cubicBezTo>
                  <a:pt x="189" y="204"/>
                  <a:pt x="192" y="205"/>
                  <a:pt x="196" y="202"/>
                </a:cubicBezTo>
                <a:cubicBezTo>
                  <a:pt x="197" y="203"/>
                  <a:pt x="201" y="203"/>
                  <a:pt x="204" y="204"/>
                </a:cubicBezTo>
                <a:cubicBezTo>
                  <a:pt x="207" y="206"/>
                  <a:pt x="207" y="209"/>
                  <a:pt x="211" y="205"/>
                </a:cubicBezTo>
                <a:cubicBezTo>
                  <a:pt x="213" y="208"/>
                  <a:pt x="213" y="208"/>
                  <a:pt x="214" y="211"/>
                </a:cubicBezTo>
                <a:cubicBezTo>
                  <a:pt x="214" y="214"/>
                  <a:pt x="216" y="221"/>
                  <a:pt x="218" y="222"/>
                </a:cubicBezTo>
                <a:cubicBezTo>
                  <a:pt x="224" y="225"/>
                  <a:pt x="222" y="217"/>
                  <a:pt x="222" y="214"/>
                </a:cubicBezTo>
                <a:cubicBezTo>
                  <a:pt x="222" y="213"/>
                  <a:pt x="222" y="205"/>
                  <a:pt x="221" y="205"/>
                </a:cubicBezTo>
                <a:cubicBezTo>
                  <a:pt x="213" y="203"/>
                  <a:pt x="216" y="197"/>
                  <a:pt x="221" y="193"/>
                </a:cubicBezTo>
                <a:cubicBezTo>
                  <a:pt x="222" y="192"/>
                  <a:pt x="227" y="190"/>
                  <a:pt x="230" y="188"/>
                </a:cubicBezTo>
                <a:cubicBezTo>
                  <a:pt x="232" y="186"/>
                  <a:pt x="235" y="183"/>
                  <a:pt x="234" y="179"/>
                </a:cubicBezTo>
                <a:cubicBezTo>
                  <a:pt x="235" y="179"/>
                  <a:pt x="236" y="178"/>
                  <a:pt x="236" y="177"/>
                </a:cubicBezTo>
                <a:cubicBezTo>
                  <a:pt x="236" y="177"/>
                  <a:pt x="233" y="174"/>
                  <a:pt x="232" y="175"/>
                </a:cubicBezTo>
                <a:cubicBezTo>
                  <a:pt x="234" y="174"/>
                  <a:pt x="234" y="172"/>
                  <a:pt x="233" y="171"/>
                </a:cubicBezTo>
                <a:cubicBezTo>
                  <a:pt x="235" y="169"/>
                  <a:pt x="234" y="166"/>
                  <a:pt x="236" y="165"/>
                </a:cubicBezTo>
                <a:cubicBezTo>
                  <a:pt x="239" y="169"/>
                  <a:pt x="245" y="165"/>
                  <a:pt x="242" y="162"/>
                </a:cubicBezTo>
                <a:cubicBezTo>
                  <a:pt x="244" y="158"/>
                  <a:pt x="250" y="160"/>
                  <a:pt x="252" y="157"/>
                </a:cubicBezTo>
                <a:cubicBezTo>
                  <a:pt x="255" y="158"/>
                  <a:pt x="253" y="153"/>
                  <a:pt x="255" y="150"/>
                </a:cubicBezTo>
                <a:cubicBezTo>
                  <a:pt x="256" y="148"/>
                  <a:pt x="259" y="148"/>
                  <a:pt x="262" y="147"/>
                </a:cubicBezTo>
                <a:cubicBezTo>
                  <a:pt x="262" y="147"/>
                  <a:pt x="268" y="143"/>
                  <a:pt x="266" y="143"/>
                </a:cubicBezTo>
                <a:cubicBezTo>
                  <a:pt x="270" y="144"/>
                  <a:pt x="279" y="139"/>
                  <a:pt x="272" y="135"/>
                </a:cubicBezTo>
                <a:cubicBezTo>
                  <a:pt x="273" y="133"/>
                  <a:pt x="270" y="132"/>
                  <a:pt x="268" y="132"/>
                </a:cubicBezTo>
                <a:cubicBezTo>
                  <a:pt x="269" y="131"/>
                  <a:pt x="272" y="132"/>
                  <a:pt x="273" y="131"/>
                </a:cubicBezTo>
                <a:cubicBezTo>
                  <a:pt x="276" y="129"/>
                  <a:pt x="274" y="128"/>
                  <a:pt x="271" y="127"/>
                </a:cubicBezTo>
                <a:cubicBezTo>
                  <a:pt x="268" y="126"/>
                  <a:pt x="263" y="128"/>
                  <a:pt x="261" y="130"/>
                </a:cubicBezTo>
                <a:cubicBezTo>
                  <a:pt x="259" y="132"/>
                  <a:pt x="257" y="134"/>
                  <a:pt x="255" y="135"/>
                </a:cubicBezTo>
                <a:close/>
                <a:moveTo>
                  <a:pt x="308" y="302"/>
                </a:moveTo>
                <a:cubicBezTo>
                  <a:pt x="306" y="301"/>
                  <a:pt x="303" y="301"/>
                  <a:pt x="301" y="300"/>
                </a:cubicBezTo>
                <a:cubicBezTo>
                  <a:pt x="299" y="300"/>
                  <a:pt x="298" y="299"/>
                  <a:pt x="295" y="298"/>
                </a:cubicBezTo>
                <a:cubicBezTo>
                  <a:pt x="296" y="293"/>
                  <a:pt x="290" y="292"/>
                  <a:pt x="287" y="289"/>
                </a:cubicBezTo>
                <a:cubicBezTo>
                  <a:pt x="284" y="287"/>
                  <a:pt x="282" y="284"/>
                  <a:pt x="277" y="285"/>
                </a:cubicBezTo>
                <a:cubicBezTo>
                  <a:pt x="276" y="285"/>
                  <a:pt x="271" y="287"/>
                  <a:pt x="272" y="288"/>
                </a:cubicBezTo>
                <a:cubicBezTo>
                  <a:pt x="269" y="285"/>
                  <a:pt x="268" y="284"/>
                  <a:pt x="263" y="282"/>
                </a:cubicBezTo>
                <a:cubicBezTo>
                  <a:pt x="259" y="281"/>
                  <a:pt x="257" y="276"/>
                  <a:pt x="253" y="281"/>
                </a:cubicBezTo>
                <a:cubicBezTo>
                  <a:pt x="251" y="283"/>
                  <a:pt x="252" y="286"/>
                  <a:pt x="251" y="288"/>
                </a:cubicBezTo>
                <a:cubicBezTo>
                  <a:pt x="247" y="285"/>
                  <a:pt x="254" y="282"/>
                  <a:pt x="251" y="279"/>
                </a:cubicBezTo>
                <a:cubicBezTo>
                  <a:pt x="248" y="275"/>
                  <a:pt x="243" y="281"/>
                  <a:pt x="240" y="282"/>
                </a:cubicBezTo>
                <a:cubicBezTo>
                  <a:pt x="239" y="284"/>
                  <a:pt x="237" y="284"/>
                  <a:pt x="236" y="286"/>
                </a:cubicBezTo>
                <a:cubicBezTo>
                  <a:pt x="235" y="287"/>
                  <a:pt x="234" y="290"/>
                  <a:pt x="233" y="291"/>
                </a:cubicBezTo>
                <a:cubicBezTo>
                  <a:pt x="233" y="289"/>
                  <a:pt x="228" y="290"/>
                  <a:pt x="228" y="288"/>
                </a:cubicBezTo>
                <a:cubicBezTo>
                  <a:pt x="229" y="294"/>
                  <a:pt x="229" y="301"/>
                  <a:pt x="230" y="307"/>
                </a:cubicBezTo>
                <a:cubicBezTo>
                  <a:pt x="231" y="310"/>
                  <a:pt x="230" y="316"/>
                  <a:pt x="227" y="319"/>
                </a:cubicBezTo>
                <a:cubicBezTo>
                  <a:pt x="224" y="321"/>
                  <a:pt x="221" y="324"/>
                  <a:pt x="220" y="329"/>
                </a:cubicBezTo>
                <a:cubicBezTo>
                  <a:pt x="220" y="332"/>
                  <a:pt x="220" y="334"/>
                  <a:pt x="223" y="335"/>
                </a:cubicBezTo>
                <a:cubicBezTo>
                  <a:pt x="223" y="339"/>
                  <a:pt x="219" y="342"/>
                  <a:pt x="219" y="346"/>
                </a:cubicBezTo>
                <a:cubicBezTo>
                  <a:pt x="219" y="346"/>
                  <a:pt x="220" y="348"/>
                  <a:pt x="220" y="350"/>
                </a:cubicBezTo>
                <a:cubicBezTo>
                  <a:pt x="254" y="344"/>
                  <a:pt x="285" y="327"/>
                  <a:pt x="308" y="302"/>
                </a:cubicBezTo>
                <a:close/>
              </a:path>
            </a:pathLst>
          </a:custGeom>
          <a:solidFill>
            <a:srgbClr val="D0E1EB"/>
          </a:solidFill>
          <a:ln w="9525">
            <a:noFill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001D7EF-AE1A-3621-AB7A-273E5D4A480D}"/>
              </a:ext>
            </a:extLst>
          </p:cNvPr>
          <p:cNvGrpSpPr/>
          <p:nvPr/>
        </p:nvGrpSpPr>
        <p:grpSpPr>
          <a:xfrm>
            <a:off x="-40758" y="1525545"/>
            <a:ext cx="11813150" cy="371348"/>
            <a:chOff x="130281" y="4034605"/>
            <a:chExt cx="11813150" cy="371348"/>
          </a:xfrm>
        </p:grpSpPr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96D67600-6EE9-929A-1531-20C7522E9232}"/>
                </a:ext>
              </a:extLst>
            </p:cNvPr>
            <p:cNvSpPr/>
            <p:nvPr/>
          </p:nvSpPr>
          <p:spPr>
            <a:xfrm>
              <a:off x="130281" y="4034605"/>
              <a:ext cx="1859280" cy="324485"/>
            </a:xfrm>
            <a:prstGeom prst="rect">
              <a:avLst/>
            </a:prstGeom>
          </p:spPr>
          <p:txBody>
            <a:bodyPr vert="horz" wrap="square" lIns="182880" tIns="91440" rIns="182880" bIns="91440" rtlCol="0" anchor="ctr">
              <a:noAutofit/>
            </a:bodyPr>
            <a:lstStyle/>
            <a:p>
              <a:pPr algn="ctr" defTabSz="1828800">
                <a:lnSpc>
                  <a:spcPct val="120000"/>
                </a:lnSpc>
              </a:pPr>
              <a:r>
                <a:rPr lang="zh-CN" altLang="en-US" sz="2400" b="1" dirty="0">
                  <a:solidFill>
                    <a:schemeClr val="bg1">
                      <a:lumMod val="95000"/>
                    </a:schemeClr>
                  </a:solidFill>
                </a:rPr>
                <a:t>网络构建</a:t>
              </a:r>
              <a:endParaRPr lang="en-US" altLang="zh-CN" sz="3200" b="1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12BF16F-349E-57CF-F311-8BC1CCE014B6}"/>
                </a:ext>
              </a:extLst>
            </p:cNvPr>
            <p:cNvSpPr txBox="1"/>
            <p:nvPr/>
          </p:nvSpPr>
          <p:spPr>
            <a:xfrm>
              <a:off x="1634109" y="4036621"/>
              <a:ext cx="103093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</a:rPr>
                <a:t>→多源数据接入→协作网络动态构建与更新→节点属性与边权重计算→网络拓扑结构优化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B7C39CA-65C3-A455-15A4-E57283115B3E}"/>
              </a:ext>
            </a:extLst>
          </p:cNvPr>
          <p:cNvGrpSpPr/>
          <p:nvPr/>
        </p:nvGrpSpPr>
        <p:grpSpPr>
          <a:xfrm>
            <a:off x="0" y="4902072"/>
            <a:ext cx="12035047" cy="392243"/>
            <a:chOff x="143438" y="4771909"/>
            <a:chExt cx="12035047" cy="392243"/>
          </a:xfrm>
        </p:grpSpPr>
        <p:sp>
          <p:nvSpPr>
            <p:cNvPr id="32" name="Rectangle 17">
              <a:extLst>
                <a:ext uri="{FF2B5EF4-FFF2-40B4-BE49-F238E27FC236}">
                  <a16:creationId xmlns:a16="http://schemas.microsoft.com/office/drawing/2014/main" id="{2AD7CCB5-F8F5-6BE9-5F08-025FB7ABB84A}"/>
                </a:ext>
              </a:extLst>
            </p:cNvPr>
            <p:cNvSpPr/>
            <p:nvPr/>
          </p:nvSpPr>
          <p:spPr>
            <a:xfrm>
              <a:off x="143438" y="4771909"/>
              <a:ext cx="2001126" cy="324485"/>
            </a:xfrm>
            <a:prstGeom prst="rect">
              <a:avLst/>
            </a:prstGeom>
          </p:spPr>
          <p:txBody>
            <a:bodyPr vert="horz" wrap="square" lIns="182880" tIns="91440" rIns="182880" bIns="91440" rtlCol="0" anchor="ctr">
              <a:noAutofit/>
            </a:bodyPr>
            <a:lstStyle/>
            <a:p>
              <a:pPr algn="ctr" defTabSz="1828800">
                <a:lnSpc>
                  <a:spcPct val="120000"/>
                </a:lnSpc>
              </a:pPr>
              <a:r>
                <a:rPr lang="zh-CN" altLang="en-US" sz="2400" b="1" dirty="0">
                  <a:solidFill>
                    <a:schemeClr val="bg1">
                      <a:lumMod val="95000"/>
                    </a:schemeClr>
                  </a:solidFill>
                </a:rPr>
                <a:t>交互可视化</a:t>
              </a:r>
              <a:endParaRPr lang="en-US" altLang="zh-CN" sz="3200" b="1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BFDB8EC6-9349-E633-6398-B8C5AA99D084}"/>
                </a:ext>
              </a:extLst>
            </p:cNvPr>
            <p:cNvSpPr txBox="1"/>
            <p:nvPr/>
          </p:nvSpPr>
          <p:spPr>
            <a:xfrm>
              <a:off x="1869163" y="4794820"/>
              <a:ext cx="103093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</a:rPr>
                <a:t>→</a:t>
              </a:r>
              <a:r>
                <a:rPr lang="en-US" altLang="zh-CN" dirty="0">
                  <a:solidFill>
                    <a:schemeClr val="bg1">
                      <a:lumMod val="95000"/>
                    </a:schemeClr>
                  </a:solidFill>
                </a:rPr>
                <a:t>Web</a:t>
              </a:r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</a:rPr>
                <a:t>可视化应用→指标筛选与数据点详情查看→社区演化动态演示→响应式设计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3179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p15="http://schemas.microsoft.com/office/powerpoint/2012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1610E04C-4347-C0EF-61EE-D69F2D14710F}"/>
              </a:ext>
            </a:extLst>
          </p:cNvPr>
          <p:cNvSpPr txBox="1"/>
          <p:nvPr/>
        </p:nvSpPr>
        <p:spPr>
          <a:xfrm>
            <a:off x="3951823" y="4493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cs typeface="+mn-ea"/>
                <a:sym typeface="+mn-lt"/>
              </a:rPr>
              <a:t>系统架构与数据流水线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82EE25A-1C27-1610-4760-5DFD078BC5B0}"/>
              </a:ext>
            </a:extLst>
          </p:cNvPr>
          <p:cNvGrpSpPr/>
          <p:nvPr/>
        </p:nvGrpSpPr>
        <p:grpSpPr>
          <a:xfrm>
            <a:off x="2648554" y="1445665"/>
            <a:ext cx="6894890" cy="4511639"/>
            <a:chOff x="2211525" y="1412535"/>
            <a:chExt cx="6894890" cy="4511639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148ED1E-D1D9-01FE-13BB-EAF465A6DAB5}"/>
                </a:ext>
              </a:extLst>
            </p:cNvPr>
            <p:cNvGrpSpPr/>
            <p:nvPr/>
          </p:nvGrpSpPr>
          <p:grpSpPr>
            <a:xfrm>
              <a:off x="2211525" y="1412535"/>
              <a:ext cx="6894890" cy="4511639"/>
              <a:chOff x="1826367" y="1304959"/>
              <a:chExt cx="6894890" cy="4511639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396B42D4-4F7E-8359-CD56-EC4D4AE689C9}"/>
                  </a:ext>
                </a:extLst>
              </p:cNvPr>
              <p:cNvGrpSpPr/>
              <p:nvPr/>
            </p:nvGrpSpPr>
            <p:grpSpPr>
              <a:xfrm>
                <a:off x="3000414" y="1304959"/>
                <a:ext cx="2785756" cy="1798371"/>
                <a:chOff x="387750" y="743123"/>
                <a:chExt cx="2785756" cy="1798371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B0574631-AA53-2E23-7611-8B8FE63B57C3}"/>
                    </a:ext>
                  </a:extLst>
                </p:cNvPr>
                <p:cNvSpPr/>
                <p:nvPr/>
              </p:nvSpPr>
              <p:spPr>
                <a:xfrm>
                  <a:off x="387750" y="743123"/>
                  <a:ext cx="2785756" cy="1798371"/>
                </a:xfrm>
                <a:prstGeom prst="rect">
                  <a:avLst/>
                </a:prstGeom>
                <a:solidFill>
                  <a:schemeClr val="bg1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defTabSz="1828800" rtl="0"/>
                  <a:endParaRPr lang="en-US" sz="1600" kern="12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1917811-9E4D-ADC3-D992-327F9FB4B1A9}"/>
                    </a:ext>
                  </a:extLst>
                </p:cNvPr>
                <p:cNvSpPr txBox="1"/>
                <p:nvPr/>
              </p:nvSpPr>
              <p:spPr>
                <a:xfrm>
                  <a:off x="387750" y="1035712"/>
                  <a:ext cx="2613772" cy="12003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b="1" i="0" dirty="0">
                      <a:solidFill>
                        <a:srgbClr val="F9FAFB"/>
                      </a:solidFill>
                      <a:effectLst/>
                      <a:latin typeface="quote-cjk-patch"/>
                    </a:rPr>
                    <a:t>数据源层</a:t>
                  </a:r>
                  <a:endParaRPr lang="en-US" altLang="zh-CN" b="0" i="0" dirty="0">
                    <a:solidFill>
                      <a:srgbClr val="F9FAFB"/>
                    </a:solidFill>
                    <a:effectLst/>
                    <a:latin typeface="quote-cjk-patch"/>
                  </a:endParaRPr>
                </a:p>
                <a:p>
                  <a:pPr algn="ctr"/>
                  <a:r>
                    <a:rPr lang="en-US" altLang="zh-CN" b="0" i="0" dirty="0">
                      <a:solidFill>
                        <a:srgbClr val="F9FAFB"/>
                      </a:solidFill>
                      <a:effectLst/>
                      <a:latin typeface="quote-cjk-patch"/>
                    </a:rPr>
                    <a:t>GitHub Archive</a:t>
                  </a:r>
                  <a:r>
                    <a:rPr lang="zh-CN" altLang="en-US" b="0" i="0" dirty="0">
                      <a:solidFill>
                        <a:srgbClr val="F9FAFB"/>
                      </a:solidFill>
                      <a:effectLst/>
                      <a:latin typeface="quote-cjk-patch"/>
                    </a:rPr>
                    <a:t>、</a:t>
                  </a:r>
                  <a:r>
                    <a:rPr lang="en-US" altLang="zh-CN" b="0" i="0" dirty="0" err="1">
                      <a:solidFill>
                        <a:srgbClr val="F9FAFB"/>
                      </a:solidFill>
                      <a:effectLst/>
                      <a:latin typeface="quote-cjk-patch"/>
                    </a:rPr>
                    <a:t>OpenDigger</a:t>
                  </a:r>
                  <a:r>
                    <a:rPr lang="zh-CN" altLang="en-US" b="0" i="0" dirty="0">
                      <a:solidFill>
                        <a:srgbClr val="F9FAFB"/>
                      </a:solidFill>
                      <a:effectLst/>
                      <a:latin typeface="quote-cjk-patch"/>
                    </a:rPr>
                    <a:t>等开放数据</a:t>
                  </a:r>
                  <a:endParaRPr lang="en-US" altLang="zh-CN" b="0" i="0" dirty="0">
                    <a:solidFill>
                      <a:srgbClr val="F9FAFB"/>
                    </a:solidFill>
                    <a:effectLst/>
                    <a:latin typeface="quote-cjk-patch"/>
                  </a:endParaRPr>
                </a:p>
                <a:p>
                  <a:pPr algn="ctr"/>
                  <a:r>
                    <a:rPr lang="zh-CN" altLang="en-US" dirty="0">
                      <a:solidFill>
                        <a:srgbClr val="F9FAFB"/>
                      </a:solidFill>
                      <a:latin typeface="quote-cjk-patch"/>
                    </a:rPr>
                    <a:t>（可扩展）</a:t>
                  </a:r>
                  <a:endParaRPr lang="zh-CN" altLang="en-US" dirty="0"/>
                </a:p>
              </p:txBody>
            </p:sp>
          </p:grp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A6659F63-A409-951D-9C49-434318400BFB}"/>
                  </a:ext>
                </a:extLst>
              </p:cNvPr>
              <p:cNvGrpSpPr/>
              <p:nvPr/>
            </p:nvGrpSpPr>
            <p:grpSpPr>
              <a:xfrm>
                <a:off x="1826367" y="3090466"/>
                <a:ext cx="2886610" cy="1846022"/>
                <a:chOff x="7746346" y="998286"/>
                <a:chExt cx="2886610" cy="1846022"/>
              </a:xfrm>
            </p:grpSpPr>
            <p:sp>
              <p:nvSpPr>
                <p:cNvPr id="25" name="Rectangle 1">
                  <a:extLst>
                    <a:ext uri="{FF2B5EF4-FFF2-40B4-BE49-F238E27FC236}">
                      <a16:creationId xmlns:a16="http://schemas.microsoft.com/office/drawing/2014/main" id="{30999602-2FCA-FA24-08A5-DB3469551A1B}"/>
                    </a:ext>
                  </a:extLst>
                </p:cNvPr>
                <p:cNvSpPr/>
                <p:nvPr/>
              </p:nvSpPr>
              <p:spPr>
                <a:xfrm>
                  <a:off x="7746346" y="998286"/>
                  <a:ext cx="2886610" cy="1846022"/>
                </a:xfrm>
                <a:prstGeom prst="rect">
                  <a:avLst/>
                </a:prstGeom>
                <a:solidFill>
                  <a:schemeClr val="bg1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defTabSz="1828800" rtl="0"/>
                  <a:endParaRPr lang="en-US" sz="1600" kern="120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C20AE817-2F17-1A99-F900-7B32FF6B90E6}"/>
                    </a:ext>
                  </a:extLst>
                </p:cNvPr>
                <p:cNvSpPr txBox="1"/>
                <p:nvPr/>
              </p:nvSpPr>
              <p:spPr>
                <a:xfrm>
                  <a:off x="7746346" y="1459632"/>
                  <a:ext cx="2849095" cy="12003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b="1" i="0" dirty="0">
                      <a:solidFill>
                        <a:srgbClr val="F9FAFB"/>
                      </a:solidFill>
                      <a:effectLst/>
                      <a:latin typeface="quote-cjk-patch"/>
                    </a:rPr>
                    <a:t>分析计算层</a:t>
                  </a:r>
                  <a:endParaRPr lang="en-US" altLang="zh-CN" b="0" i="0" dirty="0">
                    <a:solidFill>
                      <a:srgbClr val="F9FAFB"/>
                    </a:solidFill>
                    <a:effectLst/>
                    <a:latin typeface="quote-cjk-patch"/>
                  </a:endParaRPr>
                </a:p>
                <a:p>
                  <a:pPr algn="ctr"/>
                  <a:r>
                    <a:rPr lang="zh-CN" altLang="en-US" b="0" i="0" dirty="0">
                      <a:solidFill>
                        <a:srgbClr val="F9FAFB"/>
                      </a:solidFill>
                      <a:effectLst/>
                      <a:latin typeface="quote-cjk-patch"/>
                    </a:rPr>
                    <a:t>社区发现、关键节点识别时序指标计算、健康度</a:t>
                  </a:r>
                  <a:endParaRPr lang="en-US" altLang="zh-CN" b="0" i="0" dirty="0">
                    <a:solidFill>
                      <a:srgbClr val="F9FAFB"/>
                    </a:solidFill>
                    <a:effectLst/>
                    <a:latin typeface="quote-cjk-patch"/>
                  </a:endParaRPr>
                </a:p>
                <a:p>
                  <a:pPr algn="ctr"/>
                  <a:r>
                    <a:rPr lang="zh-CN" altLang="en-US" b="0" i="0" dirty="0">
                      <a:solidFill>
                        <a:srgbClr val="F9FAFB"/>
                      </a:solidFill>
                      <a:effectLst/>
                      <a:latin typeface="quote-cjk-patch"/>
                    </a:rPr>
                    <a:t>规定、异常检测</a:t>
                  </a:r>
                  <a:endParaRPr lang="zh-CN" altLang="en-US" dirty="0"/>
                </a:p>
              </p:txBody>
            </p:sp>
          </p:grp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D95AEB9E-0C7C-9435-C7D7-657C090BAA8A}"/>
                  </a:ext>
                </a:extLst>
              </p:cNvPr>
              <p:cNvGrpSpPr/>
              <p:nvPr/>
            </p:nvGrpSpPr>
            <p:grpSpPr>
              <a:xfrm>
                <a:off x="4723635" y="3970576"/>
                <a:ext cx="2898986" cy="1846022"/>
                <a:chOff x="4991126" y="4289613"/>
                <a:chExt cx="2898986" cy="1846022"/>
              </a:xfrm>
            </p:grpSpPr>
            <p:sp>
              <p:nvSpPr>
                <p:cNvPr id="28" name="Rectangle 1">
                  <a:extLst>
                    <a:ext uri="{FF2B5EF4-FFF2-40B4-BE49-F238E27FC236}">
                      <a16:creationId xmlns:a16="http://schemas.microsoft.com/office/drawing/2014/main" id="{224ED1E3-7226-0990-BF64-3C2BB69BB48D}"/>
                    </a:ext>
                  </a:extLst>
                </p:cNvPr>
                <p:cNvSpPr/>
                <p:nvPr/>
              </p:nvSpPr>
              <p:spPr>
                <a:xfrm>
                  <a:off x="4991126" y="4289613"/>
                  <a:ext cx="2886610" cy="1846022"/>
                </a:xfrm>
                <a:prstGeom prst="rect">
                  <a:avLst/>
                </a:prstGeom>
                <a:solidFill>
                  <a:schemeClr val="bg1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defTabSz="1828800" rtl="0"/>
                  <a:endParaRPr lang="en-US" sz="1600" kern="120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15F23E08-EB56-1AC2-9266-BDF2D81F46FA}"/>
                    </a:ext>
                  </a:extLst>
                </p:cNvPr>
                <p:cNvSpPr txBox="1"/>
                <p:nvPr/>
              </p:nvSpPr>
              <p:spPr>
                <a:xfrm>
                  <a:off x="5041017" y="4738628"/>
                  <a:ext cx="2849095" cy="12003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b="1" i="0" dirty="0">
                      <a:solidFill>
                        <a:schemeClr val="bg1"/>
                      </a:solidFill>
                      <a:effectLst/>
                      <a:latin typeface="quote-cjk-patch"/>
                    </a:rPr>
                    <a:t>可视化与应用层</a:t>
                  </a:r>
                </a:p>
                <a:p>
                  <a:pPr algn="ctr"/>
                  <a:r>
                    <a:rPr lang="zh-CN" altLang="en-US" dirty="0">
                      <a:solidFill>
                        <a:schemeClr val="bg1"/>
                      </a:solidFill>
                      <a:latin typeface="quote-cjk-patch"/>
                    </a:rPr>
                    <a:t>多种交互式图标、深度报告、开发者推荐</a:t>
                  </a:r>
                  <a:endParaRPr lang="en-US" altLang="zh-CN" dirty="0">
                    <a:solidFill>
                      <a:schemeClr val="bg1"/>
                    </a:solidFill>
                    <a:latin typeface="quote-cjk-patch"/>
                  </a:endParaRPr>
                </a:p>
                <a:p>
                  <a:pPr algn="ctr"/>
                  <a:r>
                    <a:rPr lang="en-US" altLang="zh-CN" dirty="0">
                      <a:solidFill>
                        <a:schemeClr val="bg1"/>
                      </a:solidFill>
                      <a:latin typeface="quote-cjk-patch"/>
                    </a:rPr>
                    <a:t>Web</a:t>
                  </a:r>
                  <a:r>
                    <a:rPr lang="zh-CN" altLang="en-US" dirty="0">
                      <a:solidFill>
                        <a:schemeClr val="bg1"/>
                      </a:solidFill>
                      <a:latin typeface="quote-cjk-patch"/>
                    </a:rPr>
                    <a:t>可视化</a:t>
                  </a:r>
                  <a:endParaRPr lang="zh-CN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4A044B48-AB95-E6AD-6C8B-3DF66740002D}"/>
                  </a:ext>
                </a:extLst>
              </p:cNvPr>
              <p:cNvGrpSpPr/>
              <p:nvPr/>
            </p:nvGrpSpPr>
            <p:grpSpPr>
              <a:xfrm>
                <a:off x="5786170" y="2111694"/>
                <a:ext cx="2935087" cy="1858883"/>
                <a:chOff x="6765122" y="924658"/>
                <a:chExt cx="2935087" cy="1858883"/>
              </a:xfrm>
            </p:grpSpPr>
            <p:sp>
              <p:nvSpPr>
                <p:cNvPr id="23" name="Rectangle 1">
                  <a:extLst>
                    <a:ext uri="{FF2B5EF4-FFF2-40B4-BE49-F238E27FC236}">
                      <a16:creationId xmlns:a16="http://schemas.microsoft.com/office/drawing/2014/main" id="{A2073E0B-21F2-D08F-7180-F16A524A0202}"/>
                    </a:ext>
                  </a:extLst>
                </p:cNvPr>
                <p:cNvSpPr/>
                <p:nvPr/>
              </p:nvSpPr>
              <p:spPr>
                <a:xfrm>
                  <a:off x="6765122" y="924658"/>
                  <a:ext cx="2935087" cy="1858883"/>
                </a:xfrm>
                <a:prstGeom prst="rect">
                  <a:avLst/>
                </a:prstGeom>
                <a:solidFill>
                  <a:schemeClr val="bg1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defTabSz="1828800" rtl="0"/>
                  <a:endParaRPr lang="en-US" sz="1600" kern="12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7C8206B-BB33-6D13-CADF-1EA5D29E342D}"/>
                    </a:ext>
                  </a:extLst>
                </p:cNvPr>
                <p:cNvSpPr txBox="1"/>
                <p:nvPr/>
              </p:nvSpPr>
              <p:spPr>
                <a:xfrm>
                  <a:off x="6808117" y="1392434"/>
                  <a:ext cx="2849095" cy="9233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b="1" i="0" dirty="0">
                      <a:solidFill>
                        <a:srgbClr val="F9FAFB"/>
                      </a:solidFill>
                      <a:effectLst/>
                      <a:latin typeface="quote-cjk-patch"/>
                    </a:rPr>
                    <a:t>数据处理层</a:t>
                  </a:r>
                  <a:endParaRPr lang="en-US" altLang="zh-CN" b="1" i="0" dirty="0">
                    <a:solidFill>
                      <a:srgbClr val="F9FAFB"/>
                    </a:solidFill>
                    <a:effectLst/>
                    <a:latin typeface="quote-cjk-patch"/>
                  </a:endParaRPr>
                </a:p>
                <a:p>
                  <a:pPr algn="ctr"/>
                  <a:r>
                    <a:rPr lang="zh-CN" altLang="en-US" b="0" i="0" dirty="0">
                      <a:solidFill>
                        <a:srgbClr val="F9FAFB"/>
                      </a:solidFill>
                      <a:effectLst/>
                      <a:latin typeface="quote-cjk-patch"/>
                    </a:rPr>
                    <a:t>智能图引擎适配器</a:t>
                  </a:r>
                  <a:endParaRPr lang="en-US" altLang="zh-CN" b="0" i="0" dirty="0">
                    <a:solidFill>
                      <a:srgbClr val="F9FAFB"/>
                    </a:solidFill>
                    <a:effectLst/>
                    <a:latin typeface="quote-cjk-patch"/>
                  </a:endParaRPr>
                </a:p>
                <a:p>
                  <a:pPr algn="ctr"/>
                  <a:r>
                    <a:rPr lang="zh-CN" altLang="en-US" dirty="0">
                      <a:solidFill>
                        <a:srgbClr val="F9FAFB"/>
                      </a:solidFill>
                      <a:latin typeface="quote-cjk-patch"/>
                    </a:rPr>
                    <a:t>统一处理时序数据</a:t>
                  </a:r>
                  <a:endParaRPr lang="zh-CN" altLang="en-US" dirty="0"/>
                </a:p>
              </p:txBody>
            </p:sp>
          </p:grpSp>
        </p:grp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4D891D5D-6052-8E54-5613-B5C64FB767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79083" y="3273735"/>
              <a:ext cx="741590" cy="741588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255" y="135"/>
                </a:cxn>
                <a:cxn ang="0">
                  <a:pos x="277" y="122"/>
                </a:cxn>
                <a:cxn ang="0">
                  <a:pos x="303" y="116"/>
                </a:cxn>
                <a:cxn ang="0">
                  <a:pos x="296" y="105"/>
                </a:cxn>
                <a:cxn ang="0">
                  <a:pos x="278" y="89"/>
                </a:cxn>
                <a:cxn ang="0">
                  <a:pos x="265" y="90"/>
                </a:cxn>
                <a:cxn ang="0">
                  <a:pos x="256" y="82"/>
                </a:cxn>
                <a:cxn ang="0">
                  <a:pos x="231" y="73"/>
                </a:cxn>
                <a:cxn ang="0">
                  <a:pos x="234" y="98"/>
                </a:cxn>
                <a:cxn ang="0">
                  <a:pos x="224" y="118"/>
                </a:cxn>
                <a:cxn ang="0">
                  <a:pos x="205" y="103"/>
                </a:cxn>
                <a:cxn ang="0">
                  <a:pos x="175" y="89"/>
                </a:cxn>
                <a:cxn ang="0">
                  <a:pos x="183" y="68"/>
                </a:cxn>
                <a:cxn ang="0">
                  <a:pos x="212" y="58"/>
                </a:cxn>
                <a:cxn ang="0">
                  <a:pos x="207" y="47"/>
                </a:cxn>
                <a:cxn ang="0">
                  <a:pos x="188" y="50"/>
                </a:cxn>
                <a:cxn ang="0">
                  <a:pos x="168" y="37"/>
                </a:cxn>
                <a:cxn ang="0">
                  <a:pos x="171" y="52"/>
                </a:cxn>
                <a:cxn ang="0">
                  <a:pos x="157" y="52"/>
                </a:cxn>
                <a:cxn ang="0">
                  <a:pos x="141" y="40"/>
                </a:cxn>
                <a:cxn ang="0">
                  <a:pos x="126" y="47"/>
                </a:cxn>
                <a:cxn ang="0">
                  <a:pos x="143" y="51"/>
                </a:cxn>
                <a:cxn ang="0">
                  <a:pos x="131" y="58"/>
                </a:cxn>
                <a:cxn ang="0">
                  <a:pos x="56" y="107"/>
                </a:cxn>
                <a:cxn ang="0">
                  <a:pos x="65" y="118"/>
                </a:cxn>
                <a:cxn ang="0">
                  <a:pos x="79" y="135"/>
                </a:cxn>
                <a:cxn ang="0">
                  <a:pos x="74" y="158"/>
                </a:cxn>
                <a:cxn ang="0">
                  <a:pos x="88" y="185"/>
                </a:cxn>
                <a:cxn ang="0">
                  <a:pos x="108" y="214"/>
                </a:cxn>
                <a:cxn ang="0">
                  <a:pos x="118" y="227"/>
                </a:cxn>
                <a:cxn ang="0">
                  <a:pos x="105" y="197"/>
                </a:cxn>
                <a:cxn ang="0">
                  <a:pos x="125" y="225"/>
                </a:cxn>
                <a:cxn ang="0">
                  <a:pos x="150" y="255"/>
                </a:cxn>
                <a:cxn ang="0">
                  <a:pos x="184" y="269"/>
                </a:cxn>
                <a:cxn ang="0">
                  <a:pos x="213" y="290"/>
                </a:cxn>
                <a:cxn ang="0">
                  <a:pos x="224" y="288"/>
                </a:cxn>
                <a:cxn ang="0">
                  <a:pos x="212" y="268"/>
                </a:cxn>
                <a:cxn ang="0">
                  <a:pos x="197" y="262"/>
                </a:cxn>
                <a:cxn ang="0">
                  <a:pos x="194" y="239"/>
                </a:cxn>
                <a:cxn ang="0">
                  <a:pos x="171" y="250"/>
                </a:cxn>
                <a:cxn ang="0">
                  <a:pos x="168" y="210"/>
                </a:cxn>
                <a:cxn ang="0">
                  <a:pos x="184" y="206"/>
                </a:cxn>
                <a:cxn ang="0">
                  <a:pos x="196" y="202"/>
                </a:cxn>
                <a:cxn ang="0">
                  <a:pos x="214" y="211"/>
                </a:cxn>
                <a:cxn ang="0">
                  <a:pos x="221" y="205"/>
                </a:cxn>
                <a:cxn ang="0">
                  <a:pos x="234" y="179"/>
                </a:cxn>
                <a:cxn ang="0">
                  <a:pos x="233" y="171"/>
                </a:cxn>
                <a:cxn ang="0">
                  <a:pos x="252" y="157"/>
                </a:cxn>
                <a:cxn ang="0">
                  <a:pos x="266" y="143"/>
                </a:cxn>
                <a:cxn ang="0">
                  <a:pos x="273" y="131"/>
                </a:cxn>
                <a:cxn ang="0">
                  <a:pos x="255" y="135"/>
                </a:cxn>
                <a:cxn ang="0">
                  <a:pos x="295" y="298"/>
                </a:cxn>
                <a:cxn ang="0">
                  <a:pos x="272" y="288"/>
                </a:cxn>
                <a:cxn ang="0">
                  <a:pos x="251" y="288"/>
                </a:cxn>
                <a:cxn ang="0">
                  <a:pos x="236" y="286"/>
                </a:cxn>
                <a:cxn ang="0">
                  <a:pos x="230" y="307"/>
                </a:cxn>
                <a:cxn ang="0">
                  <a:pos x="223" y="335"/>
                </a:cxn>
                <a:cxn ang="0">
                  <a:pos x="308" y="302"/>
                </a:cxn>
              </a:cxnLst>
              <a:rect l="0" t="0" r="r" b="b"/>
              <a:pathLst>
                <a:path w="384" h="384">
                  <a:moveTo>
                    <a:pt x="384" y="192"/>
                  </a:moveTo>
                  <a:cubicBezTo>
                    <a:pt x="384" y="298"/>
                    <a:pt x="298" y="384"/>
                    <a:pt x="192" y="384"/>
                  </a:cubicBezTo>
                  <a:cubicBezTo>
                    <a:pt x="86" y="384"/>
                    <a:pt x="0" y="298"/>
                    <a:pt x="0" y="192"/>
                  </a:cubicBezTo>
                  <a:cubicBezTo>
                    <a:pt x="0" y="86"/>
                    <a:pt x="86" y="0"/>
                    <a:pt x="192" y="0"/>
                  </a:cubicBezTo>
                  <a:cubicBezTo>
                    <a:pt x="298" y="0"/>
                    <a:pt x="384" y="86"/>
                    <a:pt x="384" y="192"/>
                  </a:cubicBezTo>
                  <a:close/>
                  <a:moveTo>
                    <a:pt x="255" y="135"/>
                  </a:moveTo>
                  <a:cubicBezTo>
                    <a:pt x="256" y="135"/>
                    <a:pt x="257" y="130"/>
                    <a:pt x="258" y="129"/>
                  </a:cubicBezTo>
                  <a:cubicBezTo>
                    <a:pt x="260" y="127"/>
                    <a:pt x="262" y="126"/>
                    <a:pt x="264" y="125"/>
                  </a:cubicBezTo>
                  <a:cubicBezTo>
                    <a:pt x="268" y="124"/>
                    <a:pt x="272" y="123"/>
                    <a:pt x="277" y="122"/>
                  </a:cubicBezTo>
                  <a:cubicBezTo>
                    <a:pt x="281" y="121"/>
                    <a:pt x="286" y="121"/>
                    <a:pt x="289" y="125"/>
                  </a:cubicBezTo>
                  <a:cubicBezTo>
                    <a:pt x="289" y="124"/>
                    <a:pt x="295" y="119"/>
                    <a:pt x="295" y="119"/>
                  </a:cubicBezTo>
                  <a:cubicBezTo>
                    <a:pt x="298" y="118"/>
                    <a:pt x="301" y="118"/>
                    <a:pt x="303" y="116"/>
                  </a:cubicBezTo>
                  <a:cubicBezTo>
                    <a:pt x="303" y="115"/>
                    <a:pt x="303" y="110"/>
                    <a:pt x="303" y="110"/>
                  </a:cubicBezTo>
                  <a:cubicBezTo>
                    <a:pt x="299" y="111"/>
                    <a:pt x="298" y="107"/>
                    <a:pt x="297" y="103"/>
                  </a:cubicBezTo>
                  <a:cubicBezTo>
                    <a:pt x="297" y="104"/>
                    <a:pt x="297" y="104"/>
                    <a:pt x="296" y="105"/>
                  </a:cubicBezTo>
                  <a:cubicBezTo>
                    <a:pt x="296" y="102"/>
                    <a:pt x="291" y="104"/>
                    <a:pt x="290" y="104"/>
                  </a:cubicBezTo>
                  <a:cubicBezTo>
                    <a:pt x="284" y="102"/>
                    <a:pt x="285" y="98"/>
                    <a:pt x="283" y="94"/>
                  </a:cubicBezTo>
                  <a:cubicBezTo>
                    <a:pt x="282" y="92"/>
                    <a:pt x="279" y="91"/>
                    <a:pt x="278" y="89"/>
                  </a:cubicBezTo>
                  <a:cubicBezTo>
                    <a:pt x="277" y="87"/>
                    <a:pt x="277" y="84"/>
                    <a:pt x="274" y="84"/>
                  </a:cubicBezTo>
                  <a:cubicBezTo>
                    <a:pt x="273" y="84"/>
                    <a:pt x="270" y="89"/>
                    <a:pt x="270" y="89"/>
                  </a:cubicBezTo>
                  <a:cubicBezTo>
                    <a:pt x="267" y="88"/>
                    <a:pt x="266" y="89"/>
                    <a:pt x="265" y="90"/>
                  </a:cubicBezTo>
                  <a:cubicBezTo>
                    <a:pt x="263" y="91"/>
                    <a:pt x="262" y="91"/>
                    <a:pt x="260" y="92"/>
                  </a:cubicBezTo>
                  <a:cubicBezTo>
                    <a:pt x="265" y="90"/>
                    <a:pt x="258" y="88"/>
                    <a:pt x="256" y="88"/>
                  </a:cubicBezTo>
                  <a:cubicBezTo>
                    <a:pt x="260" y="87"/>
                    <a:pt x="258" y="83"/>
                    <a:pt x="256" y="82"/>
                  </a:cubicBezTo>
                  <a:cubicBezTo>
                    <a:pt x="256" y="82"/>
                    <a:pt x="257" y="82"/>
                    <a:pt x="257" y="82"/>
                  </a:cubicBezTo>
                  <a:cubicBezTo>
                    <a:pt x="257" y="79"/>
                    <a:pt x="250" y="77"/>
                    <a:pt x="247" y="76"/>
                  </a:cubicBezTo>
                  <a:cubicBezTo>
                    <a:pt x="245" y="74"/>
                    <a:pt x="233" y="72"/>
                    <a:pt x="231" y="73"/>
                  </a:cubicBezTo>
                  <a:cubicBezTo>
                    <a:pt x="228" y="75"/>
                    <a:pt x="231" y="80"/>
                    <a:pt x="231" y="83"/>
                  </a:cubicBezTo>
                  <a:cubicBezTo>
                    <a:pt x="232" y="86"/>
                    <a:pt x="228" y="86"/>
                    <a:pt x="228" y="89"/>
                  </a:cubicBezTo>
                  <a:cubicBezTo>
                    <a:pt x="228" y="93"/>
                    <a:pt x="236" y="92"/>
                    <a:pt x="234" y="98"/>
                  </a:cubicBezTo>
                  <a:cubicBezTo>
                    <a:pt x="233" y="102"/>
                    <a:pt x="228" y="102"/>
                    <a:pt x="226" y="105"/>
                  </a:cubicBezTo>
                  <a:cubicBezTo>
                    <a:pt x="224" y="108"/>
                    <a:pt x="227" y="112"/>
                    <a:pt x="229" y="114"/>
                  </a:cubicBezTo>
                  <a:cubicBezTo>
                    <a:pt x="231" y="115"/>
                    <a:pt x="225" y="118"/>
                    <a:pt x="224" y="118"/>
                  </a:cubicBezTo>
                  <a:cubicBezTo>
                    <a:pt x="220" y="120"/>
                    <a:pt x="217" y="114"/>
                    <a:pt x="216" y="110"/>
                  </a:cubicBezTo>
                  <a:cubicBezTo>
                    <a:pt x="215" y="108"/>
                    <a:pt x="215" y="104"/>
                    <a:pt x="212" y="103"/>
                  </a:cubicBezTo>
                  <a:cubicBezTo>
                    <a:pt x="210" y="102"/>
                    <a:pt x="206" y="102"/>
                    <a:pt x="205" y="103"/>
                  </a:cubicBezTo>
                  <a:cubicBezTo>
                    <a:pt x="203" y="99"/>
                    <a:pt x="198" y="98"/>
                    <a:pt x="194" y="97"/>
                  </a:cubicBezTo>
                  <a:cubicBezTo>
                    <a:pt x="189" y="95"/>
                    <a:pt x="185" y="95"/>
                    <a:pt x="180" y="96"/>
                  </a:cubicBezTo>
                  <a:cubicBezTo>
                    <a:pt x="181" y="95"/>
                    <a:pt x="179" y="88"/>
                    <a:pt x="175" y="89"/>
                  </a:cubicBezTo>
                  <a:cubicBezTo>
                    <a:pt x="176" y="86"/>
                    <a:pt x="176" y="84"/>
                    <a:pt x="176" y="81"/>
                  </a:cubicBezTo>
                  <a:cubicBezTo>
                    <a:pt x="177" y="79"/>
                    <a:pt x="178" y="77"/>
                    <a:pt x="179" y="75"/>
                  </a:cubicBezTo>
                  <a:cubicBezTo>
                    <a:pt x="180" y="74"/>
                    <a:pt x="185" y="69"/>
                    <a:pt x="183" y="68"/>
                  </a:cubicBezTo>
                  <a:cubicBezTo>
                    <a:pt x="188" y="69"/>
                    <a:pt x="193" y="69"/>
                    <a:pt x="196" y="66"/>
                  </a:cubicBezTo>
                  <a:cubicBezTo>
                    <a:pt x="198" y="63"/>
                    <a:pt x="199" y="60"/>
                    <a:pt x="202" y="57"/>
                  </a:cubicBezTo>
                  <a:cubicBezTo>
                    <a:pt x="205" y="53"/>
                    <a:pt x="209" y="58"/>
                    <a:pt x="212" y="58"/>
                  </a:cubicBezTo>
                  <a:cubicBezTo>
                    <a:pt x="217" y="59"/>
                    <a:pt x="217" y="53"/>
                    <a:pt x="214" y="51"/>
                  </a:cubicBezTo>
                  <a:cubicBezTo>
                    <a:pt x="218" y="51"/>
                    <a:pt x="215" y="45"/>
                    <a:pt x="213" y="44"/>
                  </a:cubicBezTo>
                  <a:cubicBezTo>
                    <a:pt x="211" y="43"/>
                    <a:pt x="202" y="46"/>
                    <a:pt x="207" y="47"/>
                  </a:cubicBezTo>
                  <a:cubicBezTo>
                    <a:pt x="206" y="47"/>
                    <a:pt x="200" y="59"/>
                    <a:pt x="196" y="53"/>
                  </a:cubicBezTo>
                  <a:cubicBezTo>
                    <a:pt x="195" y="52"/>
                    <a:pt x="195" y="47"/>
                    <a:pt x="193" y="46"/>
                  </a:cubicBezTo>
                  <a:cubicBezTo>
                    <a:pt x="190" y="46"/>
                    <a:pt x="189" y="49"/>
                    <a:pt x="188" y="50"/>
                  </a:cubicBezTo>
                  <a:cubicBezTo>
                    <a:pt x="190" y="47"/>
                    <a:pt x="181" y="45"/>
                    <a:pt x="180" y="44"/>
                  </a:cubicBezTo>
                  <a:cubicBezTo>
                    <a:pt x="183" y="42"/>
                    <a:pt x="180" y="39"/>
                    <a:pt x="178" y="38"/>
                  </a:cubicBezTo>
                  <a:cubicBezTo>
                    <a:pt x="176" y="36"/>
                    <a:pt x="169" y="35"/>
                    <a:pt x="168" y="37"/>
                  </a:cubicBezTo>
                  <a:cubicBezTo>
                    <a:pt x="163" y="43"/>
                    <a:pt x="173" y="44"/>
                    <a:pt x="175" y="45"/>
                  </a:cubicBezTo>
                  <a:cubicBezTo>
                    <a:pt x="176" y="46"/>
                    <a:pt x="179" y="48"/>
                    <a:pt x="177" y="49"/>
                  </a:cubicBezTo>
                  <a:cubicBezTo>
                    <a:pt x="176" y="50"/>
                    <a:pt x="171" y="51"/>
                    <a:pt x="171" y="52"/>
                  </a:cubicBezTo>
                  <a:cubicBezTo>
                    <a:pt x="169" y="54"/>
                    <a:pt x="172" y="57"/>
                    <a:pt x="170" y="59"/>
                  </a:cubicBezTo>
                  <a:cubicBezTo>
                    <a:pt x="168" y="57"/>
                    <a:pt x="168" y="53"/>
                    <a:pt x="166" y="50"/>
                  </a:cubicBezTo>
                  <a:cubicBezTo>
                    <a:pt x="168" y="53"/>
                    <a:pt x="157" y="52"/>
                    <a:pt x="157" y="52"/>
                  </a:cubicBezTo>
                  <a:cubicBezTo>
                    <a:pt x="154" y="52"/>
                    <a:pt x="148" y="54"/>
                    <a:pt x="145" y="50"/>
                  </a:cubicBezTo>
                  <a:cubicBezTo>
                    <a:pt x="144" y="49"/>
                    <a:pt x="144" y="44"/>
                    <a:pt x="146" y="45"/>
                  </a:cubicBezTo>
                  <a:cubicBezTo>
                    <a:pt x="144" y="43"/>
                    <a:pt x="142" y="41"/>
                    <a:pt x="141" y="40"/>
                  </a:cubicBezTo>
                  <a:cubicBezTo>
                    <a:pt x="132" y="43"/>
                    <a:pt x="125" y="47"/>
                    <a:pt x="117" y="51"/>
                  </a:cubicBezTo>
                  <a:cubicBezTo>
                    <a:pt x="118" y="51"/>
                    <a:pt x="119" y="51"/>
                    <a:pt x="120" y="50"/>
                  </a:cubicBezTo>
                  <a:cubicBezTo>
                    <a:pt x="122" y="50"/>
                    <a:pt x="124" y="48"/>
                    <a:pt x="126" y="47"/>
                  </a:cubicBezTo>
                  <a:cubicBezTo>
                    <a:pt x="128" y="46"/>
                    <a:pt x="134" y="43"/>
                    <a:pt x="136" y="46"/>
                  </a:cubicBezTo>
                  <a:cubicBezTo>
                    <a:pt x="137" y="45"/>
                    <a:pt x="137" y="45"/>
                    <a:pt x="138" y="44"/>
                  </a:cubicBezTo>
                  <a:cubicBezTo>
                    <a:pt x="139" y="46"/>
                    <a:pt x="141" y="48"/>
                    <a:pt x="143" y="51"/>
                  </a:cubicBezTo>
                  <a:cubicBezTo>
                    <a:pt x="141" y="50"/>
                    <a:pt x="137" y="50"/>
                    <a:pt x="135" y="50"/>
                  </a:cubicBezTo>
                  <a:cubicBezTo>
                    <a:pt x="133" y="51"/>
                    <a:pt x="130" y="51"/>
                    <a:pt x="130" y="53"/>
                  </a:cubicBezTo>
                  <a:cubicBezTo>
                    <a:pt x="130" y="55"/>
                    <a:pt x="131" y="57"/>
                    <a:pt x="131" y="58"/>
                  </a:cubicBezTo>
                  <a:cubicBezTo>
                    <a:pt x="128" y="56"/>
                    <a:pt x="125" y="52"/>
                    <a:pt x="121" y="51"/>
                  </a:cubicBezTo>
                  <a:cubicBezTo>
                    <a:pt x="119" y="51"/>
                    <a:pt x="117" y="51"/>
                    <a:pt x="115" y="52"/>
                  </a:cubicBezTo>
                  <a:cubicBezTo>
                    <a:pt x="91" y="65"/>
                    <a:pt x="71" y="84"/>
                    <a:pt x="56" y="107"/>
                  </a:cubicBezTo>
                  <a:cubicBezTo>
                    <a:pt x="57" y="108"/>
                    <a:pt x="58" y="109"/>
                    <a:pt x="59" y="109"/>
                  </a:cubicBezTo>
                  <a:cubicBezTo>
                    <a:pt x="62" y="110"/>
                    <a:pt x="59" y="117"/>
                    <a:pt x="64" y="113"/>
                  </a:cubicBezTo>
                  <a:cubicBezTo>
                    <a:pt x="66" y="115"/>
                    <a:pt x="66" y="116"/>
                    <a:pt x="65" y="118"/>
                  </a:cubicBezTo>
                  <a:cubicBezTo>
                    <a:pt x="65" y="118"/>
                    <a:pt x="75" y="124"/>
                    <a:pt x="76" y="125"/>
                  </a:cubicBezTo>
                  <a:cubicBezTo>
                    <a:pt x="78" y="126"/>
                    <a:pt x="80" y="128"/>
                    <a:pt x="81" y="130"/>
                  </a:cubicBezTo>
                  <a:cubicBezTo>
                    <a:pt x="82" y="132"/>
                    <a:pt x="80" y="134"/>
                    <a:pt x="79" y="135"/>
                  </a:cubicBezTo>
                  <a:cubicBezTo>
                    <a:pt x="78" y="134"/>
                    <a:pt x="75" y="130"/>
                    <a:pt x="74" y="131"/>
                  </a:cubicBezTo>
                  <a:cubicBezTo>
                    <a:pt x="73" y="133"/>
                    <a:pt x="74" y="139"/>
                    <a:pt x="77" y="139"/>
                  </a:cubicBezTo>
                  <a:cubicBezTo>
                    <a:pt x="73" y="139"/>
                    <a:pt x="75" y="155"/>
                    <a:pt x="74" y="158"/>
                  </a:cubicBezTo>
                  <a:cubicBezTo>
                    <a:pt x="74" y="158"/>
                    <a:pt x="74" y="158"/>
                    <a:pt x="74" y="158"/>
                  </a:cubicBezTo>
                  <a:cubicBezTo>
                    <a:pt x="73" y="161"/>
                    <a:pt x="76" y="173"/>
                    <a:pt x="81" y="172"/>
                  </a:cubicBezTo>
                  <a:cubicBezTo>
                    <a:pt x="78" y="172"/>
                    <a:pt x="87" y="184"/>
                    <a:pt x="88" y="185"/>
                  </a:cubicBezTo>
                  <a:cubicBezTo>
                    <a:pt x="91" y="187"/>
                    <a:pt x="95" y="188"/>
                    <a:pt x="97" y="192"/>
                  </a:cubicBezTo>
                  <a:cubicBezTo>
                    <a:pt x="100" y="195"/>
                    <a:pt x="100" y="201"/>
                    <a:pt x="103" y="203"/>
                  </a:cubicBezTo>
                  <a:cubicBezTo>
                    <a:pt x="102" y="206"/>
                    <a:pt x="108" y="210"/>
                    <a:pt x="108" y="214"/>
                  </a:cubicBezTo>
                  <a:cubicBezTo>
                    <a:pt x="108" y="214"/>
                    <a:pt x="107" y="214"/>
                    <a:pt x="107" y="215"/>
                  </a:cubicBezTo>
                  <a:cubicBezTo>
                    <a:pt x="108" y="218"/>
                    <a:pt x="113" y="218"/>
                    <a:pt x="115" y="221"/>
                  </a:cubicBezTo>
                  <a:cubicBezTo>
                    <a:pt x="116" y="223"/>
                    <a:pt x="115" y="228"/>
                    <a:pt x="118" y="227"/>
                  </a:cubicBezTo>
                  <a:cubicBezTo>
                    <a:pt x="118" y="222"/>
                    <a:pt x="115" y="216"/>
                    <a:pt x="112" y="212"/>
                  </a:cubicBezTo>
                  <a:cubicBezTo>
                    <a:pt x="110" y="209"/>
                    <a:pt x="109" y="207"/>
                    <a:pt x="108" y="204"/>
                  </a:cubicBezTo>
                  <a:cubicBezTo>
                    <a:pt x="106" y="202"/>
                    <a:pt x="106" y="199"/>
                    <a:pt x="105" y="197"/>
                  </a:cubicBezTo>
                  <a:cubicBezTo>
                    <a:pt x="106" y="197"/>
                    <a:pt x="112" y="199"/>
                    <a:pt x="111" y="200"/>
                  </a:cubicBezTo>
                  <a:cubicBezTo>
                    <a:pt x="109" y="205"/>
                    <a:pt x="119" y="214"/>
                    <a:pt x="122" y="217"/>
                  </a:cubicBezTo>
                  <a:cubicBezTo>
                    <a:pt x="123" y="218"/>
                    <a:pt x="128" y="225"/>
                    <a:pt x="125" y="225"/>
                  </a:cubicBezTo>
                  <a:cubicBezTo>
                    <a:pt x="129" y="225"/>
                    <a:pt x="133" y="230"/>
                    <a:pt x="135" y="233"/>
                  </a:cubicBezTo>
                  <a:cubicBezTo>
                    <a:pt x="137" y="236"/>
                    <a:pt x="136" y="241"/>
                    <a:pt x="138" y="245"/>
                  </a:cubicBezTo>
                  <a:cubicBezTo>
                    <a:pt x="139" y="250"/>
                    <a:pt x="146" y="252"/>
                    <a:pt x="150" y="255"/>
                  </a:cubicBezTo>
                  <a:cubicBezTo>
                    <a:pt x="154" y="256"/>
                    <a:pt x="157" y="259"/>
                    <a:pt x="160" y="260"/>
                  </a:cubicBezTo>
                  <a:cubicBezTo>
                    <a:pt x="166" y="262"/>
                    <a:pt x="167" y="260"/>
                    <a:pt x="171" y="260"/>
                  </a:cubicBezTo>
                  <a:cubicBezTo>
                    <a:pt x="178" y="259"/>
                    <a:pt x="179" y="266"/>
                    <a:pt x="184" y="269"/>
                  </a:cubicBezTo>
                  <a:cubicBezTo>
                    <a:pt x="187" y="270"/>
                    <a:pt x="194" y="273"/>
                    <a:pt x="198" y="271"/>
                  </a:cubicBezTo>
                  <a:cubicBezTo>
                    <a:pt x="196" y="272"/>
                    <a:pt x="203" y="282"/>
                    <a:pt x="204" y="283"/>
                  </a:cubicBezTo>
                  <a:cubicBezTo>
                    <a:pt x="206" y="286"/>
                    <a:pt x="210" y="287"/>
                    <a:pt x="213" y="290"/>
                  </a:cubicBezTo>
                  <a:cubicBezTo>
                    <a:pt x="213" y="290"/>
                    <a:pt x="214" y="289"/>
                    <a:pt x="214" y="288"/>
                  </a:cubicBezTo>
                  <a:cubicBezTo>
                    <a:pt x="213" y="291"/>
                    <a:pt x="218" y="296"/>
                    <a:pt x="221" y="296"/>
                  </a:cubicBezTo>
                  <a:cubicBezTo>
                    <a:pt x="223" y="295"/>
                    <a:pt x="224" y="290"/>
                    <a:pt x="224" y="288"/>
                  </a:cubicBezTo>
                  <a:cubicBezTo>
                    <a:pt x="219" y="290"/>
                    <a:pt x="215" y="288"/>
                    <a:pt x="212" y="283"/>
                  </a:cubicBezTo>
                  <a:cubicBezTo>
                    <a:pt x="211" y="282"/>
                    <a:pt x="207" y="275"/>
                    <a:pt x="211" y="275"/>
                  </a:cubicBezTo>
                  <a:cubicBezTo>
                    <a:pt x="216" y="275"/>
                    <a:pt x="212" y="271"/>
                    <a:pt x="212" y="268"/>
                  </a:cubicBezTo>
                  <a:cubicBezTo>
                    <a:pt x="211" y="264"/>
                    <a:pt x="208" y="262"/>
                    <a:pt x="206" y="259"/>
                  </a:cubicBezTo>
                  <a:cubicBezTo>
                    <a:pt x="205" y="262"/>
                    <a:pt x="200" y="261"/>
                    <a:pt x="198" y="259"/>
                  </a:cubicBezTo>
                  <a:cubicBezTo>
                    <a:pt x="198" y="259"/>
                    <a:pt x="197" y="261"/>
                    <a:pt x="197" y="262"/>
                  </a:cubicBezTo>
                  <a:cubicBezTo>
                    <a:pt x="196" y="262"/>
                    <a:pt x="195" y="262"/>
                    <a:pt x="194" y="261"/>
                  </a:cubicBezTo>
                  <a:cubicBezTo>
                    <a:pt x="194" y="258"/>
                    <a:pt x="194" y="255"/>
                    <a:pt x="195" y="251"/>
                  </a:cubicBezTo>
                  <a:cubicBezTo>
                    <a:pt x="196" y="247"/>
                    <a:pt x="205" y="238"/>
                    <a:pt x="194" y="239"/>
                  </a:cubicBezTo>
                  <a:cubicBezTo>
                    <a:pt x="190" y="239"/>
                    <a:pt x="188" y="240"/>
                    <a:pt x="187" y="244"/>
                  </a:cubicBezTo>
                  <a:cubicBezTo>
                    <a:pt x="186" y="247"/>
                    <a:pt x="186" y="249"/>
                    <a:pt x="183" y="251"/>
                  </a:cubicBezTo>
                  <a:cubicBezTo>
                    <a:pt x="181" y="252"/>
                    <a:pt x="173" y="251"/>
                    <a:pt x="171" y="250"/>
                  </a:cubicBezTo>
                  <a:cubicBezTo>
                    <a:pt x="166" y="247"/>
                    <a:pt x="163" y="239"/>
                    <a:pt x="163" y="234"/>
                  </a:cubicBezTo>
                  <a:cubicBezTo>
                    <a:pt x="163" y="227"/>
                    <a:pt x="166" y="221"/>
                    <a:pt x="163" y="215"/>
                  </a:cubicBezTo>
                  <a:cubicBezTo>
                    <a:pt x="164" y="213"/>
                    <a:pt x="166" y="211"/>
                    <a:pt x="168" y="210"/>
                  </a:cubicBezTo>
                  <a:cubicBezTo>
                    <a:pt x="169" y="209"/>
                    <a:pt x="171" y="210"/>
                    <a:pt x="172" y="207"/>
                  </a:cubicBezTo>
                  <a:cubicBezTo>
                    <a:pt x="171" y="207"/>
                    <a:pt x="170" y="206"/>
                    <a:pt x="170" y="206"/>
                  </a:cubicBezTo>
                  <a:cubicBezTo>
                    <a:pt x="173" y="208"/>
                    <a:pt x="180" y="203"/>
                    <a:pt x="184" y="206"/>
                  </a:cubicBezTo>
                  <a:cubicBezTo>
                    <a:pt x="186" y="207"/>
                    <a:pt x="188" y="208"/>
                    <a:pt x="189" y="205"/>
                  </a:cubicBezTo>
                  <a:cubicBezTo>
                    <a:pt x="189" y="205"/>
                    <a:pt x="187" y="202"/>
                    <a:pt x="188" y="200"/>
                  </a:cubicBezTo>
                  <a:cubicBezTo>
                    <a:pt x="189" y="204"/>
                    <a:pt x="192" y="205"/>
                    <a:pt x="196" y="202"/>
                  </a:cubicBezTo>
                  <a:cubicBezTo>
                    <a:pt x="197" y="203"/>
                    <a:pt x="201" y="203"/>
                    <a:pt x="204" y="204"/>
                  </a:cubicBezTo>
                  <a:cubicBezTo>
                    <a:pt x="207" y="206"/>
                    <a:pt x="207" y="209"/>
                    <a:pt x="211" y="205"/>
                  </a:cubicBezTo>
                  <a:cubicBezTo>
                    <a:pt x="213" y="208"/>
                    <a:pt x="213" y="208"/>
                    <a:pt x="214" y="211"/>
                  </a:cubicBezTo>
                  <a:cubicBezTo>
                    <a:pt x="214" y="214"/>
                    <a:pt x="216" y="221"/>
                    <a:pt x="218" y="222"/>
                  </a:cubicBezTo>
                  <a:cubicBezTo>
                    <a:pt x="224" y="225"/>
                    <a:pt x="222" y="217"/>
                    <a:pt x="222" y="214"/>
                  </a:cubicBezTo>
                  <a:cubicBezTo>
                    <a:pt x="222" y="213"/>
                    <a:pt x="222" y="205"/>
                    <a:pt x="221" y="205"/>
                  </a:cubicBezTo>
                  <a:cubicBezTo>
                    <a:pt x="213" y="203"/>
                    <a:pt x="216" y="197"/>
                    <a:pt x="221" y="193"/>
                  </a:cubicBezTo>
                  <a:cubicBezTo>
                    <a:pt x="222" y="192"/>
                    <a:pt x="227" y="190"/>
                    <a:pt x="230" y="188"/>
                  </a:cubicBezTo>
                  <a:cubicBezTo>
                    <a:pt x="232" y="186"/>
                    <a:pt x="235" y="183"/>
                    <a:pt x="234" y="179"/>
                  </a:cubicBezTo>
                  <a:cubicBezTo>
                    <a:pt x="235" y="179"/>
                    <a:pt x="236" y="178"/>
                    <a:pt x="236" y="177"/>
                  </a:cubicBezTo>
                  <a:cubicBezTo>
                    <a:pt x="236" y="177"/>
                    <a:pt x="233" y="174"/>
                    <a:pt x="232" y="175"/>
                  </a:cubicBezTo>
                  <a:cubicBezTo>
                    <a:pt x="234" y="174"/>
                    <a:pt x="234" y="172"/>
                    <a:pt x="233" y="171"/>
                  </a:cubicBezTo>
                  <a:cubicBezTo>
                    <a:pt x="235" y="169"/>
                    <a:pt x="234" y="166"/>
                    <a:pt x="236" y="165"/>
                  </a:cubicBezTo>
                  <a:cubicBezTo>
                    <a:pt x="239" y="169"/>
                    <a:pt x="245" y="165"/>
                    <a:pt x="242" y="162"/>
                  </a:cubicBezTo>
                  <a:cubicBezTo>
                    <a:pt x="244" y="158"/>
                    <a:pt x="250" y="160"/>
                    <a:pt x="252" y="157"/>
                  </a:cubicBezTo>
                  <a:cubicBezTo>
                    <a:pt x="255" y="158"/>
                    <a:pt x="253" y="153"/>
                    <a:pt x="255" y="150"/>
                  </a:cubicBezTo>
                  <a:cubicBezTo>
                    <a:pt x="256" y="148"/>
                    <a:pt x="259" y="148"/>
                    <a:pt x="262" y="147"/>
                  </a:cubicBezTo>
                  <a:cubicBezTo>
                    <a:pt x="262" y="147"/>
                    <a:pt x="268" y="143"/>
                    <a:pt x="266" y="143"/>
                  </a:cubicBezTo>
                  <a:cubicBezTo>
                    <a:pt x="270" y="144"/>
                    <a:pt x="279" y="139"/>
                    <a:pt x="272" y="135"/>
                  </a:cubicBezTo>
                  <a:cubicBezTo>
                    <a:pt x="273" y="133"/>
                    <a:pt x="270" y="132"/>
                    <a:pt x="268" y="132"/>
                  </a:cubicBezTo>
                  <a:cubicBezTo>
                    <a:pt x="269" y="131"/>
                    <a:pt x="272" y="132"/>
                    <a:pt x="273" y="131"/>
                  </a:cubicBezTo>
                  <a:cubicBezTo>
                    <a:pt x="276" y="129"/>
                    <a:pt x="274" y="128"/>
                    <a:pt x="271" y="127"/>
                  </a:cubicBezTo>
                  <a:cubicBezTo>
                    <a:pt x="268" y="126"/>
                    <a:pt x="263" y="128"/>
                    <a:pt x="261" y="130"/>
                  </a:cubicBezTo>
                  <a:cubicBezTo>
                    <a:pt x="259" y="132"/>
                    <a:pt x="257" y="134"/>
                    <a:pt x="255" y="135"/>
                  </a:cubicBezTo>
                  <a:close/>
                  <a:moveTo>
                    <a:pt x="308" y="302"/>
                  </a:moveTo>
                  <a:cubicBezTo>
                    <a:pt x="306" y="301"/>
                    <a:pt x="303" y="301"/>
                    <a:pt x="301" y="300"/>
                  </a:cubicBezTo>
                  <a:cubicBezTo>
                    <a:pt x="299" y="300"/>
                    <a:pt x="298" y="299"/>
                    <a:pt x="295" y="298"/>
                  </a:cubicBezTo>
                  <a:cubicBezTo>
                    <a:pt x="296" y="293"/>
                    <a:pt x="290" y="292"/>
                    <a:pt x="287" y="289"/>
                  </a:cubicBezTo>
                  <a:cubicBezTo>
                    <a:pt x="284" y="287"/>
                    <a:pt x="282" y="284"/>
                    <a:pt x="277" y="285"/>
                  </a:cubicBezTo>
                  <a:cubicBezTo>
                    <a:pt x="276" y="285"/>
                    <a:pt x="271" y="287"/>
                    <a:pt x="272" y="288"/>
                  </a:cubicBezTo>
                  <a:cubicBezTo>
                    <a:pt x="269" y="285"/>
                    <a:pt x="268" y="284"/>
                    <a:pt x="263" y="282"/>
                  </a:cubicBezTo>
                  <a:cubicBezTo>
                    <a:pt x="259" y="281"/>
                    <a:pt x="257" y="276"/>
                    <a:pt x="253" y="281"/>
                  </a:cubicBezTo>
                  <a:cubicBezTo>
                    <a:pt x="251" y="283"/>
                    <a:pt x="252" y="286"/>
                    <a:pt x="251" y="288"/>
                  </a:cubicBezTo>
                  <a:cubicBezTo>
                    <a:pt x="247" y="285"/>
                    <a:pt x="254" y="282"/>
                    <a:pt x="251" y="279"/>
                  </a:cubicBezTo>
                  <a:cubicBezTo>
                    <a:pt x="248" y="275"/>
                    <a:pt x="243" y="281"/>
                    <a:pt x="240" y="282"/>
                  </a:cubicBezTo>
                  <a:cubicBezTo>
                    <a:pt x="239" y="284"/>
                    <a:pt x="237" y="284"/>
                    <a:pt x="236" y="286"/>
                  </a:cubicBezTo>
                  <a:cubicBezTo>
                    <a:pt x="235" y="287"/>
                    <a:pt x="234" y="290"/>
                    <a:pt x="233" y="291"/>
                  </a:cubicBezTo>
                  <a:cubicBezTo>
                    <a:pt x="233" y="289"/>
                    <a:pt x="228" y="290"/>
                    <a:pt x="228" y="288"/>
                  </a:cubicBezTo>
                  <a:cubicBezTo>
                    <a:pt x="229" y="294"/>
                    <a:pt x="229" y="301"/>
                    <a:pt x="230" y="307"/>
                  </a:cubicBezTo>
                  <a:cubicBezTo>
                    <a:pt x="231" y="310"/>
                    <a:pt x="230" y="316"/>
                    <a:pt x="227" y="319"/>
                  </a:cubicBezTo>
                  <a:cubicBezTo>
                    <a:pt x="224" y="321"/>
                    <a:pt x="221" y="324"/>
                    <a:pt x="220" y="329"/>
                  </a:cubicBezTo>
                  <a:cubicBezTo>
                    <a:pt x="220" y="332"/>
                    <a:pt x="220" y="334"/>
                    <a:pt x="223" y="335"/>
                  </a:cubicBezTo>
                  <a:cubicBezTo>
                    <a:pt x="223" y="339"/>
                    <a:pt x="219" y="342"/>
                    <a:pt x="219" y="346"/>
                  </a:cubicBezTo>
                  <a:cubicBezTo>
                    <a:pt x="219" y="346"/>
                    <a:pt x="220" y="348"/>
                    <a:pt x="220" y="350"/>
                  </a:cubicBezTo>
                  <a:cubicBezTo>
                    <a:pt x="254" y="344"/>
                    <a:pt x="285" y="327"/>
                    <a:pt x="308" y="302"/>
                  </a:cubicBezTo>
                  <a:close/>
                </a:path>
              </a:pathLst>
            </a:custGeom>
            <a:solidFill>
              <a:srgbClr val="D0E1EB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721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p15="http://schemas.microsoft.com/office/powerpoint/2012/main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9DEE5-8D95-4235-5697-89D04C5D5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A6FACFF-48B7-0C6A-6624-5AE91FB245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318819" y="-1015180"/>
            <a:ext cx="3554361" cy="12192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18D14F0-F29E-CB4E-CBF9-1DBBB6CA0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 flipV="1">
            <a:off x="4381500" y="-4381500"/>
            <a:ext cx="3429000" cy="12192000"/>
          </a:xfrm>
          <a:prstGeom prst="rect">
            <a:avLst/>
          </a:prstGeom>
        </p:spPr>
      </p:pic>
      <p:sp>
        <p:nvSpPr>
          <p:cNvPr id="10" name="箭头: V 形 9">
            <a:extLst>
              <a:ext uri="{FF2B5EF4-FFF2-40B4-BE49-F238E27FC236}">
                <a16:creationId xmlns:a16="http://schemas.microsoft.com/office/drawing/2014/main" id="{9975172B-E9A1-3BDB-A2F3-42F713B4EB7D}"/>
              </a:ext>
            </a:extLst>
          </p:cNvPr>
          <p:cNvSpPr/>
          <p:nvPr/>
        </p:nvSpPr>
        <p:spPr>
          <a:xfrm rot="5400000">
            <a:off x="5980133" y="6005258"/>
            <a:ext cx="231732" cy="538620"/>
          </a:xfrm>
          <a:prstGeom prst="chevron">
            <a:avLst>
              <a:gd name="adj" fmla="val 768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8B4CA6-9E78-33E5-2C85-FD1ACEB8A0A1}"/>
              </a:ext>
            </a:extLst>
          </p:cNvPr>
          <p:cNvSpPr txBox="1"/>
          <p:nvPr/>
        </p:nvSpPr>
        <p:spPr>
          <a:xfrm>
            <a:off x="2521214" y="2235481"/>
            <a:ext cx="40233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gradFill>
                  <a:gsLst>
                    <a:gs pos="0">
                      <a:srgbClr val="E1EDFB"/>
                    </a:gs>
                    <a:gs pos="100000">
                      <a:srgbClr val="F0F6FD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Part 03</a:t>
            </a:r>
            <a:endParaRPr lang="zh-CN" altLang="en-US" sz="13800" dirty="0">
              <a:gradFill>
                <a:gsLst>
                  <a:gs pos="0">
                    <a:srgbClr val="E1EDFB"/>
                  </a:gs>
                  <a:gs pos="100000">
                    <a:srgbClr val="F0F6FD"/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F7B096F-F40F-6374-E1E5-DFD0EB9DD8D4}"/>
              </a:ext>
            </a:extLst>
          </p:cNvPr>
          <p:cNvSpPr txBox="1"/>
          <p:nvPr/>
        </p:nvSpPr>
        <p:spPr>
          <a:xfrm>
            <a:off x="5418361" y="2472642"/>
            <a:ext cx="48913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ln w="3175">
                  <a:noFill/>
                </a:ln>
                <a:solidFill>
                  <a:srgbClr val="F8FBFE"/>
                </a:solidFill>
                <a:cs typeface="+mn-ea"/>
                <a:sym typeface="+mn-lt"/>
              </a:rPr>
              <a:t>技术实现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E047984F-1C0D-C3CC-F4CC-F14792E1AB58}"/>
              </a:ext>
            </a:extLst>
          </p:cNvPr>
          <p:cNvSpPr/>
          <p:nvPr/>
        </p:nvSpPr>
        <p:spPr>
          <a:xfrm>
            <a:off x="6338814" y="3206462"/>
            <a:ext cx="30504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Practice</a:t>
            </a:r>
            <a:endParaRPr 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430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dir="in"/>
      </p:transition>
    </mc:Choice>
    <mc:Fallback xmlns:p15="http://schemas.microsoft.com/office/powerpoint/2012/main" xmlns="">
      <p:transition spd="slow">
        <p:split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74167-B490-2774-E0EC-C081B1E95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A24190A-5763-3F73-EF5E-9CBD12685E02}"/>
              </a:ext>
            </a:extLst>
          </p:cNvPr>
          <p:cNvSpPr txBox="1"/>
          <p:nvPr/>
        </p:nvSpPr>
        <p:spPr>
          <a:xfrm>
            <a:off x="3951823" y="299233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cs typeface="+mn-ea"/>
                <a:sym typeface="+mn-lt"/>
              </a:rPr>
              <a:t>数据源层：灵活可扩展</a:t>
            </a:r>
          </a:p>
        </p:txBody>
      </p:sp>
      <p:sp>
        <p:nvSpPr>
          <p:cNvPr id="10" name="Rectangle 17">
            <a:extLst>
              <a:ext uri="{FF2B5EF4-FFF2-40B4-BE49-F238E27FC236}">
                <a16:creationId xmlns:a16="http://schemas.microsoft.com/office/drawing/2014/main" id="{99421A90-525C-EB04-DF20-8CF62CC42482}"/>
              </a:ext>
            </a:extLst>
          </p:cNvPr>
          <p:cNvSpPr/>
          <p:nvPr/>
        </p:nvSpPr>
        <p:spPr>
          <a:xfrm>
            <a:off x="312766" y="1171438"/>
            <a:ext cx="11709855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</a:rPr>
              <a:t>策略一：模拟数据验证</a:t>
            </a:r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</a:rPr>
              <a:t>——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</a:rPr>
              <a:t>快速原型开发与验证</a:t>
            </a:r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</a:rPr>
              <a:t>——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</a:rPr>
              <a:t>基于统计模型的程序化生成器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0334376-8D37-C20A-E9FA-28D3E933C18B}"/>
              </a:ext>
            </a:extLst>
          </p:cNvPr>
          <p:cNvSpPr txBox="1"/>
          <p:nvPr/>
        </p:nvSpPr>
        <p:spPr>
          <a:xfrm>
            <a:off x="383609" y="1640984"/>
            <a:ext cx="95806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zh-CN" altLang="en-US" b="1" dirty="0">
                <a:solidFill>
                  <a:schemeClr val="bg1"/>
                </a:solidFill>
                <a:latin typeface="quote-cjk-patch"/>
              </a:rPr>
              <a:t>①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quote-cjk-patch"/>
              </a:rPr>
              <a:t>基于配置的生成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quote-cjk-patch"/>
              </a:rPr>
              <a:t>：开发者数量、时间范围、活跃度分布等参数可调</a:t>
            </a:r>
          </a:p>
          <a:p>
            <a:r>
              <a:rPr lang="zh-CN" altLang="en-US" b="1" dirty="0">
                <a:solidFill>
                  <a:schemeClr val="bg1"/>
                </a:solidFill>
              </a:rPr>
              <a:t>②属性生成</a:t>
            </a:r>
            <a:r>
              <a:rPr lang="zh-CN" altLang="en-US" dirty="0">
                <a:solidFill>
                  <a:schemeClr val="bg1"/>
                </a:solidFill>
              </a:rPr>
              <a:t>：技术栈服从预设分布，模拟真实社区技术生态</a:t>
            </a:r>
            <a:br>
              <a:rPr lang="zh-CN" altLang="en-US" dirty="0">
                <a:solidFill>
                  <a:schemeClr val="bg1"/>
                </a:solidFill>
              </a:rPr>
            </a:br>
            <a:r>
              <a:rPr lang="zh-CN" altLang="en-US" dirty="0">
                <a:solidFill>
                  <a:schemeClr val="bg1"/>
                </a:solidFill>
              </a:rPr>
              <a:t>③</a:t>
            </a:r>
            <a:r>
              <a:rPr lang="zh-CN" altLang="en-US" b="1" dirty="0">
                <a:solidFill>
                  <a:schemeClr val="bg1"/>
                </a:solidFill>
              </a:rPr>
              <a:t>关系生成</a:t>
            </a:r>
            <a:r>
              <a:rPr lang="zh-CN" altLang="en-US" dirty="0">
                <a:solidFill>
                  <a:schemeClr val="bg1"/>
                </a:solidFill>
              </a:rPr>
              <a:t>：活跃度预测协作可能、赋予熟悉伙伴更高的选择权重，模拟网络动态</a:t>
            </a: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D807AE5-30ED-E3E0-2C81-8476E6B94B11}"/>
              </a:ext>
            </a:extLst>
          </p:cNvPr>
          <p:cNvGrpSpPr/>
          <p:nvPr/>
        </p:nvGrpSpPr>
        <p:grpSpPr>
          <a:xfrm>
            <a:off x="1349301" y="2776283"/>
            <a:ext cx="11035559" cy="3594950"/>
            <a:chOff x="772832" y="2749779"/>
            <a:chExt cx="11035559" cy="3594950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25B9A027-9031-9296-B6A1-6467B653D0DC}"/>
                </a:ext>
              </a:extLst>
            </p:cNvPr>
            <p:cNvGrpSpPr/>
            <p:nvPr/>
          </p:nvGrpSpPr>
          <p:grpSpPr>
            <a:xfrm>
              <a:off x="772832" y="2787710"/>
              <a:ext cx="3867875" cy="2175860"/>
              <a:chOff x="394840" y="4067139"/>
              <a:chExt cx="3867875" cy="2175860"/>
            </a:xfrm>
          </p:grpSpPr>
          <p:pic>
            <p:nvPicPr>
              <p:cNvPr id="12" name="图片 11" descr="表格&#10;&#10;AI 生成的内容可能不正确。">
                <a:extLst>
                  <a:ext uri="{FF2B5EF4-FFF2-40B4-BE49-F238E27FC236}">
                    <a16:creationId xmlns:a16="http://schemas.microsoft.com/office/drawing/2014/main" id="{71BE0A6B-8D17-356D-BF14-590E7B0CCE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4840" y="4439147"/>
                <a:ext cx="3867875" cy="1803852"/>
              </a:xfrm>
              <a:prstGeom prst="rect">
                <a:avLst/>
              </a:prstGeom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CB0BC36-FE51-DB0B-C5BF-371ADAEEF988}"/>
                  </a:ext>
                </a:extLst>
              </p:cNvPr>
              <p:cNvSpPr/>
              <p:nvPr/>
            </p:nvSpPr>
            <p:spPr>
              <a:xfrm>
                <a:off x="432318" y="4067139"/>
                <a:ext cx="3754969" cy="324485"/>
              </a:xfrm>
              <a:prstGeom prst="rect">
                <a:avLst/>
              </a:prstGeom>
            </p:spPr>
            <p:txBody>
              <a:bodyPr vert="horz" wrap="square" lIns="182880" tIns="91440" rIns="182880" bIns="91440" rtlCol="0" anchor="ctr">
                <a:noAutofit/>
              </a:bodyPr>
              <a:lstStyle/>
              <a:p>
                <a:r>
                  <a:rPr lang="zh-CN" altLang="en-US" b="1" dirty="0">
                    <a:solidFill>
                      <a:schemeClr val="bg1">
                        <a:lumMod val="95000"/>
                      </a:schemeClr>
                    </a:solidFill>
                  </a:rPr>
                  <a:t>模拟数据示例</a:t>
                </a:r>
                <a:r>
                  <a:rPr lang="en-US" altLang="zh-CN" b="1" dirty="0">
                    <a:solidFill>
                      <a:schemeClr val="bg1">
                        <a:lumMod val="95000"/>
                      </a:schemeClr>
                    </a:solidFill>
                  </a:rPr>
                  <a:t>1</a:t>
                </a:r>
                <a:r>
                  <a:rPr lang="zh-CN" altLang="en-US" b="1" dirty="0">
                    <a:solidFill>
                      <a:schemeClr val="bg1">
                        <a:lumMod val="95000"/>
                      </a:schemeClr>
                    </a:solidFill>
                  </a:rPr>
                  <a:t>：开发者静态数据</a:t>
                </a:r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B4A947AE-7654-7908-1245-787063BE2802}"/>
                </a:ext>
              </a:extLst>
            </p:cNvPr>
            <p:cNvGrpSpPr/>
            <p:nvPr/>
          </p:nvGrpSpPr>
          <p:grpSpPr>
            <a:xfrm>
              <a:off x="5713513" y="2749779"/>
              <a:ext cx="6094878" cy="2213791"/>
              <a:chOff x="4358529" y="2729347"/>
              <a:chExt cx="6094878" cy="2213791"/>
            </a:xfrm>
          </p:grpSpPr>
          <p:pic>
            <p:nvPicPr>
              <p:cNvPr id="22" name="图片 21" descr="电脑萤幕画面&#10;&#10;AI 生成的内容可能不正确。">
                <a:extLst>
                  <a:ext uri="{FF2B5EF4-FFF2-40B4-BE49-F238E27FC236}">
                    <a16:creationId xmlns:a16="http://schemas.microsoft.com/office/drawing/2014/main" id="{A806C246-1AEF-3748-5B36-AB890F9292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42877" y="3098679"/>
                <a:ext cx="4213383" cy="1844459"/>
              </a:xfrm>
              <a:prstGeom prst="rect">
                <a:avLst/>
              </a:prstGeom>
            </p:spPr>
          </p:pic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D21B154-865C-BC69-3AA8-005BDFF79AAC}"/>
                  </a:ext>
                </a:extLst>
              </p:cNvPr>
              <p:cNvSpPr txBox="1"/>
              <p:nvPr/>
            </p:nvSpPr>
            <p:spPr>
              <a:xfrm>
                <a:off x="4358529" y="2729347"/>
                <a:ext cx="60948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bg1">
                        <a:lumMod val="95000"/>
                      </a:schemeClr>
                    </a:solidFill>
                  </a:rPr>
                  <a:t>模拟数据示例</a:t>
                </a:r>
                <a:r>
                  <a:rPr lang="en-US" altLang="zh-CN" b="1" dirty="0">
                    <a:solidFill>
                      <a:schemeClr val="bg1">
                        <a:lumMod val="95000"/>
                      </a:schemeClr>
                    </a:solidFill>
                  </a:rPr>
                  <a:t>2</a:t>
                </a:r>
                <a:r>
                  <a:rPr lang="zh-CN" altLang="en-US" b="1" dirty="0">
                    <a:solidFill>
                      <a:schemeClr val="bg1">
                        <a:lumMod val="95000"/>
                      </a:schemeClr>
                    </a:solidFill>
                  </a:rPr>
                  <a:t>：协作关系时序数据（时间戳）</a:t>
                </a:r>
              </a:p>
            </p:txBody>
          </p:sp>
        </p:grpSp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D179FA60-A028-E050-E162-BA9897DEA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10815" y="5754097"/>
              <a:ext cx="6344535" cy="590632"/>
            </a:xfrm>
            <a:prstGeom prst="rect">
              <a:avLst/>
            </a:prstGeom>
          </p:spPr>
        </p:pic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3AA8682-92DA-1826-DF99-EF57C809C8F0}"/>
                </a:ext>
              </a:extLst>
            </p:cNvPr>
            <p:cNvSpPr txBox="1"/>
            <p:nvPr/>
          </p:nvSpPr>
          <p:spPr>
            <a:xfrm>
              <a:off x="1676994" y="5217016"/>
              <a:ext cx="88380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</a:rPr>
                <a:t>协作强度的算法说明：相同语言项目的协作强度更高、引入随机波动变量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3881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p15="http://schemas.microsoft.com/office/powerpoint/2012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B0452-CABD-10C7-F0A6-E015751C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BADCEF71-E738-F608-AD15-FD471A508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318820" y="-1005846"/>
            <a:ext cx="3554361" cy="12192000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B29A61F3-9577-5623-2454-3E7D9301C5A2}"/>
              </a:ext>
            </a:extLst>
          </p:cNvPr>
          <p:cNvGrpSpPr/>
          <p:nvPr/>
        </p:nvGrpSpPr>
        <p:grpSpPr>
          <a:xfrm>
            <a:off x="639560" y="429556"/>
            <a:ext cx="5266990" cy="2016984"/>
            <a:chOff x="148428" y="427752"/>
            <a:chExt cx="5266990" cy="2016984"/>
          </a:xfrm>
        </p:grpSpPr>
        <p:sp>
          <p:nvSpPr>
            <p:cNvPr id="2" name="Rectangle 17">
              <a:extLst>
                <a:ext uri="{FF2B5EF4-FFF2-40B4-BE49-F238E27FC236}">
                  <a16:creationId xmlns:a16="http://schemas.microsoft.com/office/drawing/2014/main" id="{5068B063-FF5C-BA8D-2D7D-7DECF7A1912D}"/>
                </a:ext>
              </a:extLst>
            </p:cNvPr>
            <p:cNvSpPr/>
            <p:nvPr/>
          </p:nvSpPr>
          <p:spPr>
            <a:xfrm>
              <a:off x="904439" y="427752"/>
              <a:ext cx="3754969" cy="324485"/>
            </a:xfrm>
            <a:prstGeom prst="rect">
              <a:avLst/>
            </a:prstGeom>
          </p:spPr>
          <p:txBody>
            <a:bodyPr vert="horz" wrap="square" lIns="182880" tIns="91440" rIns="182880" bIns="91440" rtlCol="0" anchor="ctr">
              <a:noAutofit/>
            </a:bodyPr>
            <a:lstStyle/>
            <a:p>
              <a:r>
                <a:rPr lang="zh-CN" altLang="en-US" b="1" dirty="0">
                  <a:solidFill>
                    <a:schemeClr val="bg1">
                      <a:lumMod val="95000"/>
                    </a:schemeClr>
                  </a:solidFill>
                </a:rPr>
                <a:t>模拟数据示例</a:t>
              </a:r>
              <a:r>
                <a:rPr lang="en-US" altLang="zh-CN" b="1" dirty="0">
                  <a:solidFill>
                    <a:schemeClr val="bg1">
                      <a:lumMod val="95000"/>
                    </a:schemeClr>
                  </a:solidFill>
                </a:rPr>
                <a:t>3</a:t>
              </a:r>
              <a:r>
                <a:rPr lang="zh-CN" altLang="en-US" b="1" dirty="0">
                  <a:solidFill>
                    <a:schemeClr val="bg1">
                      <a:lumMod val="95000"/>
                    </a:schemeClr>
                  </a:solidFill>
                </a:rPr>
                <a:t>：月度聚合数据</a:t>
              </a:r>
            </a:p>
          </p:txBody>
        </p:sp>
        <p:pic>
          <p:nvPicPr>
            <p:cNvPr id="5" name="图片 4" descr="表格&#10;&#10;AI 生成的内容可能不正确。">
              <a:extLst>
                <a:ext uri="{FF2B5EF4-FFF2-40B4-BE49-F238E27FC236}">
                  <a16:creationId xmlns:a16="http://schemas.microsoft.com/office/drawing/2014/main" id="{EA57CB34-552E-24EC-8AE9-FB2E6AB83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428" y="894229"/>
              <a:ext cx="5266990" cy="1550507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B4508E87-C9D7-9123-6F6A-90771DBDE88D}"/>
              </a:ext>
            </a:extLst>
          </p:cNvPr>
          <p:cNvSpPr txBox="1"/>
          <p:nvPr/>
        </p:nvSpPr>
        <p:spPr>
          <a:xfrm>
            <a:off x="148428" y="2654922"/>
            <a:ext cx="61559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活跃开发者：至少参与一次协作的开发者数，检测社区活力</a:t>
            </a:r>
            <a:endParaRPr lang="en-US" altLang="zh-CN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独一协作对：不同的开发者配对总数，衡量协作网络广度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6C68798-CD35-1DBA-CC57-F1E093CB9961}"/>
              </a:ext>
            </a:extLst>
          </p:cNvPr>
          <p:cNvGrpSpPr/>
          <p:nvPr/>
        </p:nvGrpSpPr>
        <p:grpSpPr>
          <a:xfrm>
            <a:off x="6845798" y="417965"/>
            <a:ext cx="4590926" cy="2235653"/>
            <a:chOff x="7020610" y="425198"/>
            <a:chExt cx="4590926" cy="2235653"/>
          </a:xfrm>
        </p:grpSpPr>
        <p:sp>
          <p:nvSpPr>
            <p:cNvPr id="8" name="Rectangle 17">
              <a:extLst>
                <a:ext uri="{FF2B5EF4-FFF2-40B4-BE49-F238E27FC236}">
                  <a16:creationId xmlns:a16="http://schemas.microsoft.com/office/drawing/2014/main" id="{3184BDE3-7AD9-BF46-59C6-E589E83C87B7}"/>
                </a:ext>
              </a:extLst>
            </p:cNvPr>
            <p:cNvSpPr/>
            <p:nvPr/>
          </p:nvSpPr>
          <p:spPr>
            <a:xfrm>
              <a:off x="7020610" y="425198"/>
              <a:ext cx="4590926" cy="324485"/>
            </a:xfrm>
            <a:prstGeom prst="rect">
              <a:avLst/>
            </a:prstGeom>
          </p:spPr>
          <p:txBody>
            <a:bodyPr vert="horz" wrap="square" lIns="182880" tIns="91440" rIns="182880" bIns="91440" rtlCol="0" anchor="ctr">
              <a:noAutofit/>
            </a:bodyPr>
            <a:lstStyle/>
            <a:p>
              <a:r>
                <a:rPr lang="zh-CN" altLang="en-US" b="1" dirty="0">
                  <a:solidFill>
                    <a:schemeClr val="bg1">
                      <a:lumMod val="95000"/>
                    </a:schemeClr>
                  </a:solidFill>
                </a:rPr>
                <a:t>模拟数据示例</a:t>
              </a:r>
              <a:r>
                <a:rPr lang="en-US" altLang="zh-CN" b="1" dirty="0">
                  <a:solidFill>
                    <a:schemeClr val="bg1">
                      <a:lumMod val="95000"/>
                    </a:schemeClr>
                  </a:solidFill>
                </a:rPr>
                <a:t>4</a:t>
              </a:r>
              <a:r>
                <a:rPr lang="zh-CN" altLang="en-US" b="1" dirty="0">
                  <a:solidFill>
                    <a:schemeClr val="bg1">
                      <a:lumMod val="95000"/>
                    </a:schemeClr>
                  </a:solidFill>
                </a:rPr>
                <a:t>：最近一个月的网络快照</a:t>
              </a:r>
            </a:p>
          </p:txBody>
        </p:sp>
        <p:pic>
          <p:nvPicPr>
            <p:cNvPr id="10" name="图片 9" descr="日历&#10;&#10;AI 生成的内容可能不正确。">
              <a:extLst>
                <a:ext uri="{FF2B5EF4-FFF2-40B4-BE49-F238E27FC236}">
                  <a16:creationId xmlns:a16="http://schemas.microsoft.com/office/drawing/2014/main" id="{5E506F96-4489-8299-6BB3-44E05CF34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32466" y="896033"/>
              <a:ext cx="1567213" cy="1764818"/>
            </a:xfrm>
            <a:prstGeom prst="rect">
              <a:avLst/>
            </a:prstGeom>
          </p:spPr>
        </p:pic>
      </p:grpSp>
      <p:sp>
        <p:nvSpPr>
          <p:cNvPr id="11" name="Rectangle 17">
            <a:extLst>
              <a:ext uri="{FF2B5EF4-FFF2-40B4-BE49-F238E27FC236}">
                <a16:creationId xmlns:a16="http://schemas.microsoft.com/office/drawing/2014/main" id="{BDA1A3D7-29FE-E402-F070-510CC681DDD0}"/>
              </a:ext>
            </a:extLst>
          </p:cNvPr>
          <p:cNvSpPr/>
          <p:nvPr/>
        </p:nvSpPr>
        <p:spPr>
          <a:xfrm>
            <a:off x="148428" y="4088780"/>
            <a:ext cx="11709855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</a:rPr>
              <a:t>策略二：开放数据接入</a:t>
            </a:r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</a:rPr>
              <a:t>——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</a:rPr>
              <a:t>真实场景分析与洞察</a:t>
            </a:r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</a:rPr>
              <a:t>——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</a:rPr>
              <a:t>标准化</a:t>
            </a:r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</a:rPr>
              <a:t>API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</a:rPr>
              <a:t>客户端</a:t>
            </a:r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</a:rPr>
              <a:t>+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</a:rPr>
              <a:t>增量爬取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5CA6425-EB22-2141-6793-399F771546BA}"/>
              </a:ext>
            </a:extLst>
          </p:cNvPr>
          <p:cNvSpPr txBox="1"/>
          <p:nvPr/>
        </p:nvSpPr>
        <p:spPr>
          <a:xfrm>
            <a:off x="215665" y="4720822"/>
            <a:ext cx="9580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zh-CN" altLang="en-US" b="1" dirty="0">
                <a:solidFill>
                  <a:schemeClr val="bg1"/>
                </a:solidFill>
                <a:latin typeface="quote-cjk-patch"/>
              </a:rPr>
              <a:t>对爬取后的</a:t>
            </a:r>
            <a:r>
              <a:rPr lang="en-US" altLang="zh-CN" b="1" dirty="0">
                <a:solidFill>
                  <a:schemeClr val="bg1"/>
                </a:solidFill>
                <a:latin typeface="quote-cjk-patch"/>
              </a:rPr>
              <a:t>csv</a:t>
            </a:r>
            <a:r>
              <a:rPr lang="zh-CN" altLang="en-US" b="1" dirty="0">
                <a:solidFill>
                  <a:schemeClr val="bg1"/>
                </a:solidFill>
                <a:latin typeface="quote-cjk-patch"/>
              </a:rPr>
              <a:t>文件进行数据清洗和指标计算，详见下一页</a:t>
            </a:r>
            <a:r>
              <a:rPr lang="en-US" altLang="zh-CN" b="1" dirty="0">
                <a:solidFill>
                  <a:schemeClr val="bg1"/>
                </a:solidFill>
                <a:latin typeface="quote-cjk-patch"/>
              </a:rPr>
              <a:t>PPT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00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p15="http://schemas.microsoft.com/office/powerpoint/2012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9E589-7B79-441B-CE6D-BCFB99A09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DB6DBD04-2667-4031-15A4-AF68CC90B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85521" y="-1708606"/>
            <a:ext cx="2892916" cy="992314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92624AE-BEE4-2E16-3E37-A817879F70CD}"/>
              </a:ext>
            </a:extLst>
          </p:cNvPr>
          <p:cNvSpPr txBox="1"/>
          <p:nvPr/>
        </p:nvSpPr>
        <p:spPr>
          <a:xfrm>
            <a:off x="4889799" y="353021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cs typeface="+mn-ea"/>
                <a:sym typeface="+mn-lt"/>
              </a:rPr>
              <a:t>数据处理层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EFA32985-6D4C-7284-97FB-C15F26BFF977}"/>
              </a:ext>
            </a:extLst>
          </p:cNvPr>
          <p:cNvSpPr/>
          <p:nvPr/>
        </p:nvSpPr>
        <p:spPr>
          <a:xfrm>
            <a:off x="420342" y="1171438"/>
            <a:ext cx="11709855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</a:rPr>
              <a:t>技术一：智能引擎适配系统</a:t>
            </a:r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</a:rPr>
              <a:t>——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</a:rPr>
              <a:t>环境检测与决策</a:t>
            </a:r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</a:rPr>
              <a:t>——</a:t>
            </a:r>
            <a:r>
              <a:rPr lang="en-US" altLang="zh-CN" sz="2400" b="1" dirty="0" err="1">
                <a:solidFill>
                  <a:schemeClr val="bg1">
                    <a:lumMod val="95000"/>
                  </a:schemeClr>
                </a:solidFill>
              </a:rPr>
              <a:t>EasyGraph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</a:rPr>
              <a:t>或</a:t>
            </a:r>
            <a:r>
              <a:rPr lang="en-US" altLang="zh-CN" sz="2400" b="1" dirty="0" err="1">
                <a:solidFill>
                  <a:schemeClr val="bg1">
                    <a:lumMod val="95000"/>
                  </a:schemeClr>
                </a:solidFill>
              </a:rPr>
              <a:t>NetworkX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A26EFA-7728-A06A-648D-5F20B636CDC3}"/>
              </a:ext>
            </a:extLst>
          </p:cNvPr>
          <p:cNvSpPr txBox="1"/>
          <p:nvPr/>
        </p:nvSpPr>
        <p:spPr>
          <a:xfrm>
            <a:off x="518079" y="1729565"/>
            <a:ext cx="9580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解决环境不稳定性带来的问题，为上层业务逻辑提供稳定、一致的调用接口</a:t>
            </a:r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F8197EDB-7ADC-3958-BAA5-FDA6C7978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714" y="2243301"/>
            <a:ext cx="3365051" cy="4123882"/>
          </a:xfrm>
          <a:prstGeom prst="rect">
            <a:avLst/>
          </a:prstGeom>
        </p:spPr>
      </p:pic>
      <p:pic>
        <p:nvPicPr>
          <p:cNvPr id="9" name="图片 8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8335901A-A2BF-F26D-41D5-E2CFDC9CB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8410" y="4768412"/>
            <a:ext cx="5125165" cy="1009791"/>
          </a:xfrm>
          <a:prstGeom prst="rect">
            <a:avLst/>
          </a:prstGeom>
        </p:spPr>
      </p:pic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D8612F6D-38B1-7D04-0E1D-6ADDB6476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8410" y="2971940"/>
            <a:ext cx="2086266" cy="562053"/>
          </a:xfrm>
          <a:prstGeom prst="rect">
            <a:avLst/>
          </a:prstGeom>
        </p:spPr>
      </p:pic>
      <p:sp>
        <p:nvSpPr>
          <p:cNvPr id="31" name="Freeform 2591">
            <a:extLst>
              <a:ext uri="{FF2B5EF4-FFF2-40B4-BE49-F238E27FC236}">
                <a16:creationId xmlns:a16="http://schemas.microsoft.com/office/drawing/2014/main" id="{35612525-7C20-903E-700F-98405A41E3DB}"/>
              </a:ext>
            </a:extLst>
          </p:cNvPr>
          <p:cNvSpPr/>
          <p:nvPr/>
        </p:nvSpPr>
        <p:spPr bwMode="auto">
          <a:xfrm rot="1287611">
            <a:off x="4143974" y="3234959"/>
            <a:ext cx="852260" cy="1100259"/>
          </a:xfrm>
          <a:custGeom>
            <a:avLst/>
            <a:gdLst>
              <a:gd name="T0" fmla="*/ 209 w 313"/>
              <a:gd name="T1" fmla="*/ 1 h 370"/>
              <a:gd name="T2" fmla="*/ 260 w 313"/>
              <a:gd name="T3" fmla="*/ 0 h 370"/>
              <a:gd name="T4" fmla="*/ 294 w 313"/>
              <a:gd name="T5" fmla="*/ 3 h 370"/>
              <a:gd name="T6" fmla="*/ 306 w 313"/>
              <a:gd name="T7" fmla="*/ 8 h 370"/>
              <a:gd name="T8" fmla="*/ 312 w 313"/>
              <a:gd name="T9" fmla="*/ 13 h 370"/>
              <a:gd name="T10" fmla="*/ 313 w 313"/>
              <a:gd name="T11" fmla="*/ 20 h 370"/>
              <a:gd name="T12" fmla="*/ 303 w 313"/>
              <a:gd name="T13" fmla="*/ 39 h 370"/>
              <a:gd name="T14" fmla="*/ 259 w 313"/>
              <a:gd name="T15" fmla="*/ 98 h 370"/>
              <a:gd name="T16" fmla="*/ 254 w 313"/>
              <a:gd name="T17" fmla="*/ 102 h 370"/>
              <a:gd name="T18" fmla="*/ 249 w 313"/>
              <a:gd name="T19" fmla="*/ 101 h 370"/>
              <a:gd name="T20" fmla="*/ 245 w 313"/>
              <a:gd name="T21" fmla="*/ 97 h 370"/>
              <a:gd name="T22" fmla="*/ 246 w 313"/>
              <a:gd name="T23" fmla="*/ 92 h 370"/>
              <a:gd name="T24" fmla="*/ 276 w 313"/>
              <a:gd name="T25" fmla="*/ 51 h 370"/>
              <a:gd name="T26" fmla="*/ 292 w 313"/>
              <a:gd name="T27" fmla="*/ 31 h 370"/>
              <a:gd name="T28" fmla="*/ 230 w 313"/>
              <a:gd name="T29" fmla="*/ 51 h 370"/>
              <a:gd name="T30" fmla="*/ 192 w 313"/>
              <a:gd name="T31" fmla="*/ 69 h 370"/>
              <a:gd name="T32" fmla="*/ 137 w 313"/>
              <a:gd name="T33" fmla="*/ 102 h 370"/>
              <a:gd name="T34" fmla="*/ 104 w 313"/>
              <a:gd name="T35" fmla="*/ 129 h 370"/>
              <a:gd name="T36" fmla="*/ 74 w 313"/>
              <a:gd name="T37" fmla="*/ 161 h 370"/>
              <a:gd name="T38" fmla="*/ 38 w 313"/>
              <a:gd name="T39" fmla="*/ 214 h 370"/>
              <a:gd name="T40" fmla="*/ 22 w 313"/>
              <a:gd name="T41" fmla="*/ 252 h 370"/>
              <a:gd name="T42" fmla="*/ 14 w 313"/>
              <a:gd name="T43" fmla="*/ 304 h 370"/>
              <a:gd name="T44" fmla="*/ 17 w 313"/>
              <a:gd name="T45" fmla="*/ 322 h 370"/>
              <a:gd name="T46" fmla="*/ 29 w 313"/>
              <a:gd name="T47" fmla="*/ 342 h 370"/>
              <a:gd name="T48" fmla="*/ 48 w 313"/>
              <a:gd name="T49" fmla="*/ 356 h 370"/>
              <a:gd name="T50" fmla="*/ 52 w 313"/>
              <a:gd name="T51" fmla="*/ 360 h 370"/>
              <a:gd name="T52" fmla="*/ 52 w 313"/>
              <a:gd name="T53" fmla="*/ 365 h 370"/>
              <a:gd name="T54" fmla="*/ 48 w 313"/>
              <a:gd name="T55" fmla="*/ 369 h 370"/>
              <a:gd name="T56" fmla="*/ 42 w 313"/>
              <a:gd name="T57" fmla="*/ 369 h 370"/>
              <a:gd name="T58" fmla="*/ 25 w 313"/>
              <a:gd name="T59" fmla="*/ 359 h 370"/>
              <a:gd name="T60" fmla="*/ 7 w 313"/>
              <a:gd name="T61" fmla="*/ 336 h 370"/>
              <a:gd name="T62" fmla="*/ 0 w 313"/>
              <a:gd name="T63" fmla="*/ 305 h 370"/>
              <a:gd name="T64" fmla="*/ 0 w 313"/>
              <a:gd name="T65" fmla="*/ 286 h 370"/>
              <a:gd name="T66" fmla="*/ 15 w 313"/>
              <a:gd name="T67" fmla="*/ 227 h 370"/>
              <a:gd name="T68" fmla="*/ 36 w 313"/>
              <a:gd name="T69" fmla="*/ 188 h 370"/>
              <a:gd name="T70" fmla="*/ 62 w 313"/>
              <a:gd name="T71" fmla="*/ 152 h 370"/>
              <a:gd name="T72" fmla="*/ 110 w 313"/>
              <a:gd name="T73" fmla="*/ 105 h 370"/>
              <a:gd name="T74" fmla="*/ 146 w 313"/>
              <a:gd name="T75" fmla="*/ 79 h 370"/>
              <a:gd name="T76" fmla="*/ 204 w 313"/>
              <a:gd name="T77" fmla="*/ 47 h 370"/>
              <a:gd name="T78" fmla="*/ 244 w 313"/>
              <a:gd name="T79" fmla="*/ 30 h 370"/>
              <a:gd name="T80" fmla="*/ 286 w 313"/>
              <a:gd name="T81" fmla="*/ 17 h 370"/>
              <a:gd name="T82" fmla="*/ 259 w 313"/>
              <a:gd name="T83" fmla="*/ 15 h 370"/>
              <a:gd name="T84" fmla="*/ 203 w 313"/>
              <a:gd name="T85" fmla="*/ 17 h 370"/>
              <a:gd name="T86" fmla="*/ 198 w 313"/>
              <a:gd name="T87" fmla="*/ 16 h 370"/>
              <a:gd name="T88" fmla="*/ 194 w 313"/>
              <a:gd name="T89" fmla="*/ 12 h 370"/>
              <a:gd name="T90" fmla="*/ 195 w 313"/>
              <a:gd name="T91" fmla="*/ 6 h 370"/>
              <a:gd name="T92" fmla="*/ 200 w 313"/>
              <a:gd name="T93" fmla="*/ 3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13" h="370">
                <a:moveTo>
                  <a:pt x="200" y="3"/>
                </a:moveTo>
                <a:lnTo>
                  <a:pt x="200" y="3"/>
                </a:lnTo>
                <a:lnTo>
                  <a:pt x="209" y="1"/>
                </a:lnTo>
                <a:lnTo>
                  <a:pt x="222" y="0"/>
                </a:lnTo>
                <a:lnTo>
                  <a:pt x="239" y="0"/>
                </a:lnTo>
                <a:lnTo>
                  <a:pt x="260" y="0"/>
                </a:lnTo>
                <a:lnTo>
                  <a:pt x="260" y="0"/>
                </a:lnTo>
                <a:lnTo>
                  <a:pt x="279" y="1"/>
                </a:lnTo>
                <a:lnTo>
                  <a:pt x="294" y="3"/>
                </a:lnTo>
                <a:lnTo>
                  <a:pt x="294" y="3"/>
                </a:lnTo>
                <a:lnTo>
                  <a:pt x="301" y="5"/>
                </a:lnTo>
                <a:lnTo>
                  <a:pt x="306" y="8"/>
                </a:lnTo>
                <a:lnTo>
                  <a:pt x="306" y="8"/>
                </a:lnTo>
                <a:lnTo>
                  <a:pt x="310" y="10"/>
                </a:lnTo>
                <a:lnTo>
                  <a:pt x="312" y="13"/>
                </a:lnTo>
                <a:lnTo>
                  <a:pt x="313" y="17"/>
                </a:lnTo>
                <a:lnTo>
                  <a:pt x="313" y="20"/>
                </a:lnTo>
                <a:lnTo>
                  <a:pt x="313" y="20"/>
                </a:lnTo>
                <a:lnTo>
                  <a:pt x="310" y="28"/>
                </a:lnTo>
                <a:lnTo>
                  <a:pt x="303" y="39"/>
                </a:lnTo>
                <a:lnTo>
                  <a:pt x="303" y="39"/>
                </a:lnTo>
                <a:lnTo>
                  <a:pt x="287" y="60"/>
                </a:lnTo>
                <a:lnTo>
                  <a:pt x="287" y="60"/>
                </a:lnTo>
                <a:lnTo>
                  <a:pt x="259" y="98"/>
                </a:lnTo>
                <a:lnTo>
                  <a:pt x="259" y="98"/>
                </a:lnTo>
                <a:lnTo>
                  <a:pt x="257" y="101"/>
                </a:lnTo>
                <a:lnTo>
                  <a:pt x="254" y="102"/>
                </a:lnTo>
                <a:lnTo>
                  <a:pt x="254" y="102"/>
                </a:lnTo>
                <a:lnTo>
                  <a:pt x="251" y="102"/>
                </a:lnTo>
                <a:lnTo>
                  <a:pt x="249" y="101"/>
                </a:lnTo>
                <a:lnTo>
                  <a:pt x="249" y="101"/>
                </a:lnTo>
                <a:lnTo>
                  <a:pt x="247" y="99"/>
                </a:lnTo>
                <a:lnTo>
                  <a:pt x="245" y="97"/>
                </a:lnTo>
                <a:lnTo>
                  <a:pt x="245" y="97"/>
                </a:lnTo>
                <a:lnTo>
                  <a:pt x="245" y="94"/>
                </a:lnTo>
                <a:lnTo>
                  <a:pt x="246" y="92"/>
                </a:lnTo>
                <a:lnTo>
                  <a:pt x="246" y="92"/>
                </a:lnTo>
                <a:lnTo>
                  <a:pt x="255" y="78"/>
                </a:lnTo>
                <a:lnTo>
                  <a:pt x="276" y="51"/>
                </a:lnTo>
                <a:lnTo>
                  <a:pt x="276" y="51"/>
                </a:lnTo>
                <a:lnTo>
                  <a:pt x="292" y="31"/>
                </a:lnTo>
                <a:lnTo>
                  <a:pt x="292" y="31"/>
                </a:lnTo>
                <a:lnTo>
                  <a:pt x="271" y="37"/>
                </a:lnTo>
                <a:lnTo>
                  <a:pt x="250" y="43"/>
                </a:lnTo>
                <a:lnTo>
                  <a:pt x="230" y="51"/>
                </a:lnTo>
                <a:lnTo>
                  <a:pt x="211" y="60"/>
                </a:lnTo>
                <a:lnTo>
                  <a:pt x="211" y="60"/>
                </a:lnTo>
                <a:lnTo>
                  <a:pt x="192" y="69"/>
                </a:lnTo>
                <a:lnTo>
                  <a:pt x="173" y="79"/>
                </a:lnTo>
                <a:lnTo>
                  <a:pt x="155" y="90"/>
                </a:lnTo>
                <a:lnTo>
                  <a:pt x="137" y="102"/>
                </a:lnTo>
                <a:lnTo>
                  <a:pt x="137" y="102"/>
                </a:lnTo>
                <a:lnTo>
                  <a:pt x="120" y="115"/>
                </a:lnTo>
                <a:lnTo>
                  <a:pt x="104" y="129"/>
                </a:lnTo>
                <a:lnTo>
                  <a:pt x="88" y="144"/>
                </a:lnTo>
                <a:lnTo>
                  <a:pt x="74" y="161"/>
                </a:lnTo>
                <a:lnTo>
                  <a:pt x="74" y="161"/>
                </a:lnTo>
                <a:lnTo>
                  <a:pt x="60" y="178"/>
                </a:lnTo>
                <a:lnTo>
                  <a:pt x="48" y="196"/>
                </a:lnTo>
                <a:lnTo>
                  <a:pt x="38" y="214"/>
                </a:lnTo>
                <a:lnTo>
                  <a:pt x="29" y="233"/>
                </a:lnTo>
                <a:lnTo>
                  <a:pt x="29" y="233"/>
                </a:lnTo>
                <a:lnTo>
                  <a:pt x="22" y="252"/>
                </a:lnTo>
                <a:lnTo>
                  <a:pt x="17" y="270"/>
                </a:lnTo>
                <a:lnTo>
                  <a:pt x="15" y="287"/>
                </a:lnTo>
                <a:lnTo>
                  <a:pt x="14" y="304"/>
                </a:lnTo>
                <a:lnTo>
                  <a:pt x="14" y="304"/>
                </a:lnTo>
                <a:lnTo>
                  <a:pt x="15" y="313"/>
                </a:lnTo>
                <a:lnTo>
                  <a:pt x="17" y="322"/>
                </a:lnTo>
                <a:lnTo>
                  <a:pt x="20" y="329"/>
                </a:lnTo>
                <a:lnTo>
                  <a:pt x="24" y="336"/>
                </a:lnTo>
                <a:lnTo>
                  <a:pt x="29" y="342"/>
                </a:lnTo>
                <a:lnTo>
                  <a:pt x="34" y="347"/>
                </a:lnTo>
                <a:lnTo>
                  <a:pt x="41" y="352"/>
                </a:lnTo>
                <a:lnTo>
                  <a:pt x="48" y="356"/>
                </a:lnTo>
                <a:lnTo>
                  <a:pt x="48" y="356"/>
                </a:lnTo>
                <a:lnTo>
                  <a:pt x="50" y="357"/>
                </a:lnTo>
                <a:lnTo>
                  <a:pt x="52" y="360"/>
                </a:lnTo>
                <a:lnTo>
                  <a:pt x="52" y="360"/>
                </a:lnTo>
                <a:lnTo>
                  <a:pt x="52" y="362"/>
                </a:lnTo>
                <a:lnTo>
                  <a:pt x="52" y="365"/>
                </a:lnTo>
                <a:lnTo>
                  <a:pt x="52" y="365"/>
                </a:lnTo>
                <a:lnTo>
                  <a:pt x="50" y="367"/>
                </a:lnTo>
                <a:lnTo>
                  <a:pt x="48" y="369"/>
                </a:lnTo>
                <a:lnTo>
                  <a:pt x="48" y="369"/>
                </a:lnTo>
                <a:lnTo>
                  <a:pt x="45" y="370"/>
                </a:lnTo>
                <a:lnTo>
                  <a:pt x="42" y="369"/>
                </a:lnTo>
                <a:lnTo>
                  <a:pt x="42" y="369"/>
                </a:lnTo>
                <a:lnTo>
                  <a:pt x="33" y="365"/>
                </a:lnTo>
                <a:lnTo>
                  <a:pt x="25" y="359"/>
                </a:lnTo>
                <a:lnTo>
                  <a:pt x="18" y="352"/>
                </a:lnTo>
                <a:lnTo>
                  <a:pt x="12" y="345"/>
                </a:lnTo>
                <a:lnTo>
                  <a:pt x="7" y="336"/>
                </a:lnTo>
                <a:lnTo>
                  <a:pt x="3" y="327"/>
                </a:lnTo>
                <a:lnTo>
                  <a:pt x="1" y="316"/>
                </a:lnTo>
                <a:lnTo>
                  <a:pt x="0" y="305"/>
                </a:lnTo>
                <a:lnTo>
                  <a:pt x="0" y="305"/>
                </a:lnTo>
                <a:lnTo>
                  <a:pt x="0" y="296"/>
                </a:lnTo>
                <a:lnTo>
                  <a:pt x="0" y="286"/>
                </a:lnTo>
                <a:lnTo>
                  <a:pt x="3" y="267"/>
                </a:lnTo>
                <a:lnTo>
                  <a:pt x="8" y="248"/>
                </a:lnTo>
                <a:lnTo>
                  <a:pt x="15" y="227"/>
                </a:lnTo>
                <a:lnTo>
                  <a:pt x="15" y="227"/>
                </a:lnTo>
                <a:lnTo>
                  <a:pt x="25" y="207"/>
                </a:lnTo>
                <a:lnTo>
                  <a:pt x="36" y="188"/>
                </a:lnTo>
                <a:lnTo>
                  <a:pt x="48" y="170"/>
                </a:lnTo>
                <a:lnTo>
                  <a:pt x="62" y="152"/>
                </a:lnTo>
                <a:lnTo>
                  <a:pt x="62" y="152"/>
                </a:lnTo>
                <a:lnTo>
                  <a:pt x="78" y="135"/>
                </a:lnTo>
                <a:lnTo>
                  <a:pt x="93" y="119"/>
                </a:lnTo>
                <a:lnTo>
                  <a:pt x="110" y="105"/>
                </a:lnTo>
                <a:lnTo>
                  <a:pt x="128" y="91"/>
                </a:lnTo>
                <a:lnTo>
                  <a:pt x="128" y="91"/>
                </a:lnTo>
                <a:lnTo>
                  <a:pt x="146" y="79"/>
                </a:lnTo>
                <a:lnTo>
                  <a:pt x="165" y="67"/>
                </a:lnTo>
                <a:lnTo>
                  <a:pt x="184" y="57"/>
                </a:lnTo>
                <a:lnTo>
                  <a:pt x="204" y="47"/>
                </a:lnTo>
                <a:lnTo>
                  <a:pt x="204" y="47"/>
                </a:lnTo>
                <a:lnTo>
                  <a:pt x="224" y="38"/>
                </a:lnTo>
                <a:lnTo>
                  <a:pt x="244" y="30"/>
                </a:lnTo>
                <a:lnTo>
                  <a:pt x="265" y="23"/>
                </a:lnTo>
                <a:lnTo>
                  <a:pt x="286" y="17"/>
                </a:lnTo>
                <a:lnTo>
                  <a:pt x="286" y="17"/>
                </a:lnTo>
                <a:lnTo>
                  <a:pt x="274" y="16"/>
                </a:lnTo>
                <a:lnTo>
                  <a:pt x="259" y="15"/>
                </a:lnTo>
                <a:lnTo>
                  <a:pt x="259" y="15"/>
                </a:lnTo>
                <a:lnTo>
                  <a:pt x="224" y="15"/>
                </a:lnTo>
                <a:lnTo>
                  <a:pt x="212" y="15"/>
                </a:lnTo>
                <a:lnTo>
                  <a:pt x="203" y="17"/>
                </a:lnTo>
                <a:lnTo>
                  <a:pt x="203" y="17"/>
                </a:lnTo>
                <a:lnTo>
                  <a:pt x="200" y="17"/>
                </a:lnTo>
                <a:lnTo>
                  <a:pt x="198" y="16"/>
                </a:lnTo>
                <a:lnTo>
                  <a:pt x="198" y="16"/>
                </a:lnTo>
                <a:lnTo>
                  <a:pt x="196" y="14"/>
                </a:lnTo>
                <a:lnTo>
                  <a:pt x="194" y="12"/>
                </a:lnTo>
                <a:lnTo>
                  <a:pt x="194" y="12"/>
                </a:lnTo>
                <a:lnTo>
                  <a:pt x="194" y="9"/>
                </a:lnTo>
                <a:lnTo>
                  <a:pt x="195" y="6"/>
                </a:lnTo>
                <a:lnTo>
                  <a:pt x="195" y="6"/>
                </a:lnTo>
                <a:lnTo>
                  <a:pt x="197" y="4"/>
                </a:lnTo>
                <a:lnTo>
                  <a:pt x="200" y="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sz="2400" kern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" name="Freeform 2591">
            <a:extLst>
              <a:ext uri="{FF2B5EF4-FFF2-40B4-BE49-F238E27FC236}">
                <a16:creationId xmlns:a16="http://schemas.microsoft.com/office/drawing/2014/main" id="{A2239428-C3DB-ED42-177D-F26E9B717437}"/>
              </a:ext>
            </a:extLst>
          </p:cNvPr>
          <p:cNvSpPr/>
          <p:nvPr/>
        </p:nvSpPr>
        <p:spPr bwMode="auto">
          <a:xfrm rot="5400000" flipH="1">
            <a:off x="4223083" y="5235067"/>
            <a:ext cx="747309" cy="1142441"/>
          </a:xfrm>
          <a:custGeom>
            <a:avLst/>
            <a:gdLst>
              <a:gd name="T0" fmla="*/ 209 w 313"/>
              <a:gd name="T1" fmla="*/ 1 h 370"/>
              <a:gd name="T2" fmla="*/ 260 w 313"/>
              <a:gd name="T3" fmla="*/ 0 h 370"/>
              <a:gd name="T4" fmla="*/ 294 w 313"/>
              <a:gd name="T5" fmla="*/ 3 h 370"/>
              <a:gd name="T6" fmla="*/ 306 w 313"/>
              <a:gd name="T7" fmla="*/ 8 h 370"/>
              <a:gd name="T8" fmla="*/ 312 w 313"/>
              <a:gd name="T9" fmla="*/ 13 h 370"/>
              <a:gd name="T10" fmla="*/ 313 w 313"/>
              <a:gd name="T11" fmla="*/ 20 h 370"/>
              <a:gd name="T12" fmla="*/ 303 w 313"/>
              <a:gd name="T13" fmla="*/ 39 h 370"/>
              <a:gd name="T14" fmla="*/ 259 w 313"/>
              <a:gd name="T15" fmla="*/ 98 h 370"/>
              <a:gd name="T16" fmla="*/ 254 w 313"/>
              <a:gd name="T17" fmla="*/ 102 h 370"/>
              <a:gd name="T18" fmla="*/ 249 w 313"/>
              <a:gd name="T19" fmla="*/ 101 h 370"/>
              <a:gd name="T20" fmla="*/ 245 w 313"/>
              <a:gd name="T21" fmla="*/ 97 h 370"/>
              <a:gd name="T22" fmla="*/ 246 w 313"/>
              <a:gd name="T23" fmla="*/ 92 h 370"/>
              <a:gd name="T24" fmla="*/ 276 w 313"/>
              <a:gd name="T25" fmla="*/ 51 h 370"/>
              <a:gd name="T26" fmla="*/ 292 w 313"/>
              <a:gd name="T27" fmla="*/ 31 h 370"/>
              <a:gd name="T28" fmla="*/ 230 w 313"/>
              <a:gd name="T29" fmla="*/ 51 h 370"/>
              <a:gd name="T30" fmla="*/ 192 w 313"/>
              <a:gd name="T31" fmla="*/ 69 h 370"/>
              <a:gd name="T32" fmla="*/ 137 w 313"/>
              <a:gd name="T33" fmla="*/ 102 h 370"/>
              <a:gd name="T34" fmla="*/ 104 w 313"/>
              <a:gd name="T35" fmla="*/ 129 h 370"/>
              <a:gd name="T36" fmla="*/ 74 w 313"/>
              <a:gd name="T37" fmla="*/ 161 h 370"/>
              <a:gd name="T38" fmla="*/ 38 w 313"/>
              <a:gd name="T39" fmla="*/ 214 h 370"/>
              <a:gd name="T40" fmla="*/ 22 w 313"/>
              <a:gd name="T41" fmla="*/ 252 h 370"/>
              <a:gd name="T42" fmla="*/ 14 w 313"/>
              <a:gd name="T43" fmla="*/ 304 h 370"/>
              <a:gd name="T44" fmla="*/ 17 w 313"/>
              <a:gd name="T45" fmla="*/ 322 h 370"/>
              <a:gd name="T46" fmla="*/ 29 w 313"/>
              <a:gd name="T47" fmla="*/ 342 h 370"/>
              <a:gd name="T48" fmla="*/ 48 w 313"/>
              <a:gd name="T49" fmla="*/ 356 h 370"/>
              <a:gd name="T50" fmla="*/ 52 w 313"/>
              <a:gd name="T51" fmla="*/ 360 h 370"/>
              <a:gd name="T52" fmla="*/ 52 w 313"/>
              <a:gd name="T53" fmla="*/ 365 h 370"/>
              <a:gd name="T54" fmla="*/ 48 w 313"/>
              <a:gd name="T55" fmla="*/ 369 h 370"/>
              <a:gd name="T56" fmla="*/ 42 w 313"/>
              <a:gd name="T57" fmla="*/ 369 h 370"/>
              <a:gd name="T58" fmla="*/ 25 w 313"/>
              <a:gd name="T59" fmla="*/ 359 h 370"/>
              <a:gd name="T60" fmla="*/ 7 w 313"/>
              <a:gd name="T61" fmla="*/ 336 h 370"/>
              <a:gd name="T62" fmla="*/ 0 w 313"/>
              <a:gd name="T63" fmla="*/ 305 h 370"/>
              <a:gd name="T64" fmla="*/ 0 w 313"/>
              <a:gd name="T65" fmla="*/ 286 h 370"/>
              <a:gd name="T66" fmla="*/ 15 w 313"/>
              <a:gd name="T67" fmla="*/ 227 h 370"/>
              <a:gd name="T68" fmla="*/ 36 w 313"/>
              <a:gd name="T69" fmla="*/ 188 h 370"/>
              <a:gd name="T70" fmla="*/ 62 w 313"/>
              <a:gd name="T71" fmla="*/ 152 h 370"/>
              <a:gd name="T72" fmla="*/ 110 w 313"/>
              <a:gd name="T73" fmla="*/ 105 h 370"/>
              <a:gd name="T74" fmla="*/ 146 w 313"/>
              <a:gd name="T75" fmla="*/ 79 h 370"/>
              <a:gd name="T76" fmla="*/ 204 w 313"/>
              <a:gd name="T77" fmla="*/ 47 h 370"/>
              <a:gd name="T78" fmla="*/ 244 w 313"/>
              <a:gd name="T79" fmla="*/ 30 h 370"/>
              <a:gd name="T80" fmla="*/ 286 w 313"/>
              <a:gd name="T81" fmla="*/ 17 h 370"/>
              <a:gd name="T82" fmla="*/ 259 w 313"/>
              <a:gd name="T83" fmla="*/ 15 h 370"/>
              <a:gd name="T84" fmla="*/ 203 w 313"/>
              <a:gd name="T85" fmla="*/ 17 h 370"/>
              <a:gd name="T86" fmla="*/ 198 w 313"/>
              <a:gd name="T87" fmla="*/ 16 h 370"/>
              <a:gd name="T88" fmla="*/ 194 w 313"/>
              <a:gd name="T89" fmla="*/ 12 h 370"/>
              <a:gd name="T90" fmla="*/ 195 w 313"/>
              <a:gd name="T91" fmla="*/ 6 h 370"/>
              <a:gd name="T92" fmla="*/ 200 w 313"/>
              <a:gd name="T93" fmla="*/ 3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13" h="370">
                <a:moveTo>
                  <a:pt x="200" y="3"/>
                </a:moveTo>
                <a:lnTo>
                  <a:pt x="200" y="3"/>
                </a:lnTo>
                <a:lnTo>
                  <a:pt x="209" y="1"/>
                </a:lnTo>
                <a:lnTo>
                  <a:pt x="222" y="0"/>
                </a:lnTo>
                <a:lnTo>
                  <a:pt x="239" y="0"/>
                </a:lnTo>
                <a:lnTo>
                  <a:pt x="260" y="0"/>
                </a:lnTo>
                <a:lnTo>
                  <a:pt x="260" y="0"/>
                </a:lnTo>
                <a:lnTo>
                  <a:pt x="279" y="1"/>
                </a:lnTo>
                <a:lnTo>
                  <a:pt x="294" y="3"/>
                </a:lnTo>
                <a:lnTo>
                  <a:pt x="294" y="3"/>
                </a:lnTo>
                <a:lnTo>
                  <a:pt x="301" y="5"/>
                </a:lnTo>
                <a:lnTo>
                  <a:pt x="306" y="8"/>
                </a:lnTo>
                <a:lnTo>
                  <a:pt x="306" y="8"/>
                </a:lnTo>
                <a:lnTo>
                  <a:pt x="310" y="10"/>
                </a:lnTo>
                <a:lnTo>
                  <a:pt x="312" y="13"/>
                </a:lnTo>
                <a:lnTo>
                  <a:pt x="313" y="17"/>
                </a:lnTo>
                <a:lnTo>
                  <a:pt x="313" y="20"/>
                </a:lnTo>
                <a:lnTo>
                  <a:pt x="313" y="20"/>
                </a:lnTo>
                <a:lnTo>
                  <a:pt x="310" y="28"/>
                </a:lnTo>
                <a:lnTo>
                  <a:pt x="303" y="39"/>
                </a:lnTo>
                <a:lnTo>
                  <a:pt x="303" y="39"/>
                </a:lnTo>
                <a:lnTo>
                  <a:pt x="287" y="60"/>
                </a:lnTo>
                <a:lnTo>
                  <a:pt x="287" y="60"/>
                </a:lnTo>
                <a:lnTo>
                  <a:pt x="259" y="98"/>
                </a:lnTo>
                <a:lnTo>
                  <a:pt x="259" y="98"/>
                </a:lnTo>
                <a:lnTo>
                  <a:pt x="257" y="101"/>
                </a:lnTo>
                <a:lnTo>
                  <a:pt x="254" y="102"/>
                </a:lnTo>
                <a:lnTo>
                  <a:pt x="254" y="102"/>
                </a:lnTo>
                <a:lnTo>
                  <a:pt x="251" y="102"/>
                </a:lnTo>
                <a:lnTo>
                  <a:pt x="249" y="101"/>
                </a:lnTo>
                <a:lnTo>
                  <a:pt x="249" y="101"/>
                </a:lnTo>
                <a:lnTo>
                  <a:pt x="247" y="99"/>
                </a:lnTo>
                <a:lnTo>
                  <a:pt x="245" y="97"/>
                </a:lnTo>
                <a:lnTo>
                  <a:pt x="245" y="97"/>
                </a:lnTo>
                <a:lnTo>
                  <a:pt x="245" y="94"/>
                </a:lnTo>
                <a:lnTo>
                  <a:pt x="246" y="92"/>
                </a:lnTo>
                <a:lnTo>
                  <a:pt x="246" y="92"/>
                </a:lnTo>
                <a:lnTo>
                  <a:pt x="255" y="78"/>
                </a:lnTo>
                <a:lnTo>
                  <a:pt x="276" y="51"/>
                </a:lnTo>
                <a:lnTo>
                  <a:pt x="276" y="51"/>
                </a:lnTo>
                <a:lnTo>
                  <a:pt x="292" y="31"/>
                </a:lnTo>
                <a:lnTo>
                  <a:pt x="292" y="31"/>
                </a:lnTo>
                <a:lnTo>
                  <a:pt x="271" y="37"/>
                </a:lnTo>
                <a:lnTo>
                  <a:pt x="250" y="43"/>
                </a:lnTo>
                <a:lnTo>
                  <a:pt x="230" y="51"/>
                </a:lnTo>
                <a:lnTo>
                  <a:pt x="211" y="60"/>
                </a:lnTo>
                <a:lnTo>
                  <a:pt x="211" y="60"/>
                </a:lnTo>
                <a:lnTo>
                  <a:pt x="192" y="69"/>
                </a:lnTo>
                <a:lnTo>
                  <a:pt x="173" y="79"/>
                </a:lnTo>
                <a:lnTo>
                  <a:pt x="155" y="90"/>
                </a:lnTo>
                <a:lnTo>
                  <a:pt x="137" y="102"/>
                </a:lnTo>
                <a:lnTo>
                  <a:pt x="137" y="102"/>
                </a:lnTo>
                <a:lnTo>
                  <a:pt x="120" y="115"/>
                </a:lnTo>
                <a:lnTo>
                  <a:pt x="104" y="129"/>
                </a:lnTo>
                <a:lnTo>
                  <a:pt x="88" y="144"/>
                </a:lnTo>
                <a:lnTo>
                  <a:pt x="74" y="161"/>
                </a:lnTo>
                <a:lnTo>
                  <a:pt x="74" y="161"/>
                </a:lnTo>
                <a:lnTo>
                  <a:pt x="60" y="178"/>
                </a:lnTo>
                <a:lnTo>
                  <a:pt x="48" y="196"/>
                </a:lnTo>
                <a:lnTo>
                  <a:pt x="38" y="214"/>
                </a:lnTo>
                <a:lnTo>
                  <a:pt x="29" y="233"/>
                </a:lnTo>
                <a:lnTo>
                  <a:pt x="29" y="233"/>
                </a:lnTo>
                <a:lnTo>
                  <a:pt x="22" y="252"/>
                </a:lnTo>
                <a:lnTo>
                  <a:pt x="17" y="270"/>
                </a:lnTo>
                <a:lnTo>
                  <a:pt x="15" y="287"/>
                </a:lnTo>
                <a:lnTo>
                  <a:pt x="14" y="304"/>
                </a:lnTo>
                <a:lnTo>
                  <a:pt x="14" y="304"/>
                </a:lnTo>
                <a:lnTo>
                  <a:pt x="15" y="313"/>
                </a:lnTo>
                <a:lnTo>
                  <a:pt x="17" y="322"/>
                </a:lnTo>
                <a:lnTo>
                  <a:pt x="20" y="329"/>
                </a:lnTo>
                <a:lnTo>
                  <a:pt x="24" y="336"/>
                </a:lnTo>
                <a:lnTo>
                  <a:pt x="29" y="342"/>
                </a:lnTo>
                <a:lnTo>
                  <a:pt x="34" y="347"/>
                </a:lnTo>
                <a:lnTo>
                  <a:pt x="41" y="352"/>
                </a:lnTo>
                <a:lnTo>
                  <a:pt x="48" y="356"/>
                </a:lnTo>
                <a:lnTo>
                  <a:pt x="48" y="356"/>
                </a:lnTo>
                <a:lnTo>
                  <a:pt x="50" y="357"/>
                </a:lnTo>
                <a:lnTo>
                  <a:pt x="52" y="360"/>
                </a:lnTo>
                <a:lnTo>
                  <a:pt x="52" y="360"/>
                </a:lnTo>
                <a:lnTo>
                  <a:pt x="52" y="362"/>
                </a:lnTo>
                <a:lnTo>
                  <a:pt x="52" y="365"/>
                </a:lnTo>
                <a:lnTo>
                  <a:pt x="52" y="365"/>
                </a:lnTo>
                <a:lnTo>
                  <a:pt x="50" y="367"/>
                </a:lnTo>
                <a:lnTo>
                  <a:pt x="48" y="369"/>
                </a:lnTo>
                <a:lnTo>
                  <a:pt x="48" y="369"/>
                </a:lnTo>
                <a:lnTo>
                  <a:pt x="45" y="370"/>
                </a:lnTo>
                <a:lnTo>
                  <a:pt x="42" y="369"/>
                </a:lnTo>
                <a:lnTo>
                  <a:pt x="42" y="369"/>
                </a:lnTo>
                <a:lnTo>
                  <a:pt x="33" y="365"/>
                </a:lnTo>
                <a:lnTo>
                  <a:pt x="25" y="359"/>
                </a:lnTo>
                <a:lnTo>
                  <a:pt x="18" y="352"/>
                </a:lnTo>
                <a:lnTo>
                  <a:pt x="12" y="345"/>
                </a:lnTo>
                <a:lnTo>
                  <a:pt x="7" y="336"/>
                </a:lnTo>
                <a:lnTo>
                  <a:pt x="3" y="327"/>
                </a:lnTo>
                <a:lnTo>
                  <a:pt x="1" y="316"/>
                </a:lnTo>
                <a:lnTo>
                  <a:pt x="0" y="305"/>
                </a:lnTo>
                <a:lnTo>
                  <a:pt x="0" y="305"/>
                </a:lnTo>
                <a:lnTo>
                  <a:pt x="0" y="296"/>
                </a:lnTo>
                <a:lnTo>
                  <a:pt x="0" y="286"/>
                </a:lnTo>
                <a:lnTo>
                  <a:pt x="3" y="267"/>
                </a:lnTo>
                <a:lnTo>
                  <a:pt x="8" y="248"/>
                </a:lnTo>
                <a:lnTo>
                  <a:pt x="15" y="227"/>
                </a:lnTo>
                <a:lnTo>
                  <a:pt x="15" y="227"/>
                </a:lnTo>
                <a:lnTo>
                  <a:pt x="25" y="207"/>
                </a:lnTo>
                <a:lnTo>
                  <a:pt x="36" y="188"/>
                </a:lnTo>
                <a:lnTo>
                  <a:pt x="48" y="170"/>
                </a:lnTo>
                <a:lnTo>
                  <a:pt x="62" y="152"/>
                </a:lnTo>
                <a:lnTo>
                  <a:pt x="62" y="152"/>
                </a:lnTo>
                <a:lnTo>
                  <a:pt x="78" y="135"/>
                </a:lnTo>
                <a:lnTo>
                  <a:pt x="93" y="119"/>
                </a:lnTo>
                <a:lnTo>
                  <a:pt x="110" y="105"/>
                </a:lnTo>
                <a:lnTo>
                  <a:pt x="128" y="91"/>
                </a:lnTo>
                <a:lnTo>
                  <a:pt x="128" y="91"/>
                </a:lnTo>
                <a:lnTo>
                  <a:pt x="146" y="79"/>
                </a:lnTo>
                <a:lnTo>
                  <a:pt x="165" y="67"/>
                </a:lnTo>
                <a:lnTo>
                  <a:pt x="184" y="57"/>
                </a:lnTo>
                <a:lnTo>
                  <a:pt x="204" y="47"/>
                </a:lnTo>
                <a:lnTo>
                  <a:pt x="204" y="47"/>
                </a:lnTo>
                <a:lnTo>
                  <a:pt x="224" y="38"/>
                </a:lnTo>
                <a:lnTo>
                  <a:pt x="244" y="30"/>
                </a:lnTo>
                <a:lnTo>
                  <a:pt x="265" y="23"/>
                </a:lnTo>
                <a:lnTo>
                  <a:pt x="286" y="17"/>
                </a:lnTo>
                <a:lnTo>
                  <a:pt x="286" y="17"/>
                </a:lnTo>
                <a:lnTo>
                  <a:pt x="274" y="16"/>
                </a:lnTo>
                <a:lnTo>
                  <a:pt x="259" y="15"/>
                </a:lnTo>
                <a:lnTo>
                  <a:pt x="259" y="15"/>
                </a:lnTo>
                <a:lnTo>
                  <a:pt x="224" y="15"/>
                </a:lnTo>
                <a:lnTo>
                  <a:pt x="212" y="15"/>
                </a:lnTo>
                <a:lnTo>
                  <a:pt x="203" y="17"/>
                </a:lnTo>
                <a:lnTo>
                  <a:pt x="203" y="17"/>
                </a:lnTo>
                <a:lnTo>
                  <a:pt x="200" y="17"/>
                </a:lnTo>
                <a:lnTo>
                  <a:pt x="198" y="16"/>
                </a:lnTo>
                <a:lnTo>
                  <a:pt x="198" y="16"/>
                </a:lnTo>
                <a:lnTo>
                  <a:pt x="196" y="14"/>
                </a:lnTo>
                <a:lnTo>
                  <a:pt x="194" y="12"/>
                </a:lnTo>
                <a:lnTo>
                  <a:pt x="194" y="12"/>
                </a:lnTo>
                <a:lnTo>
                  <a:pt x="194" y="9"/>
                </a:lnTo>
                <a:lnTo>
                  <a:pt x="195" y="6"/>
                </a:lnTo>
                <a:lnTo>
                  <a:pt x="195" y="6"/>
                </a:lnTo>
                <a:lnTo>
                  <a:pt x="197" y="4"/>
                </a:lnTo>
                <a:lnTo>
                  <a:pt x="200" y="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sz="2400" kern="120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9939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p15="http://schemas.microsoft.com/office/powerpoint/2012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1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8152C-E5BB-59F2-790A-BE3A7C792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CCA0CC1-670C-A9BA-1623-3075CF50984C}"/>
              </a:ext>
            </a:extLst>
          </p:cNvPr>
          <p:cNvGrpSpPr/>
          <p:nvPr/>
        </p:nvGrpSpPr>
        <p:grpSpPr>
          <a:xfrm>
            <a:off x="7122607" y="-4944730"/>
            <a:ext cx="6733272" cy="12595326"/>
            <a:chOff x="7122607" y="-4944730"/>
            <a:chExt cx="6733272" cy="12595326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E9D0814F-C7D2-BB38-65E2-9E31BF9335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195162" y="-4906223"/>
              <a:ext cx="3660717" cy="12556819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1D3E8B24-894D-1D4E-F172-2CE098DD9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7122607" y="-4944730"/>
              <a:ext cx="3660717" cy="12556819"/>
            </a:xfrm>
            <a:prstGeom prst="rect">
              <a:avLst/>
            </a:prstGeom>
          </p:spPr>
        </p:pic>
      </p:grpSp>
      <p:sp>
        <p:nvSpPr>
          <p:cNvPr id="3" name="Rectangle 17">
            <a:extLst>
              <a:ext uri="{FF2B5EF4-FFF2-40B4-BE49-F238E27FC236}">
                <a16:creationId xmlns:a16="http://schemas.microsoft.com/office/drawing/2014/main" id="{06487EBE-5F1C-3C1D-7BF9-DB7DAD30227B}"/>
              </a:ext>
            </a:extLst>
          </p:cNvPr>
          <p:cNvSpPr/>
          <p:nvPr/>
        </p:nvSpPr>
        <p:spPr>
          <a:xfrm>
            <a:off x="482145" y="720962"/>
            <a:ext cx="11709855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技术二：统一时序数据处理管道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</a:rPr>
              <a:t>时间戳记录到时序图序列</a:t>
            </a:r>
          </a:p>
        </p:txBody>
      </p:sp>
      <p:pic>
        <p:nvPicPr>
          <p:cNvPr id="5" name="图片 4" descr="表格&#10;&#10;AI 生成的内容可能不正确。">
            <a:extLst>
              <a:ext uri="{FF2B5EF4-FFF2-40B4-BE49-F238E27FC236}">
                <a16:creationId xmlns:a16="http://schemas.microsoft.com/office/drawing/2014/main" id="{57340778-04DF-8F6A-B28F-03A7902F0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64" y="1557942"/>
            <a:ext cx="4420599" cy="4773633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7D5383FE-FD05-FF91-4928-304C47E16F10}"/>
              </a:ext>
            </a:extLst>
          </p:cNvPr>
          <p:cNvGrpSpPr/>
          <p:nvPr/>
        </p:nvGrpSpPr>
        <p:grpSpPr>
          <a:xfrm>
            <a:off x="6067345" y="1690751"/>
            <a:ext cx="2885620" cy="3874788"/>
            <a:chOff x="7087107" y="1915333"/>
            <a:chExt cx="2885620" cy="3874788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099050F-E035-CC2F-894A-B927CCA30412}"/>
                </a:ext>
              </a:extLst>
            </p:cNvPr>
            <p:cNvSpPr txBox="1"/>
            <p:nvPr/>
          </p:nvSpPr>
          <p:spPr>
            <a:xfrm>
              <a:off x="7813251" y="1915333"/>
              <a:ext cx="1108873" cy="800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</a:rPr>
                <a:t>原始数据</a:t>
              </a:r>
              <a:endParaRPr lang="en-US" altLang="zh-CN" dirty="0">
                <a:solidFill>
                  <a:schemeClr val="bg1">
                    <a:lumMod val="95000"/>
                  </a:schemeClr>
                </a:solidFill>
              </a:endParaRPr>
            </a:p>
            <a:p>
              <a:pPr algn="ctr"/>
              <a:r>
                <a:rPr lang="zh-CN" altLang="en-US" sz="2800" dirty="0">
                  <a:solidFill>
                    <a:schemeClr val="bg1">
                      <a:lumMod val="95000"/>
                    </a:schemeClr>
                  </a:solidFill>
                </a:rPr>
                <a:t>↓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2E73246-CA35-CA1D-7417-F2817238396C}"/>
                </a:ext>
              </a:extLst>
            </p:cNvPr>
            <p:cNvSpPr txBox="1"/>
            <p:nvPr/>
          </p:nvSpPr>
          <p:spPr>
            <a:xfrm>
              <a:off x="7813250" y="2581716"/>
              <a:ext cx="1108873" cy="800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</a:rPr>
                <a:t>按月分组</a:t>
              </a:r>
              <a:r>
                <a:rPr lang="zh-CN" altLang="en-US" sz="2800" dirty="0">
                  <a:solidFill>
                    <a:schemeClr val="bg1">
                      <a:lumMod val="95000"/>
                    </a:schemeClr>
                  </a:solidFill>
                </a:rPr>
                <a:t>↓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E2DC505-6FC1-29FE-8D77-2E39523EB85B}"/>
                </a:ext>
              </a:extLst>
            </p:cNvPr>
            <p:cNvSpPr txBox="1"/>
            <p:nvPr/>
          </p:nvSpPr>
          <p:spPr>
            <a:xfrm>
              <a:off x="7580167" y="3342230"/>
              <a:ext cx="1575037" cy="800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</a:rPr>
                <a:t>并行图构建</a:t>
              </a:r>
              <a:endParaRPr lang="en-US" altLang="zh-CN" dirty="0">
                <a:solidFill>
                  <a:schemeClr val="bg1">
                    <a:lumMod val="95000"/>
                  </a:schemeClr>
                </a:solidFill>
              </a:endParaRPr>
            </a:p>
            <a:p>
              <a:pPr algn="ctr"/>
              <a:r>
                <a:rPr lang="zh-CN" altLang="en-US" sz="2800" dirty="0">
                  <a:solidFill>
                    <a:schemeClr val="bg1">
                      <a:lumMod val="95000"/>
                    </a:schemeClr>
                  </a:solidFill>
                </a:rPr>
                <a:t>↓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15E8CDA-14EB-EF5B-26F7-5A7F3C046659}"/>
                </a:ext>
              </a:extLst>
            </p:cNvPr>
            <p:cNvSpPr txBox="1"/>
            <p:nvPr/>
          </p:nvSpPr>
          <p:spPr>
            <a:xfrm>
              <a:off x="7087107" y="4048318"/>
              <a:ext cx="2561156" cy="800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</a:rPr>
                <a:t>时序图对象列表</a:t>
              </a:r>
              <a:endParaRPr lang="en-US" altLang="zh-CN" dirty="0">
                <a:solidFill>
                  <a:schemeClr val="bg1">
                    <a:lumMod val="95000"/>
                  </a:schemeClr>
                </a:solidFill>
              </a:endParaRPr>
            </a:p>
            <a:p>
              <a:pPr algn="ctr"/>
              <a:r>
                <a:rPr lang="zh-CN" altLang="en-US" sz="2800" dirty="0">
                  <a:solidFill>
                    <a:schemeClr val="bg1">
                      <a:lumMod val="95000"/>
                    </a:schemeClr>
                  </a:solidFill>
                </a:rPr>
                <a:t>↓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442045D-F3C6-B9DB-8C7C-F7947F272ABA}"/>
                </a:ext>
              </a:extLst>
            </p:cNvPr>
            <p:cNvSpPr txBox="1"/>
            <p:nvPr/>
          </p:nvSpPr>
          <p:spPr>
            <a:xfrm>
              <a:off x="7087107" y="4714701"/>
              <a:ext cx="2561156" cy="800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</a:rPr>
                <a:t>并行图指标计算</a:t>
              </a:r>
              <a:endParaRPr lang="en-US" altLang="zh-CN" dirty="0">
                <a:solidFill>
                  <a:schemeClr val="bg1">
                    <a:lumMod val="95000"/>
                  </a:schemeClr>
                </a:solidFill>
              </a:endParaRPr>
            </a:p>
            <a:p>
              <a:pPr algn="ctr"/>
              <a:r>
                <a:rPr lang="zh-CN" altLang="en-US" sz="2800" dirty="0">
                  <a:solidFill>
                    <a:schemeClr val="bg1">
                      <a:lumMod val="95000"/>
                    </a:schemeClr>
                  </a:solidFill>
                </a:rPr>
                <a:t>↓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F4B156E-0B89-4226-26FF-FEDCC91E94E6}"/>
                </a:ext>
              </a:extLst>
            </p:cNvPr>
            <p:cNvSpPr txBox="1"/>
            <p:nvPr/>
          </p:nvSpPr>
          <p:spPr>
            <a:xfrm>
              <a:off x="7156077" y="5420789"/>
              <a:ext cx="28166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</a:rPr>
                <a:t>结构化时序指标数据源</a:t>
              </a:r>
              <a:endParaRPr lang="zh-CN" altLang="en-US" sz="28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8330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p15="http://schemas.microsoft.com/office/powerpoint/2012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03160-0983-7400-D459-20649BB29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AB485390-1FA3-A1E6-FB1D-4E69D846F3B7}"/>
              </a:ext>
            </a:extLst>
          </p:cNvPr>
          <p:cNvGrpSpPr/>
          <p:nvPr/>
        </p:nvGrpSpPr>
        <p:grpSpPr>
          <a:xfrm>
            <a:off x="-7692168" y="3430410"/>
            <a:ext cx="24285839" cy="3710961"/>
            <a:chOff x="-7692168" y="3430410"/>
            <a:chExt cx="24285839" cy="3710961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CCD50324-E4E0-732F-A0B4-57DC7390A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8720490" y="-888409"/>
              <a:ext cx="3554361" cy="12192000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EEA9C0BD-C0CC-910A-D581-718A03BC7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-3373349" y="-731809"/>
              <a:ext cx="3554361" cy="12192000"/>
            </a:xfrm>
            <a:prstGeom prst="rect">
              <a:avLst/>
            </a:prstGeom>
          </p:spPr>
        </p:pic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40E3C0B2-C745-998B-98BA-26C60EB6E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393227" y="-731809"/>
            <a:ext cx="3554361" cy="12192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EC0F5D9-E255-D108-5641-F83476DF8F46}"/>
              </a:ext>
            </a:extLst>
          </p:cNvPr>
          <p:cNvSpPr txBox="1"/>
          <p:nvPr/>
        </p:nvSpPr>
        <p:spPr>
          <a:xfrm>
            <a:off x="4856181" y="18362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cs typeface="+mn-ea"/>
                <a:sym typeface="+mn-lt"/>
              </a:rPr>
              <a:t>分析计算层</a:t>
            </a:r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4F5E8208-29B5-3D49-01A2-E2F193B1B6F5}"/>
              </a:ext>
            </a:extLst>
          </p:cNvPr>
          <p:cNvSpPr/>
          <p:nvPr/>
        </p:nvSpPr>
        <p:spPr>
          <a:xfrm>
            <a:off x="730915" y="894501"/>
            <a:ext cx="11709855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技术一：社区发现、结构洞察</a:t>
            </a:r>
            <a:r>
              <a:rPr lang="en-US" altLang="zh-CN" sz="2400" b="1" dirty="0">
                <a:solidFill>
                  <a:schemeClr val="bg1"/>
                </a:solidFill>
              </a:rPr>
              <a:t>——Louvain</a:t>
            </a:r>
            <a:r>
              <a:rPr lang="zh-CN" altLang="en-US" sz="2400" b="1" dirty="0">
                <a:solidFill>
                  <a:schemeClr val="bg1"/>
                </a:solidFill>
              </a:rPr>
              <a:t>算法的运用</a:t>
            </a:r>
          </a:p>
        </p:txBody>
      </p:sp>
      <p:pic>
        <p:nvPicPr>
          <p:cNvPr id="5" name="图片 4" descr="文本, 信件">
            <a:extLst>
              <a:ext uri="{FF2B5EF4-FFF2-40B4-BE49-F238E27FC236}">
                <a16:creationId xmlns:a16="http://schemas.microsoft.com/office/drawing/2014/main" id="{DAD4806B-EEA1-AB9D-7505-4A30FCF39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3406" y="1432874"/>
            <a:ext cx="4363059" cy="1619476"/>
          </a:xfrm>
          <a:prstGeom prst="rect">
            <a:avLst/>
          </a:prstGeom>
        </p:spPr>
      </p:pic>
      <p:pic>
        <p:nvPicPr>
          <p:cNvPr id="7" name="图片 6" descr="图片包含 日历&#10;&#10;AI 生成的内容可能不正确。">
            <a:extLst>
              <a:ext uri="{FF2B5EF4-FFF2-40B4-BE49-F238E27FC236}">
                <a16:creationId xmlns:a16="http://schemas.microsoft.com/office/drawing/2014/main" id="{C2DB6502-145B-3275-6BA8-87EFE75C5C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3406" y="3274381"/>
            <a:ext cx="4560017" cy="314208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9FE5923-1E9E-F02D-F77F-8CCA26638AFC}"/>
              </a:ext>
            </a:extLst>
          </p:cNvPr>
          <p:cNvSpPr txBox="1"/>
          <p:nvPr/>
        </p:nvSpPr>
        <p:spPr>
          <a:xfrm>
            <a:off x="2568" y="3077085"/>
            <a:ext cx="43026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对每月的网络单独运行</a:t>
            </a:r>
            <a:r>
              <a:rPr lang="en-US" altLang="zh-CN" dirty="0">
                <a:solidFill>
                  <a:schemeClr val="bg1"/>
                </a:solidFill>
              </a:rPr>
              <a:t>Louvain</a:t>
            </a:r>
            <a:r>
              <a:rPr lang="zh-CN" altLang="en-US" dirty="0">
                <a:solidFill>
                  <a:schemeClr val="bg1"/>
                </a:solidFill>
              </a:rPr>
              <a:t>算法，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得到随时间演化的社区结构序列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05697C-7C1D-7093-85AD-D126AFA5B351}"/>
              </a:ext>
            </a:extLst>
          </p:cNvPr>
          <p:cNvSpPr txBox="1"/>
          <p:nvPr/>
        </p:nvSpPr>
        <p:spPr>
          <a:xfrm>
            <a:off x="2563934" y="1892362"/>
            <a:ext cx="4302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社区结构时序演化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475BE4-0ACD-A3C8-8B2D-1E5301D97157}"/>
              </a:ext>
            </a:extLst>
          </p:cNvPr>
          <p:cNvSpPr txBox="1"/>
          <p:nvPr/>
        </p:nvSpPr>
        <p:spPr>
          <a:xfrm>
            <a:off x="2489975" y="4702590"/>
            <a:ext cx="4302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人员流动桑基图数据基础</a:t>
            </a:r>
          </a:p>
        </p:txBody>
      </p:sp>
      <p:sp>
        <p:nvSpPr>
          <p:cNvPr id="22" name="Freeform 2591">
            <a:extLst>
              <a:ext uri="{FF2B5EF4-FFF2-40B4-BE49-F238E27FC236}">
                <a16:creationId xmlns:a16="http://schemas.microsoft.com/office/drawing/2014/main" id="{222A516D-2F79-AAD3-5B3D-1EE1EF64093C}"/>
              </a:ext>
            </a:extLst>
          </p:cNvPr>
          <p:cNvSpPr/>
          <p:nvPr/>
        </p:nvSpPr>
        <p:spPr bwMode="auto">
          <a:xfrm rot="3235373">
            <a:off x="4344172" y="2000399"/>
            <a:ext cx="839252" cy="1636521"/>
          </a:xfrm>
          <a:custGeom>
            <a:avLst/>
            <a:gdLst>
              <a:gd name="T0" fmla="*/ 209 w 313"/>
              <a:gd name="T1" fmla="*/ 1 h 370"/>
              <a:gd name="T2" fmla="*/ 260 w 313"/>
              <a:gd name="T3" fmla="*/ 0 h 370"/>
              <a:gd name="T4" fmla="*/ 294 w 313"/>
              <a:gd name="T5" fmla="*/ 3 h 370"/>
              <a:gd name="T6" fmla="*/ 306 w 313"/>
              <a:gd name="T7" fmla="*/ 8 h 370"/>
              <a:gd name="T8" fmla="*/ 312 w 313"/>
              <a:gd name="T9" fmla="*/ 13 h 370"/>
              <a:gd name="T10" fmla="*/ 313 w 313"/>
              <a:gd name="T11" fmla="*/ 20 h 370"/>
              <a:gd name="T12" fmla="*/ 303 w 313"/>
              <a:gd name="T13" fmla="*/ 39 h 370"/>
              <a:gd name="T14" fmla="*/ 259 w 313"/>
              <a:gd name="T15" fmla="*/ 98 h 370"/>
              <a:gd name="T16" fmla="*/ 254 w 313"/>
              <a:gd name="T17" fmla="*/ 102 h 370"/>
              <a:gd name="T18" fmla="*/ 249 w 313"/>
              <a:gd name="T19" fmla="*/ 101 h 370"/>
              <a:gd name="T20" fmla="*/ 245 w 313"/>
              <a:gd name="T21" fmla="*/ 97 h 370"/>
              <a:gd name="T22" fmla="*/ 246 w 313"/>
              <a:gd name="T23" fmla="*/ 92 h 370"/>
              <a:gd name="T24" fmla="*/ 276 w 313"/>
              <a:gd name="T25" fmla="*/ 51 h 370"/>
              <a:gd name="T26" fmla="*/ 292 w 313"/>
              <a:gd name="T27" fmla="*/ 31 h 370"/>
              <a:gd name="T28" fmla="*/ 230 w 313"/>
              <a:gd name="T29" fmla="*/ 51 h 370"/>
              <a:gd name="T30" fmla="*/ 192 w 313"/>
              <a:gd name="T31" fmla="*/ 69 h 370"/>
              <a:gd name="T32" fmla="*/ 137 w 313"/>
              <a:gd name="T33" fmla="*/ 102 h 370"/>
              <a:gd name="T34" fmla="*/ 104 w 313"/>
              <a:gd name="T35" fmla="*/ 129 h 370"/>
              <a:gd name="T36" fmla="*/ 74 w 313"/>
              <a:gd name="T37" fmla="*/ 161 h 370"/>
              <a:gd name="T38" fmla="*/ 38 w 313"/>
              <a:gd name="T39" fmla="*/ 214 h 370"/>
              <a:gd name="T40" fmla="*/ 22 w 313"/>
              <a:gd name="T41" fmla="*/ 252 h 370"/>
              <a:gd name="T42" fmla="*/ 14 w 313"/>
              <a:gd name="T43" fmla="*/ 304 h 370"/>
              <a:gd name="T44" fmla="*/ 17 w 313"/>
              <a:gd name="T45" fmla="*/ 322 h 370"/>
              <a:gd name="T46" fmla="*/ 29 w 313"/>
              <a:gd name="T47" fmla="*/ 342 h 370"/>
              <a:gd name="T48" fmla="*/ 48 w 313"/>
              <a:gd name="T49" fmla="*/ 356 h 370"/>
              <a:gd name="T50" fmla="*/ 52 w 313"/>
              <a:gd name="T51" fmla="*/ 360 h 370"/>
              <a:gd name="T52" fmla="*/ 52 w 313"/>
              <a:gd name="T53" fmla="*/ 365 h 370"/>
              <a:gd name="T54" fmla="*/ 48 w 313"/>
              <a:gd name="T55" fmla="*/ 369 h 370"/>
              <a:gd name="T56" fmla="*/ 42 w 313"/>
              <a:gd name="T57" fmla="*/ 369 h 370"/>
              <a:gd name="T58" fmla="*/ 25 w 313"/>
              <a:gd name="T59" fmla="*/ 359 h 370"/>
              <a:gd name="T60" fmla="*/ 7 w 313"/>
              <a:gd name="T61" fmla="*/ 336 h 370"/>
              <a:gd name="T62" fmla="*/ 0 w 313"/>
              <a:gd name="T63" fmla="*/ 305 h 370"/>
              <a:gd name="T64" fmla="*/ 0 w 313"/>
              <a:gd name="T65" fmla="*/ 286 h 370"/>
              <a:gd name="T66" fmla="*/ 15 w 313"/>
              <a:gd name="T67" fmla="*/ 227 h 370"/>
              <a:gd name="T68" fmla="*/ 36 w 313"/>
              <a:gd name="T69" fmla="*/ 188 h 370"/>
              <a:gd name="T70" fmla="*/ 62 w 313"/>
              <a:gd name="T71" fmla="*/ 152 h 370"/>
              <a:gd name="T72" fmla="*/ 110 w 313"/>
              <a:gd name="T73" fmla="*/ 105 h 370"/>
              <a:gd name="T74" fmla="*/ 146 w 313"/>
              <a:gd name="T75" fmla="*/ 79 h 370"/>
              <a:gd name="T76" fmla="*/ 204 w 313"/>
              <a:gd name="T77" fmla="*/ 47 h 370"/>
              <a:gd name="T78" fmla="*/ 244 w 313"/>
              <a:gd name="T79" fmla="*/ 30 h 370"/>
              <a:gd name="T80" fmla="*/ 286 w 313"/>
              <a:gd name="T81" fmla="*/ 17 h 370"/>
              <a:gd name="T82" fmla="*/ 259 w 313"/>
              <a:gd name="T83" fmla="*/ 15 h 370"/>
              <a:gd name="T84" fmla="*/ 203 w 313"/>
              <a:gd name="T85" fmla="*/ 17 h 370"/>
              <a:gd name="T86" fmla="*/ 198 w 313"/>
              <a:gd name="T87" fmla="*/ 16 h 370"/>
              <a:gd name="T88" fmla="*/ 194 w 313"/>
              <a:gd name="T89" fmla="*/ 12 h 370"/>
              <a:gd name="T90" fmla="*/ 195 w 313"/>
              <a:gd name="T91" fmla="*/ 6 h 370"/>
              <a:gd name="T92" fmla="*/ 200 w 313"/>
              <a:gd name="T93" fmla="*/ 3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13" h="370">
                <a:moveTo>
                  <a:pt x="200" y="3"/>
                </a:moveTo>
                <a:lnTo>
                  <a:pt x="200" y="3"/>
                </a:lnTo>
                <a:lnTo>
                  <a:pt x="209" y="1"/>
                </a:lnTo>
                <a:lnTo>
                  <a:pt x="222" y="0"/>
                </a:lnTo>
                <a:lnTo>
                  <a:pt x="239" y="0"/>
                </a:lnTo>
                <a:lnTo>
                  <a:pt x="260" y="0"/>
                </a:lnTo>
                <a:lnTo>
                  <a:pt x="260" y="0"/>
                </a:lnTo>
                <a:lnTo>
                  <a:pt x="279" y="1"/>
                </a:lnTo>
                <a:lnTo>
                  <a:pt x="294" y="3"/>
                </a:lnTo>
                <a:lnTo>
                  <a:pt x="294" y="3"/>
                </a:lnTo>
                <a:lnTo>
                  <a:pt x="301" y="5"/>
                </a:lnTo>
                <a:lnTo>
                  <a:pt x="306" y="8"/>
                </a:lnTo>
                <a:lnTo>
                  <a:pt x="306" y="8"/>
                </a:lnTo>
                <a:lnTo>
                  <a:pt x="310" y="10"/>
                </a:lnTo>
                <a:lnTo>
                  <a:pt x="312" y="13"/>
                </a:lnTo>
                <a:lnTo>
                  <a:pt x="313" y="17"/>
                </a:lnTo>
                <a:lnTo>
                  <a:pt x="313" y="20"/>
                </a:lnTo>
                <a:lnTo>
                  <a:pt x="313" y="20"/>
                </a:lnTo>
                <a:lnTo>
                  <a:pt x="310" y="28"/>
                </a:lnTo>
                <a:lnTo>
                  <a:pt x="303" y="39"/>
                </a:lnTo>
                <a:lnTo>
                  <a:pt x="303" y="39"/>
                </a:lnTo>
                <a:lnTo>
                  <a:pt x="287" y="60"/>
                </a:lnTo>
                <a:lnTo>
                  <a:pt x="287" y="60"/>
                </a:lnTo>
                <a:lnTo>
                  <a:pt x="259" y="98"/>
                </a:lnTo>
                <a:lnTo>
                  <a:pt x="259" y="98"/>
                </a:lnTo>
                <a:lnTo>
                  <a:pt x="257" y="101"/>
                </a:lnTo>
                <a:lnTo>
                  <a:pt x="254" y="102"/>
                </a:lnTo>
                <a:lnTo>
                  <a:pt x="254" y="102"/>
                </a:lnTo>
                <a:lnTo>
                  <a:pt x="251" y="102"/>
                </a:lnTo>
                <a:lnTo>
                  <a:pt x="249" y="101"/>
                </a:lnTo>
                <a:lnTo>
                  <a:pt x="249" y="101"/>
                </a:lnTo>
                <a:lnTo>
                  <a:pt x="247" y="99"/>
                </a:lnTo>
                <a:lnTo>
                  <a:pt x="245" y="97"/>
                </a:lnTo>
                <a:lnTo>
                  <a:pt x="245" y="97"/>
                </a:lnTo>
                <a:lnTo>
                  <a:pt x="245" y="94"/>
                </a:lnTo>
                <a:lnTo>
                  <a:pt x="246" y="92"/>
                </a:lnTo>
                <a:lnTo>
                  <a:pt x="246" y="92"/>
                </a:lnTo>
                <a:lnTo>
                  <a:pt x="255" y="78"/>
                </a:lnTo>
                <a:lnTo>
                  <a:pt x="276" y="51"/>
                </a:lnTo>
                <a:lnTo>
                  <a:pt x="276" y="51"/>
                </a:lnTo>
                <a:lnTo>
                  <a:pt x="292" y="31"/>
                </a:lnTo>
                <a:lnTo>
                  <a:pt x="292" y="31"/>
                </a:lnTo>
                <a:lnTo>
                  <a:pt x="271" y="37"/>
                </a:lnTo>
                <a:lnTo>
                  <a:pt x="250" y="43"/>
                </a:lnTo>
                <a:lnTo>
                  <a:pt x="230" y="51"/>
                </a:lnTo>
                <a:lnTo>
                  <a:pt x="211" y="60"/>
                </a:lnTo>
                <a:lnTo>
                  <a:pt x="211" y="60"/>
                </a:lnTo>
                <a:lnTo>
                  <a:pt x="192" y="69"/>
                </a:lnTo>
                <a:lnTo>
                  <a:pt x="173" y="79"/>
                </a:lnTo>
                <a:lnTo>
                  <a:pt x="155" y="90"/>
                </a:lnTo>
                <a:lnTo>
                  <a:pt x="137" y="102"/>
                </a:lnTo>
                <a:lnTo>
                  <a:pt x="137" y="102"/>
                </a:lnTo>
                <a:lnTo>
                  <a:pt x="120" y="115"/>
                </a:lnTo>
                <a:lnTo>
                  <a:pt x="104" y="129"/>
                </a:lnTo>
                <a:lnTo>
                  <a:pt x="88" y="144"/>
                </a:lnTo>
                <a:lnTo>
                  <a:pt x="74" y="161"/>
                </a:lnTo>
                <a:lnTo>
                  <a:pt x="74" y="161"/>
                </a:lnTo>
                <a:lnTo>
                  <a:pt x="60" y="178"/>
                </a:lnTo>
                <a:lnTo>
                  <a:pt x="48" y="196"/>
                </a:lnTo>
                <a:lnTo>
                  <a:pt x="38" y="214"/>
                </a:lnTo>
                <a:lnTo>
                  <a:pt x="29" y="233"/>
                </a:lnTo>
                <a:lnTo>
                  <a:pt x="29" y="233"/>
                </a:lnTo>
                <a:lnTo>
                  <a:pt x="22" y="252"/>
                </a:lnTo>
                <a:lnTo>
                  <a:pt x="17" y="270"/>
                </a:lnTo>
                <a:lnTo>
                  <a:pt x="15" y="287"/>
                </a:lnTo>
                <a:lnTo>
                  <a:pt x="14" y="304"/>
                </a:lnTo>
                <a:lnTo>
                  <a:pt x="14" y="304"/>
                </a:lnTo>
                <a:lnTo>
                  <a:pt x="15" y="313"/>
                </a:lnTo>
                <a:lnTo>
                  <a:pt x="17" y="322"/>
                </a:lnTo>
                <a:lnTo>
                  <a:pt x="20" y="329"/>
                </a:lnTo>
                <a:lnTo>
                  <a:pt x="24" y="336"/>
                </a:lnTo>
                <a:lnTo>
                  <a:pt x="29" y="342"/>
                </a:lnTo>
                <a:lnTo>
                  <a:pt x="34" y="347"/>
                </a:lnTo>
                <a:lnTo>
                  <a:pt x="41" y="352"/>
                </a:lnTo>
                <a:lnTo>
                  <a:pt x="48" y="356"/>
                </a:lnTo>
                <a:lnTo>
                  <a:pt x="48" y="356"/>
                </a:lnTo>
                <a:lnTo>
                  <a:pt x="50" y="357"/>
                </a:lnTo>
                <a:lnTo>
                  <a:pt x="52" y="360"/>
                </a:lnTo>
                <a:lnTo>
                  <a:pt x="52" y="360"/>
                </a:lnTo>
                <a:lnTo>
                  <a:pt x="52" y="362"/>
                </a:lnTo>
                <a:lnTo>
                  <a:pt x="52" y="365"/>
                </a:lnTo>
                <a:lnTo>
                  <a:pt x="52" y="365"/>
                </a:lnTo>
                <a:lnTo>
                  <a:pt x="50" y="367"/>
                </a:lnTo>
                <a:lnTo>
                  <a:pt x="48" y="369"/>
                </a:lnTo>
                <a:lnTo>
                  <a:pt x="48" y="369"/>
                </a:lnTo>
                <a:lnTo>
                  <a:pt x="45" y="370"/>
                </a:lnTo>
                <a:lnTo>
                  <a:pt x="42" y="369"/>
                </a:lnTo>
                <a:lnTo>
                  <a:pt x="42" y="369"/>
                </a:lnTo>
                <a:lnTo>
                  <a:pt x="33" y="365"/>
                </a:lnTo>
                <a:lnTo>
                  <a:pt x="25" y="359"/>
                </a:lnTo>
                <a:lnTo>
                  <a:pt x="18" y="352"/>
                </a:lnTo>
                <a:lnTo>
                  <a:pt x="12" y="345"/>
                </a:lnTo>
                <a:lnTo>
                  <a:pt x="7" y="336"/>
                </a:lnTo>
                <a:lnTo>
                  <a:pt x="3" y="327"/>
                </a:lnTo>
                <a:lnTo>
                  <a:pt x="1" y="316"/>
                </a:lnTo>
                <a:lnTo>
                  <a:pt x="0" y="305"/>
                </a:lnTo>
                <a:lnTo>
                  <a:pt x="0" y="305"/>
                </a:lnTo>
                <a:lnTo>
                  <a:pt x="0" y="296"/>
                </a:lnTo>
                <a:lnTo>
                  <a:pt x="0" y="286"/>
                </a:lnTo>
                <a:lnTo>
                  <a:pt x="3" y="267"/>
                </a:lnTo>
                <a:lnTo>
                  <a:pt x="8" y="248"/>
                </a:lnTo>
                <a:lnTo>
                  <a:pt x="15" y="227"/>
                </a:lnTo>
                <a:lnTo>
                  <a:pt x="15" y="227"/>
                </a:lnTo>
                <a:lnTo>
                  <a:pt x="25" y="207"/>
                </a:lnTo>
                <a:lnTo>
                  <a:pt x="36" y="188"/>
                </a:lnTo>
                <a:lnTo>
                  <a:pt x="48" y="170"/>
                </a:lnTo>
                <a:lnTo>
                  <a:pt x="62" y="152"/>
                </a:lnTo>
                <a:lnTo>
                  <a:pt x="62" y="152"/>
                </a:lnTo>
                <a:lnTo>
                  <a:pt x="78" y="135"/>
                </a:lnTo>
                <a:lnTo>
                  <a:pt x="93" y="119"/>
                </a:lnTo>
                <a:lnTo>
                  <a:pt x="110" y="105"/>
                </a:lnTo>
                <a:lnTo>
                  <a:pt x="128" y="91"/>
                </a:lnTo>
                <a:lnTo>
                  <a:pt x="128" y="91"/>
                </a:lnTo>
                <a:lnTo>
                  <a:pt x="146" y="79"/>
                </a:lnTo>
                <a:lnTo>
                  <a:pt x="165" y="67"/>
                </a:lnTo>
                <a:lnTo>
                  <a:pt x="184" y="57"/>
                </a:lnTo>
                <a:lnTo>
                  <a:pt x="204" y="47"/>
                </a:lnTo>
                <a:lnTo>
                  <a:pt x="204" y="47"/>
                </a:lnTo>
                <a:lnTo>
                  <a:pt x="224" y="38"/>
                </a:lnTo>
                <a:lnTo>
                  <a:pt x="244" y="30"/>
                </a:lnTo>
                <a:lnTo>
                  <a:pt x="265" y="23"/>
                </a:lnTo>
                <a:lnTo>
                  <a:pt x="286" y="17"/>
                </a:lnTo>
                <a:lnTo>
                  <a:pt x="286" y="17"/>
                </a:lnTo>
                <a:lnTo>
                  <a:pt x="274" y="16"/>
                </a:lnTo>
                <a:lnTo>
                  <a:pt x="259" y="15"/>
                </a:lnTo>
                <a:lnTo>
                  <a:pt x="259" y="15"/>
                </a:lnTo>
                <a:lnTo>
                  <a:pt x="224" y="15"/>
                </a:lnTo>
                <a:lnTo>
                  <a:pt x="212" y="15"/>
                </a:lnTo>
                <a:lnTo>
                  <a:pt x="203" y="17"/>
                </a:lnTo>
                <a:lnTo>
                  <a:pt x="203" y="17"/>
                </a:lnTo>
                <a:lnTo>
                  <a:pt x="200" y="17"/>
                </a:lnTo>
                <a:lnTo>
                  <a:pt x="198" y="16"/>
                </a:lnTo>
                <a:lnTo>
                  <a:pt x="198" y="16"/>
                </a:lnTo>
                <a:lnTo>
                  <a:pt x="196" y="14"/>
                </a:lnTo>
                <a:lnTo>
                  <a:pt x="194" y="12"/>
                </a:lnTo>
                <a:lnTo>
                  <a:pt x="194" y="12"/>
                </a:lnTo>
                <a:lnTo>
                  <a:pt x="194" y="9"/>
                </a:lnTo>
                <a:lnTo>
                  <a:pt x="195" y="6"/>
                </a:lnTo>
                <a:lnTo>
                  <a:pt x="195" y="6"/>
                </a:lnTo>
                <a:lnTo>
                  <a:pt x="197" y="4"/>
                </a:lnTo>
                <a:lnTo>
                  <a:pt x="200" y="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sz="2400" kern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3" name="Freeform 2591">
            <a:extLst>
              <a:ext uri="{FF2B5EF4-FFF2-40B4-BE49-F238E27FC236}">
                <a16:creationId xmlns:a16="http://schemas.microsoft.com/office/drawing/2014/main" id="{D0B63CF8-7AA7-0A51-E4C8-D7353EB9367F}"/>
              </a:ext>
            </a:extLst>
          </p:cNvPr>
          <p:cNvSpPr/>
          <p:nvPr/>
        </p:nvSpPr>
        <p:spPr bwMode="auto">
          <a:xfrm rot="8319434" flipH="1">
            <a:off x="4189263" y="3308131"/>
            <a:ext cx="1199620" cy="1463604"/>
          </a:xfrm>
          <a:custGeom>
            <a:avLst/>
            <a:gdLst>
              <a:gd name="T0" fmla="*/ 209 w 313"/>
              <a:gd name="T1" fmla="*/ 1 h 370"/>
              <a:gd name="T2" fmla="*/ 260 w 313"/>
              <a:gd name="T3" fmla="*/ 0 h 370"/>
              <a:gd name="T4" fmla="*/ 294 w 313"/>
              <a:gd name="T5" fmla="*/ 3 h 370"/>
              <a:gd name="T6" fmla="*/ 306 w 313"/>
              <a:gd name="T7" fmla="*/ 8 h 370"/>
              <a:gd name="T8" fmla="*/ 312 w 313"/>
              <a:gd name="T9" fmla="*/ 13 h 370"/>
              <a:gd name="T10" fmla="*/ 313 w 313"/>
              <a:gd name="T11" fmla="*/ 20 h 370"/>
              <a:gd name="T12" fmla="*/ 303 w 313"/>
              <a:gd name="T13" fmla="*/ 39 h 370"/>
              <a:gd name="T14" fmla="*/ 259 w 313"/>
              <a:gd name="T15" fmla="*/ 98 h 370"/>
              <a:gd name="T16" fmla="*/ 254 w 313"/>
              <a:gd name="T17" fmla="*/ 102 h 370"/>
              <a:gd name="T18" fmla="*/ 249 w 313"/>
              <a:gd name="T19" fmla="*/ 101 h 370"/>
              <a:gd name="T20" fmla="*/ 245 w 313"/>
              <a:gd name="T21" fmla="*/ 97 h 370"/>
              <a:gd name="T22" fmla="*/ 246 w 313"/>
              <a:gd name="T23" fmla="*/ 92 h 370"/>
              <a:gd name="T24" fmla="*/ 276 w 313"/>
              <a:gd name="T25" fmla="*/ 51 h 370"/>
              <a:gd name="T26" fmla="*/ 292 w 313"/>
              <a:gd name="T27" fmla="*/ 31 h 370"/>
              <a:gd name="T28" fmla="*/ 230 w 313"/>
              <a:gd name="T29" fmla="*/ 51 h 370"/>
              <a:gd name="T30" fmla="*/ 192 w 313"/>
              <a:gd name="T31" fmla="*/ 69 h 370"/>
              <a:gd name="T32" fmla="*/ 137 w 313"/>
              <a:gd name="T33" fmla="*/ 102 h 370"/>
              <a:gd name="T34" fmla="*/ 104 w 313"/>
              <a:gd name="T35" fmla="*/ 129 h 370"/>
              <a:gd name="T36" fmla="*/ 74 w 313"/>
              <a:gd name="T37" fmla="*/ 161 h 370"/>
              <a:gd name="T38" fmla="*/ 38 w 313"/>
              <a:gd name="T39" fmla="*/ 214 h 370"/>
              <a:gd name="T40" fmla="*/ 22 w 313"/>
              <a:gd name="T41" fmla="*/ 252 h 370"/>
              <a:gd name="T42" fmla="*/ 14 w 313"/>
              <a:gd name="T43" fmla="*/ 304 h 370"/>
              <a:gd name="T44" fmla="*/ 17 w 313"/>
              <a:gd name="T45" fmla="*/ 322 h 370"/>
              <a:gd name="T46" fmla="*/ 29 w 313"/>
              <a:gd name="T47" fmla="*/ 342 h 370"/>
              <a:gd name="T48" fmla="*/ 48 w 313"/>
              <a:gd name="T49" fmla="*/ 356 h 370"/>
              <a:gd name="T50" fmla="*/ 52 w 313"/>
              <a:gd name="T51" fmla="*/ 360 h 370"/>
              <a:gd name="T52" fmla="*/ 52 w 313"/>
              <a:gd name="T53" fmla="*/ 365 h 370"/>
              <a:gd name="T54" fmla="*/ 48 w 313"/>
              <a:gd name="T55" fmla="*/ 369 h 370"/>
              <a:gd name="T56" fmla="*/ 42 w 313"/>
              <a:gd name="T57" fmla="*/ 369 h 370"/>
              <a:gd name="T58" fmla="*/ 25 w 313"/>
              <a:gd name="T59" fmla="*/ 359 h 370"/>
              <a:gd name="T60" fmla="*/ 7 w 313"/>
              <a:gd name="T61" fmla="*/ 336 h 370"/>
              <a:gd name="T62" fmla="*/ 0 w 313"/>
              <a:gd name="T63" fmla="*/ 305 h 370"/>
              <a:gd name="T64" fmla="*/ 0 w 313"/>
              <a:gd name="T65" fmla="*/ 286 h 370"/>
              <a:gd name="T66" fmla="*/ 15 w 313"/>
              <a:gd name="T67" fmla="*/ 227 h 370"/>
              <a:gd name="T68" fmla="*/ 36 w 313"/>
              <a:gd name="T69" fmla="*/ 188 h 370"/>
              <a:gd name="T70" fmla="*/ 62 w 313"/>
              <a:gd name="T71" fmla="*/ 152 h 370"/>
              <a:gd name="T72" fmla="*/ 110 w 313"/>
              <a:gd name="T73" fmla="*/ 105 h 370"/>
              <a:gd name="T74" fmla="*/ 146 w 313"/>
              <a:gd name="T75" fmla="*/ 79 h 370"/>
              <a:gd name="T76" fmla="*/ 204 w 313"/>
              <a:gd name="T77" fmla="*/ 47 h 370"/>
              <a:gd name="T78" fmla="*/ 244 w 313"/>
              <a:gd name="T79" fmla="*/ 30 h 370"/>
              <a:gd name="T80" fmla="*/ 286 w 313"/>
              <a:gd name="T81" fmla="*/ 17 h 370"/>
              <a:gd name="T82" fmla="*/ 259 w 313"/>
              <a:gd name="T83" fmla="*/ 15 h 370"/>
              <a:gd name="T84" fmla="*/ 203 w 313"/>
              <a:gd name="T85" fmla="*/ 17 h 370"/>
              <a:gd name="T86" fmla="*/ 198 w 313"/>
              <a:gd name="T87" fmla="*/ 16 h 370"/>
              <a:gd name="T88" fmla="*/ 194 w 313"/>
              <a:gd name="T89" fmla="*/ 12 h 370"/>
              <a:gd name="T90" fmla="*/ 195 w 313"/>
              <a:gd name="T91" fmla="*/ 6 h 370"/>
              <a:gd name="T92" fmla="*/ 200 w 313"/>
              <a:gd name="T93" fmla="*/ 3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13" h="370">
                <a:moveTo>
                  <a:pt x="200" y="3"/>
                </a:moveTo>
                <a:lnTo>
                  <a:pt x="200" y="3"/>
                </a:lnTo>
                <a:lnTo>
                  <a:pt x="209" y="1"/>
                </a:lnTo>
                <a:lnTo>
                  <a:pt x="222" y="0"/>
                </a:lnTo>
                <a:lnTo>
                  <a:pt x="239" y="0"/>
                </a:lnTo>
                <a:lnTo>
                  <a:pt x="260" y="0"/>
                </a:lnTo>
                <a:lnTo>
                  <a:pt x="260" y="0"/>
                </a:lnTo>
                <a:lnTo>
                  <a:pt x="279" y="1"/>
                </a:lnTo>
                <a:lnTo>
                  <a:pt x="294" y="3"/>
                </a:lnTo>
                <a:lnTo>
                  <a:pt x="294" y="3"/>
                </a:lnTo>
                <a:lnTo>
                  <a:pt x="301" y="5"/>
                </a:lnTo>
                <a:lnTo>
                  <a:pt x="306" y="8"/>
                </a:lnTo>
                <a:lnTo>
                  <a:pt x="306" y="8"/>
                </a:lnTo>
                <a:lnTo>
                  <a:pt x="310" y="10"/>
                </a:lnTo>
                <a:lnTo>
                  <a:pt x="312" y="13"/>
                </a:lnTo>
                <a:lnTo>
                  <a:pt x="313" y="17"/>
                </a:lnTo>
                <a:lnTo>
                  <a:pt x="313" y="20"/>
                </a:lnTo>
                <a:lnTo>
                  <a:pt x="313" y="20"/>
                </a:lnTo>
                <a:lnTo>
                  <a:pt x="310" y="28"/>
                </a:lnTo>
                <a:lnTo>
                  <a:pt x="303" y="39"/>
                </a:lnTo>
                <a:lnTo>
                  <a:pt x="303" y="39"/>
                </a:lnTo>
                <a:lnTo>
                  <a:pt x="287" y="60"/>
                </a:lnTo>
                <a:lnTo>
                  <a:pt x="287" y="60"/>
                </a:lnTo>
                <a:lnTo>
                  <a:pt x="259" y="98"/>
                </a:lnTo>
                <a:lnTo>
                  <a:pt x="259" y="98"/>
                </a:lnTo>
                <a:lnTo>
                  <a:pt x="257" y="101"/>
                </a:lnTo>
                <a:lnTo>
                  <a:pt x="254" y="102"/>
                </a:lnTo>
                <a:lnTo>
                  <a:pt x="254" y="102"/>
                </a:lnTo>
                <a:lnTo>
                  <a:pt x="251" y="102"/>
                </a:lnTo>
                <a:lnTo>
                  <a:pt x="249" y="101"/>
                </a:lnTo>
                <a:lnTo>
                  <a:pt x="249" y="101"/>
                </a:lnTo>
                <a:lnTo>
                  <a:pt x="247" y="99"/>
                </a:lnTo>
                <a:lnTo>
                  <a:pt x="245" y="97"/>
                </a:lnTo>
                <a:lnTo>
                  <a:pt x="245" y="97"/>
                </a:lnTo>
                <a:lnTo>
                  <a:pt x="245" y="94"/>
                </a:lnTo>
                <a:lnTo>
                  <a:pt x="246" y="92"/>
                </a:lnTo>
                <a:lnTo>
                  <a:pt x="246" y="92"/>
                </a:lnTo>
                <a:lnTo>
                  <a:pt x="255" y="78"/>
                </a:lnTo>
                <a:lnTo>
                  <a:pt x="276" y="51"/>
                </a:lnTo>
                <a:lnTo>
                  <a:pt x="276" y="51"/>
                </a:lnTo>
                <a:lnTo>
                  <a:pt x="292" y="31"/>
                </a:lnTo>
                <a:lnTo>
                  <a:pt x="292" y="31"/>
                </a:lnTo>
                <a:lnTo>
                  <a:pt x="271" y="37"/>
                </a:lnTo>
                <a:lnTo>
                  <a:pt x="250" y="43"/>
                </a:lnTo>
                <a:lnTo>
                  <a:pt x="230" y="51"/>
                </a:lnTo>
                <a:lnTo>
                  <a:pt x="211" y="60"/>
                </a:lnTo>
                <a:lnTo>
                  <a:pt x="211" y="60"/>
                </a:lnTo>
                <a:lnTo>
                  <a:pt x="192" y="69"/>
                </a:lnTo>
                <a:lnTo>
                  <a:pt x="173" y="79"/>
                </a:lnTo>
                <a:lnTo>
                  <a:pt x="155" y="90"/>
                </a:lnTo>
                <a:lnTo>
                  <a:pt x="137" y="102"/>
                </a:lnTo>
                <a:lnTo>
                  <a:pt x="137" y="102"/>
                </a:lnTo>
                <a:lnTo>
                  <a:pt x="120" y="115"/>
                </a:lnTo>
                <a:lnTo>
                  <a:pt x="104" y="129"/>
                </a:lnTo>
                <a:lnTo>
                  <a:pt x="88" y="144"/>
                </a:lnTo>
                <a:lnTo>
                  <a:pt x="74" y="161"/>
                </a:lnTo>
                <a:lnTo>
                  <a:pt x="74" y="161"/>
                </a:lnTo>
                <a:lnTo>
                  <a:pt x="60" y="178"/>
                </a:lnTo>
                <a:lnTo>
                  <a:pt x="48" y="196"/>
                </a:lnTo>
                <a:lnTo>
                  <a:pt x="38" y="214"/>
                </a:lnTo>
                <a:lnTo>
                  <a:pt x="29" y="233"/>
                </a:lnTo>
                <a:lnTo>
                  <a:pt x="29" y="233"/>
                </a:lnTo>
                <a:lnTo>
                  <a:pt x="22" y="252"/>
                </a:lnTo>
                <a:lnTo>
                  <a:pt x="17" y="270"/>
                </a:lnTo>
                <a:lnTo>
                  <a:pt x="15" y="287"/>
                </a:lnTo>
                <a:lnTo>
                  <a:pt x="14" y="304"/>
                </a:lnTo>
                <a:lnTo>
                  <a:pt x="14" y="304"/>
                </a:lnTo>
                <a:lnTo>
                  <a:pt x="15" y="313"/>
                </a:lnTo>
                <a:lnTo>
                  <a:pt x="17" y="322"/>
                </a:lnTo>
                <a:lnTo>
                  <a:pt x="20" y="329"/>
                </a:lnTo>
                <a:lnTo>
                  <a:pt x="24" y="336"/>
                </a:lnTo>
                <a:lnTo>
                  <a:pt x="29" y="342"/>
                </a:lnTo>
                <a:lnTo>
                  <a:pt x="34" y="347"/>
                </a:lnTo>
                <a:lnTo>
                  <a:pt x="41" y="352"/>
                </a:lnTo>
                <a:lnTo>
                  <a:pt x="48" y="356"/>
                </a:lnTo>
                <a:lnTo>
                  <a:pt x="48" y="356"/>
                </a:lnTo>
                <a:lnTo>
                  <a:pt x="50" y="357"/>
                </a:lnTo>
                <a:lnTo>
                  <a:pt x="52" y="360"/>
                </a:lnTo>
                <a:lnTo>
                  <a:pt x="52" y="360"/>
                </a:lnTo>
                <a:lnTo>
                  <a:pt x="52" y="362"/>
                </a:lnTo>
                <a:lnTo>
                  <a:pt x="52" y="365"/>
                </a:lnTo>
                <a:lnTo>
                  <a:pt x="52" y="365"/>
                </a:lnTo>
                <a:lnTo>
                  <a:pt x="50" y="367"/>
                </a:lnTo>
                <a:lnTo>
                  <a:pt x="48" y="369"/>
                </a:lnTo>
                <a:lnTo>
                  <a:pt x="48" y="369"/>
                </a:lnTo>
                <a:lnTo>
                  <a:pt x="45" y="370"/>
                </a:lnTo>
                <a:lnTo>
                  <a:pt x="42" y="369"/>
                </a:lnTo>
                <a:lnTo>
                  <a:pt x="42" y="369"/>
                </a:lnTo>
                <a:lnTo>
                  <a:pt x="33" y="365"/>
                </a:lnTo>
                <a:lnTo>
                  <a:pt x="25" y="359"/>
                </a:lnTo>
                <a:lnTo>
                  <a:pt x="18" y="352"/>
                </a:lnTo>
                <a:lnTo>
                  <a:pt x="12" y="345"/>
                </a:lnTo>
                <a:lnTo>
                  <a:pt x="7" y="336"/>
                </a:lnTo>
                <a:lnTo>
                  <a:pt x="3" y="327"/>
                </a:lnTo>
                <a:lnTo>
                  <a:pt x="1" y="316"/>
                </a:lnTo>
                <a:lnTo>
                  <a:pt x="0" y="305"/>
                </a:lnTo>
                <a:lnTo>
                  <a:pt x="0" y="305"/>
                </a:lnTo>
                <a:lnTo>
                  <a:pt x="0" y="296"/>
                </a:lnTo>
                <a:lnTo>
                  <a:pt x="0" y="286"/>
                </a:lnTo>
                <a:lnTo>
                  <a:pt x="3" y="267"/>
                </a:lnTo>
                <a:lnTo>
                  <a:pt x="8" y="248"/>
                </a:lnTo>
                <a:lnTo>
                  <a:pt x="15" y="227"/>
                </a:lnTo>
                <a:lnTo>
                  <a:pt x="15" y="227"/>
                </a:lnTo>
                <a:lnTo>
                  <a:pt x="25" y="207"/>
                </a:lnTo>
                <a:lnTo>
                  <a:pt x="36" y="188"/>
                </a:lnTo>
                <a:lnTo>
                  <a:pt x="48" y="170"/>
                </a:lnTo>
                <a:lnTo>
                  <a:pt x="62" y="152"/>
                </a:lnTo>
                <a:lnTo>
                  <a:pt x="62" y="152"/>
                </a:lnTo>
                <a:lnTo>
                  <a:pt x="78" y="135"/>
                </a:lnTo>
                <a:lnTo>
                  <a:pt x="93" y="119"/>
                </a:lnTo>
                <a:lnTo>
                  <a:pt x="110" y="105"/>
                </a:lnTo>
                <a:lnTo>
                  <a:pt x="128" y="91"/>
                </a:lnTo>
                <a:lnTo>
                  <a:pt x="128" y="91"/>
                </a:lnTo>
                <a:lnTo>
                  <a:pt x="146" y="79"/>
                </a:lnTo>
                <a:lnTo>
                  <a:pt x="165" y="67"/>
                </a:lnTo>
                <a:lnTo>
                  <a:pt x="184" y="57"/>
                </a:lnTo>
                <a:lnTo>
                  <a:pt x="204" y="47"/>
                </a:lnTo>
                <a:lnTo>
                  <a:pt x="204" y="47"/>
                </a:lnTo>
                <a:lnTo>
                  <a:pt x="224" y="38"/>
                </a:lnTo>
                <a:lnTo>
                  <a:pt x="244" y="30"/>
                </a:lnTo>
                <a:lnTo>
                  <a:pt x="265" y="23"/>
                </a:lnTo>
                <a:lnTo>
                  <a:pt x="286" y="17"/>
                </a:lnTo>
                <a:lnTo>
                  <a:pt x="286" y="17"/>
                </a:lnTo>
                <a:lnTo>
                  <a:pt x="274" y="16"/>
                </a:lnTo>
                <a:lnTo>
                  <a:pt x="259" y="15"/>
                </a:lnTo>
                <a:lnTo>
                  <a:pt x="259" y="15"/>
                </a:lnTo>
                <a:lnTo>
                  <a:pt x="224" y="15"/>
                </a:lnTo>
                <a:lnTo>
                  <a:pt x="212" y="15"/>
                </a:lnTo>
                <a:lnTo>
                  <a:pt x="203" y="17"/>
                </a:lnTo>
                <a:lnTo>
                  <a:pt x="203" y="17"/>
                </a:lnTo>
                <a:lnTo>
                  <a:pt x="200" y="17"/>
                </a:lnTo>
                <a:lnTo>
                  <a:pt x="198" y="16"/>
                </a:lnTo>
                <a:lnTo>
                  <a:pt x="198" y="16"/>
                </a:lnTo>
                <a:lnTo>
                  <a:pt x="196" y="14"/>
                </a:lnTo>
                <a:lnTo>
                  <a:pt x="194" y="12"/>
                </a:lnTo>
                <a:lnTo>
                  <a:pt x="194" y="12"/>
                </a:lnTo>
                <a:lnTo>
                  <a:pt x="194" y="9"/>
                </a:lnTo>
                <a:lnTo>
                  <a:pt x="195" y="6"/>
                </a:lnTo>
                <a:lnTo>
                  <a:pt x="195" y="6"/>
                </a:lnTo>
                <a:lnTo>
                  <a:pt x="197" y="4"/>
                </a:lnTo>
                <a:lnTo>
                  <a:pt x="200" y="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sz="2400" kern="120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4150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p15="http://schemas.microsoft.com/office/powerpoint/2012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A6A49-6B23-744F-D46C-6B39B4808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6257DFF-A9DF-8E50-16FE-80BE8122F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1746419">
            <a:off x="8844562" y="-20461"/>
            <a:ext cx="3469968" cy="11902521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EDE8B4A0-2B48-3A7C-B960-B73BBF61C9D8}"/>
              </a:ext>
            </a:extLst>
          </p:cNvPr>
          <p:cNvGrpSpPr/>
          <p:nvPr/>
        </p:nvGrpSpPr>
        <p:grpSpPr>
          <a:xfrm>
            <a:off x="-5617185" y="3802512"/>
            <a:ext cx="12919498" cy="3440672"/>
            <a:chOff x="-5617185" y="3802512"/>
            <a:chExt cx="12919498" cy="3440672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8EC55D2C-CC49-7A47-43CA-C2A024C7D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7835760">
              <a:off x="-2102071" y="835154"/>
              <a:ext cx="2892916" cy="9923144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06A984E6-7DB5-3CB4-29E5-EED9473A0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7892325">
              <a:off x="894283" y="287398"/>
              <a:ext cx="2892916" cy="9923144"/>
            </a:xfrm>
            <a:prstGeom prst="rect">
              <a:avLst/>
            </a:prstGeom>
          </p:spPr>
        </p:pic>
      </p:grpSp>
      <p:sp>
        <p:nvSpPr>
          <p:cNvPr id="2" name="Rectangle 17">
            <a:extLst>
              <a:ext uri="{FF2B5EF4-FFF2-40B4-BE49-F238E27FC236}">
                <a16:creationId xmlns:a16="http://schemas.microsoft.com/office/drawing/2014/main" id="{CEE4D691-A1E6-FF91-D309-A5646E72E94F}"/>
              </a:ext>
            </a:extLst>
          </p:cNvPr>
          <p:cNvSpPr/>
          <p:nvPr/>
        </p:nvSpPr>
        <p:spPr>
          <a:xfrm>
            <a:off x="607065" y="469872"/>
            <a:ext cx="11709855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技术二：关键节点识别、影响力衡量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en-US" altLang="zh-CN" sz="2400" b="1" dirty="0" err="1">
                <a:solidFill>
                  <a:schemeClr val="bg1"/>
                </a:solidFill>
              </a:rPr>
              <a:t>PangRank</a:t>
            </a:r>
            <a:r>
              <a:rPr lang="zh-CN" altLang="en-US" sz="2400" b="1" dirty="0">
                <a:solidFill>
                  <a:schemeClr val="bg1"/>
                </a:solidFill>
              </a:rPr>
              <a:t>算法和度中心性</a:t>
            </a:r>
          </a:p>
        </p:txBody>
      </p:sp>
      <p:pic>
        <p:nvPicPr>
          <p:cNvPr id="4" name="图片 3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8235D7BA-976C-9262-863A-1AF34CE9C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96" y="2452551"/>
            <a:ext cx="10450383" cy="195289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7FAFA1F-B051-2A8D-8D66-31AA3A30E583}"/>
              </a:ext>
            </a:extLst>
          </p:cNvPr>
          <p:cNvSpPr txBox="1"/>
          <p:nvPr/>
        </p:nvSpPr>
        <p:spPr>
          <a:xfrm>
            <a:off x="765606" y="1137465"/>
            <a:ext cx="62192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PageRank</a:t>
            </a:r>
            <a:r>
              <a:rPr lang="zh-CN" altLang="en-US" dirty="0">
                <a:solidFill>
                  <a:schemeClr val="bg1"/>
                </a:solidFill>
              </a:rPr>
              <a:t>识别节点基于网络结构的全局影响力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度中心性衡量节点的直接活跃度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介数中心性衡量节点在不同群体中的关键作用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C72F7A-0465-3C5D-0162-FF4EA7F8D5A2}"/>
              </a:ext>
            </a:extLst>
          </p:cNvPr>
          <p:cNvSpPr txBox="1"/>
          <p:nvPr/>
        </p:nvSpPr>
        <p:spPr>
          <a:xfrm>
            <a:off x="4416637" y="4748557"/>
            <a:ext cx="62192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我们利用</a:t>
            </a:r>
            <a:r>
              <a:rPr lang="en-US" altLang="zh-CN" dirty="0">
                <a:solidFill>
                  <a:schemeClr val="bg1"/>
                </a:solidFill>
              </a:rPr>
              <a:t>PageRank</a:t>
            </a:r>
            <a:r>
              <a:rPr lang="zh-CN" altLang="en-US" dirty="0">
                <a:solidFill>
                  <a:schemeClr val="bg1"/>
                </a:solidFill>
              </a:rPr>
              <a:t>值排位开发者的贡献，同时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计算度中心性和介数中心性来综合为一位开发者的定位：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PageRank</a:t>
            </a:r>
            <a:r>
              <a:rPr lang="zh-CN" altLang="en-US" dirty="0">
                <a:solidFill>
                  <a:schemeClr val="bg1"/>
                </a:solidFill>
              </a:rPr>
              <a:t>值高 → 技术大佬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度中心性高 → 和团队其他人的协作关系强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介数中心性高 → 跨模块协作能力强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48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p15="http://schemas.microsoft.com/office/powerpoint/2012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11892-8FFA-935B-8E24-6E8EB627E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5273C69B-3ED8-C0F6-C9D3-2C45DCBEE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843966">
            <a:off x="8698862" y="-5041656"/>
            <a:ext cx="3469968" cy="11902521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78F7E50A-EAC7-E900-F833-009614442684}"/>
              </a:ext>
            </a:extLst>
          </p:cNvPr>
          <p:cNvGrpSpPr/>
          <p:nvPr/>
        </p:nvGrpSpPr>
        <p:grpSpPr>
          <a:xfrm rot="19129589">
            <a:off x="1221705" y="4930477"/>
            <a:ext cx="12919498" cy="3440672"/>
            <a:chOff x="-5617185" y="3802512"/>
            <a:chExt cx="12919498" cy="3440672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9FB946AE-7733-C20A-7544-1CDCF8A66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7835760">
              <a:off x="-2102071" y="835154"/>
              <a:ext cx="2892916" cy="9923144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D65C244F-2E4E-512D-3D14-6C39F6706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7892325">
              <a:off x="894283" y="287398"/>
              <a:ext cx="2892916" cy="9923144"/>
            </a:xfrm>
            <a:prstGeom prst="rect">
              <a:avLst/>
            </a:prstGeom>
          </p:spPr>
        </p:pic>
      </p:grpSp>
      <p:sp>
        <p:nvSpPr>
          <p:cNvPr id="2" name="Rectangle 17">
            <a:extLst>
              <a:ext uri="{FF2B5EF4-FFF2-40B4-BE49-F238E27FC236}">
                <a16:creationId xmlns:a16="http://schemas.microsoft.com/office/drawing/2014/main" id="{C3BC916B-6050-5DDC-AC36-2573CF59E393}"/>
              </a:ext>
            </a:extLst>
          </p:cNvPr>
          <p:cNvSpPr/>
          <p:nvPr/>
        </p:nvSpPr>
        <p:spPr>
          <a:xfrm>
            <a:off x="328770" y="400760"/>
            <a:ext cx="11709855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技术三：时序指标计算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</a:rPr>
              <a:t>量化演化的核心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282A6AD-01F0-8BBF-B45B-27F8D2DC8CE0}"/>
              </a:ext>
            </a:extLst>
          </p:cNvPr>
          <p:cNvSpPr txBox="1"/>
          <p:nvPr/>
        </p:nvSpPr>
        <p:spPr>
          <a:xfrm>
            <a:off x="278296" y="2740728"/>
            <a:ext cx="7056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i="0" dirty="0">
                <a:solidFill>
                  <a:srgbClr val="F9FAFB"/>
                </a:solidFill>
                <a:effectLst/>
                <a:latin typeface="quote-cjk-patch"/>
              </a:rPr>
              <a:t>活动级指标</a:t>
            </a:r>
            <a:r>
              <a:rPr lang="zh-CN" altLang="en-US" sz="1600" b="0" i="0" dirty="0">
                <a:solidFill>
                  <a:srgbClr val="F9FAFB"/>
                </a:solidFill>
                <a:effectLst/>
                <a:latin typeface="quote-cjk-patch"/>
              </a:rPr>
              <a:t>：月度协作事件总数、活跃开发者数、平均协作权重</a:t>
            </a:r>
            <a:endParaRPr lang="zh-CN" altLang="en-US" sz="1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CDA494-5A58-98BD-6952-D97527AB5B31}"/>
              </a:ext>
            </a:extLst>
          </p:cNvPr>
          <p:cNvSpPr txBox="1"/>
          <p:nvPr/>
        </p:nvSpPr>
        <p:spPr>
          <a:xfrm>
            <a:off x="438978" y="918495"/>
            <a:ext cx="1070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F9FAFB"/>
                </a:solidFill>
                <a:effectLst/>
                <a:latin typeface="quote-cjk-patch"/>
              </a:rPr>
              <a:t>将抽象的“网络演化”转化为</a:t>
            </a:r>
            <a:r>
              <a:rPr lang="zh-CN" altLang="en-US" b="1" i="0" dirty="0">
                <a:solidFill>
                  <a:srgbClr val="F9FAFB"/>
                </a:solidFill>
                <a:effectLst/>
                <a:latin typeface="quote-cjk-patch"/>
              </a:rPr>
              <a:t>可被图表直观展示的时间序列数据</a:t>
            </a:r>
            <a:r>
              <a:rPr lang="zh-CN" altLang="en-US" b="0" i="0" dirty="0">
                <a:solidFill>
                  <a:srgbClr val="F9FAFB"/>
                </a:solidFill>
                <a:effectLst/>
                <a:latin typeface="quote-cjk-patch"/>
              </a:rPr>
              <a:t>，是制作趋势仪表盘的基石</a:t>
            </a:r>
            <a:endParaRPr lang="zh-CN" altLang="en-US" dirty="0"/>
          </a:p>
        </p:txBody>
      </p:sp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C53F39F4-4CA5-6F7E-0469-B0194F081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04" y="1599981"/>
            <a:ext cx="6170247" cy="986201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A29922F4-3C87-3031-5594-6A53E0ED1430}"/>
              </a:ext>
            </a:extLst>
          </p:cNvPr>
          <p:cNvGrpSpPr/>
          <p:nvPr/>
        </p:nvGrpSpPr>
        <p:grpSpPr>
          <a:xfrm>
            <a:off x="6534978" y="2882991"/>
            <a:ext cx="6756952" cy="1791455"/>
            <a:chOff x="6481969" y="2183555"/>
            <a:chExt cx="6756952" cy="1791455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F83AB99-0759-CFCE-DCA0-6F2283CCAE45}"/>
                </a:ext>
              </a:extLst>
            </p:cNvPr>
            <p:cNvSpPr txBox="1"/>
            <p:nvPr/>
          </p:nvSpPr>
          <p:spPr>
            <a:xfrm>
              <a:off x="6481969" y="3636456"/>
              <a:ext cx="675695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社区级指标</a:t>
              </a:r>
              <a:r>
                <a:rPr lang="zh-CN" altLang="en-US" sz="1600" b="0" i="0" dirty="0">
                  <a:solidFill>
                    <a:srgbClr val="F9FAFB"/>
                  </a:solidFill>
                  <a:effectLst/>
                  <a:latin typeface="quote-cjk-patch"/>
                </a:rPr>
                <a:t>：每月社区数量、平均社区规模、社区规模标准差</a:t>
              </a:r>
              <a:endParaRPr lang="zh-CN" altLang="en-US" sz="1600" dirty="0"/>
            </a:p>
          </p:txBody>
        </p:sp>
        <p:pic>
          <p:nvPicPr>
            <p:cNvPr id="8" name="图片 7" descr="图形用户界面, 应用程序&#10;&#10;AI 生成的内容可能不正确。">
              <a:extLst>
                <a:ext uri="{FF2B5EF4-FFF2-40B4-BE49-F238E27FC236}">
                  <a16:creationId xmlns:a16="http://schemas.microsoft.com/office/drawing/2014/main" id="{BE0E21FC-5F33-4768-43CB-8C8577225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24479" y="2183555"/>
              <a:ext cx="4522246" cy="1255285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F0D9D3B-3D5B-C54D-C4B3-EA06F7C26C52}"/>
              </a:ext>
            </a:extLst>
          </p:cNvPr>
          <p:cNvGrpSpPr/>
          <p:nvPr/>
        </p:nvGrpSpPr>
        <p:grpSpPr>
          <a:xfrm>
            <a:off x="438978" y="4426090"/>
            <a:ext cx="6096000" cy="1663858"/>
            <a:chOff x="734435" y="3833535"/>
            <a:chExt cx="6096000" cy="1663858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396C364-5A6B-6EC3-153B-25EBFC864B8E}"/>
                </a:ext>
              </a:extLst>
            </p:cNvPr>
            <p:cNvSpPr txBox="1"/>
            <p:nvPr/>
          </p:nvSpPr>
          <p:spPr>
            <a:xfrm>
              <a:off x="734435" y="5158839"/>
              <a:ext cx="6096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网络级指标</a:t>
              </a:r>
              <a:r>
                <a:rPr lang="zh-CN" altLang="en-US" sz="1600" b="0" i="0" dirty="0">
                  <a:solidFill>
                    <a:srgbClr val="F9FAFB"/>
                  </a:solidFill>
                  <a:effectLst/>
                  <a:latin typeface="quote-cjk-patch"/>
                </a:rPr>
                <a:t>：每月网络密度、平均聚类系数、连通分量数</a:t>
              </a:r>
              <a:endParaRPr lang="zh-CN" altLang="en-US" sz="1600" dirty="0"/>
            </a:p>
          </p:txBody>
        </p:sp>
        <p:pic>
          <p:nvPicPr>
            <p:cNvPr id="11" name="图片 10" descr="图形用户界面, 应用程序&#10;&#10;AI 生成的内容可能不正确。">
              <a:extLst>
                <a:ext uri="{FF2B5EF4-FFF2-40B4-BE49-F238E27FC236}">
                  <a16:creationId xmlns:a16="http://schemas.microsoft.com/office/drawing/2014/main" id="{5AF46A4C-7C51-232E-F118-2AF31D0E2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4435" y="3833535"/>
              <a:ext cx="5245590" cy="1182440"/>
            </a:xfrm>
            <a:prstGeom prst="rect">
              <a:avLst/>
            </a:prstGeom>
          </p:spPr>
        </p:pic>
      </p:grpSp>
      <p:sp>
        <p:nvSpPr>
          <p:cNvPr id="15" name="Freeform 2591">
            <a:extLst>
              <a:ext uri="{FF2B5EF4-FFF2-40B4-BE49-F238E27FC236}">
                <a16:creationId xmlns:a16="http://schemas.microsoft.com/office/drawing/2014/main" id="{5170C05A-FFAC-792D-0647-F71EF949ACE0}"/>
              </a:ext>
            </a:extLst>
          </p:cNvPr>
          <p:cNvSpPr/>
          <p:nvPr/>
        </p:nvSpPr>
        <p:spPr bwMode="auto">
          <a:xfrm rot="5881782">
            <a:off x="6842207" y="1594190"/>
            <a:ext cx="839252" cy="1636521"/>
          </a:xfrm>
          <a:custGeom>
            <a:avLst/>
            <a:gdLst>
              <a:gd name="T0" fmla="*/ 209 w 313"/>
              <a:gd name="T1" fmla="*/ 1 h 370"/>
              <a:gd name="T2" fmla="*/ 260 w 313"/>
              <a:gd name="T3" fmla="*/ 0 h 370"/>
              <a:gd name="T4" fmla="*/ 294 w 313"/>
              <a:gd name="T5" fmla="*/ 3 h 370"/>
              <a:gd name="T6" fmla="*/ 306 w 313"/>
              <a:gd name="T7" fmla="*/ 8 h 370"/>
              <a:gd name="T8" fmla="*/ 312 w 313"/>
              <a:gd name="T9" fmla="*/ 13 h 370"/>
              <a:gd name="T10" fmla="*/ 313 w 313"/>
              <a:gd name="T11" fmla="*/ 20 h 370"/>
              <a:gd name="T12" fmla="*/ 303 w 313"/>
              <a:gd name="T13" fmla="*/ 39 h 370"/>
              <a:gd name="T14" fmla="*/ 259 w 313"/>
              <a:gd name="T15" fmla="*/ 98 h 370"/>
              <a:gd name="T16" fmla="*/ 254 w 313"/>
              <a:gd name="T17" fmla="*/ 102 h 370"/>
              <a:gd name="T18" fmla="*/ 249 w 313"/>
              <a:gd name="T19" fmla="*/ 101 h 370"/>
              <a:gd name="T20" fmla="*/ 245 w 313"/>
              <a:gd name="T21" fmla="*/ 97 h 370"/>
              <a:gd name="T22" fmla="*/ 246 w 313"/>
              <a:gd name="T23" fmla="*/ 92 h 370"/>
              <a:gd name="T24" fmla="*/ 276 w 313"/>
              <a:gd name="T25" fmla="*/ 51 h 370"/>
              <a:gd name="T26" fmla="*/ 292 w 313"/>
              <a:gd name="T27" fmla="*/ 31 h 370"/>
              <a:gd name="T28" fmla="*/ 230 w 313"/>
              <a:gd name="T29" fmla="*/ 51 h 370"/>
              <a:gd name="T30" fmla="*/ 192 w 313"/>
              <a:gd name="T31" fmla="*/ 69 h 370"/>
              <a:gd name="T32" fmla="*/ 137 w 313"/>
              <a:gd name="T33" fmla="*/ 102 h 370"/>
              <a:gd name="T34" fmla="*/ 104 w 313"/>
              <a:gd name="T35" fmla="*/ 129 h 370"/>
              <a:gd name="T36" fmla="*/ 74 w 313"/>
              <a:gd name="T37" fmla="*/ 161 h 370"/>
              <a:gd name="T38" fmla="*/ 38 w 313"/>
              <a:gd name="T39" fmla="*/ 214 h 370"/>
              <a:gd name="T40" fmla="*/ 22 w 313"/>
              <a:gd name="T41" fmla="*/ 252 h 370"/>
              <a:gd name="T42" fmla="*/ 14 w 313"/>
              <a:gd name="T43" fmla="*/ 304 h 370"/>
              <a:gd name="T44" fmla="*/ 17 w 313"/>
              <a:gd name="T45" fmla="*/ 322 h 370"/>
              <a:gd name="T46" fmla="*/ 29 w 313"/>
              <a:gd name="T47" fmla="*/ 342 h 370"/>
              <a:gd name="T48" fmla="*/ 48 w 313"/>
              <a:gd name="T49" fmla="*/ 356 h 370"/>
              <a:gd name="T50" fmla="*/ 52 w 313"/>
              <a:gd name="T51" fmla="*/ 360 h 370"/>
              <a:gd name="T52" fmla="*/ 52 w 313"/>
              <a:gd name="T53" fmla="*/ 365 h 370"/>
              <a:gd name="T54" fmla="*/ 48 w 313"/>
              <a:gd name="T55" fmla="*/ 369 h 370"/>
              <a:gd name="T56" fmla="*/ 42 w 313"/>
              <a:gd name="T57" fmla="*/ 369 h 370"/>
              <a:gd name="T58" fmla="*/ 25 w 313"/>
              <a:gd name="T59" fmla="*/ 359 h 370"/>
              <a:gd name="T60" fmla="*/ 7 w 313"/>
              <a:gd name="T61" fmla="*/ 336 h 370"/>
              <a:gd name="T62" fmla="*/ 0 w 313"/>
              <a:gd name="T63" fmla="*/ 305 h 370"/>
              <a:gd name="T64" fmla="*/ 0 w 313"/>
              <a:gd name="T65" fmla="*/ 286 h 370"/>
              <a:gd name="T66" fmla="*/ 15 w 313"/>
              <a:gd name="T67" fmla="*/ 227 h 370"/>
              <a:gd name="T68" fmla="*/ 36 w 313"/>
              <a:gd name="T69" fmla="*/ 188 h 370"/>
              <a:gd name="T70" fmla="*/ 62 w 313"/>
              <a:gd name="T71" fmla="*/ 152 h 370"/>
              <a:gd name="T72" fmla="*/ 110 w 313"/>
              <a:gd name="T73" fmla="*/ 105 h 370"/>
              <a:gd name="T74" fmla="*/ 146 w 313"/>
              <a:gd name="T75" fmla="*/ 79 h 370"/>
              <a:gd name="T76" fmla="*/ 204 w 313"/>
              <a:gd name="T77" fmla="*/ 47 h 370"/>
              <a:gd name="T78" fmla="*/ 244 w 313"/>
              <a:gd name="T79" fmla="*/ 30 h 370"/>
              <a:gd name="T80" fmla="*/ 286 w 313"/>
              <a:gd name="T81" fmla="*/ 17 h 370"/>
              <a:gd name="T82" fmla="*/ 259 w 313"/>
              <a:gd name="T83" fmla="*/ 15 h 370"/>
              <a:gd name="T84" fmla="*/ 203 w 313"/>
              <a:gd name="T85" fmla="*/ 17 h 370"/>
              <a:gd name="T86" fmla="*/ 198 w 313"/>
              <a:gd name="T87" fmla="*/ 16 h 370"/>
              <a:gd name="T88" fmla="*/ 194 w 313"/>
              <a:gd name="T89" fmla="*/ 12 h 370"/>
              <a:gd name="T90" fmla="*/ 195 w 313"/>
              <a:gd name="T91" fmla="*/ 6 h 370"/>
              <a:gd name="T92" fmla="*/ 200 w 313"/>
              <a:gd name="T93" fmla="*/ 3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13" h="370">
                <a:moveTo>
                  <a:pt x="200" y="3"/>
                </a:moveTo>
                <a:lnTo>
                  <a:pt x="200" y="3"/>
                </a:lnTo>
                <a:lnTo>
                  <a:pt x="209" y="1"/>
                </a:lnTo>
                <a:lnTo>
                  <a:pt x="222" y="0"/>
                </a:lnTo>
                <a:lnTo>
                  <a:pt x="239" y="0"/>
                </a:lnTo>
                <a:lnTo>
                  <a:pt x="260" y="0"/>
                </a:lnTo>
                <a:lnTo>
                  <a:pt x="260" y="0"/>
                </a:lnTo>
                <a:lnTo>
                  <a:pt x="279" y="1"/>
                </a:lnTo>
                <a:lnTo>
                  <a:pt x="294" y="3"/>
                </a:lnTo>
                <a:lnTo>
                  <a:pt x="294" y="3"/>
                </a:lnTo>
                <a:lnTo>
                  <a:pt x="301" y="5"/>
                </a:lnTo>
                <a:lnTo>
                  <a:pt x="306" y="8"/>
                </a:lnTo>
                <a:lnTo>
                  <a:pt x="306" y="8"/>
                </a:lnTo>
                <a:lnTo>
                  <a:pt x="310" y="10"/>
                </a:lnTo>
                <a:lnTo>
                  <a:pt x="312" y="13"/>
                </a:lnTo>
                <a:lnTo>
                  <a:pt x="313" y="17"/>
                </a:lnTo>
                <a:lnTo>
                  <a:pt x="313" y="20"/>
                </a:lnTo>
                <a:lnTo>
                  <a:pt x="313" y="20"/>
                </a:lnTo>
                <a:lnTo>
                  <a:pt x="310" y="28"/>
                </a:lnTo>
                <a:lnTo>
                  <a:pt x="303" y="39"/>
                </a:lnTo>
                <a:lnTo>
                  <a:pt x="303" y="39"/>
                </a:lnTo>
                <a:lnTo>
                  <a:pt x="287" y="60"/>
                </a:lnTo>
                <a:lnTo>
                  <a:pt x="287" y="60"/>
                </a:lnTo>
                <a:lnTo>
                  <a:pt x="259" y="98"/>
                </a:lnTo>
                <a:lnTo>
                  <a:pt x="259" y="98"/>
                </a:lnTo>
                <a:lnTo>
                  <a:pt x="257" y="101"/>
                </a:lnTo>
                <a:lnTo>
                  <a:pt x="254" y="102"/>
                </a:lnTo>
                <a:lnTo>
                  <a:pt x="254" y="102"/>
                </a:lnTo>
                <a:lnTo>
                  <a:pt x="251" y="102"/>
                </a:lnTo>
                <a:lnTo>
                  <a:pt x="249" y="101"/>
                </a:lnTo>
                <a:lnTo>
                  <a:pt x="249" y="101"/>
                </a:lnTo>
                <a:lnTo>
                  <a:pt x="247" y="99"/>
                </a:lnTo>
                <a:lnTo>
                  <a:pt x="245" y="97"/>
                </a:lnTo>
                <a:lnTo>
                  <a:pt x="245" y="97"/>
                </a:lnTo>
                <a:lnTo>
                  <a:pt x="245" y="94"/>
                </a:lnTo>
                <a:lnTo>
                  <a:pt x="246" y="92"/>
                </a:lnTo>
                <a:lnTo>
                  <a:pt x="246" y="92"/>
                </a:lnTo>
                <a:lnTo>
                  <a:pt x="255" y="78"/>
                </a:lnTo>
                <a:lnTo>
                  <a:pt x="276" y="51"/>
                </a:lnTo>
                <a:lnTo>
                  <a:pt x="276" y="51"/>
                </a:lnTo>
                <a:lnTo>
                  <a:pt x="292" y="31"/>
                </a:lnTo>
                <a:lnTo>
                  <a:pt x="292" y="31"/>
                </a:lnTo>
                <a:lnTo>
                  <a:pt x="271" y="37"/>
                </a:lnTo>
                <a:lnTo>
                  <a:pt x="250" y="43"/>
                </a:lnTo>
                <a:lnTo>
                  <a:pt x="230" y="51"/>
                </a:lnTo>
                <a:lnTo>
                  <a:pt x="211" y="60"/>
                </a:lnTo>
                <a:lnTo>
                  <a:pt x="211" y="60"/>
                </a:lnTo>
                <a:lnTo>
                  <a:pt x="192" y="69"/>
                </a:lnTo>
                <a:lnTo>
                  <a:pt x="173" y="79"/>
                </a:lnTo>
                <a:lnTo>
                  <a:pt x="155" y="90"/>
                </a:lnTo>
                <a:lnTo>
                  <a:pt x="137" y="102"/>
                </a:lnTo>
                <a:lnTo>
                  <a:pt x="137" y="102"/>
                </a:lnTo>
                <a:lnTo>
                  <a:pt x="120" y="115"/>
                </a:lnTo>
                <a:lnTo>
                  <a:pt x="104" y="129"/>
                </a:lnTo>
                <a:lnTo>
                  <a:pt x="88" y="144"/>
                </a:lnTo>
                <a:lnTo>
                  <a:pt x="74" y="161"/>
                </a:lnTo>
                <a:lnTo>
                  <a:pt x="74" y="161"/>
                </a:lnTo>
                <a:lnTo>
                  <a:pt x="60" y="178"/>
                </a:lnTo>
                <a:lnTo>
                  <a:pt x="48" y="196"/>
                </a:lnTo>
                <a:lnTo>
                  <a:pt x="38" y="214"/>
                </a:lnTo>
                <a:lnTo>
                  <a:pt x="29" y="233"/>
                </a:lnTo>
                <a:lnTo>
                  <a:pt x="29" y="233"/>
                </a:lnTo>
                <a:lnTo>
                  <a:pt x="22" y="252"/>
                </a:lnTo>
                <a:lnTo>
                  <a:pt x="17" y="270"/>
                </a:lnTo>
                <a:lnTo>
                  <a:pt x="15" y="287"/>
                </a:lnTo>
                <a:lnTo>
                  <a:pt x="14" y="304"/>
                </a:lnTo>
                <a:lnTo>
                  <a:pt x="14" y="304"/>
                </a:lnTo>
                <a:lnTo>
                  <a:pt x="15" y="313"/>
                </a:lnTo>
                <a:lnTo>
                  <a:pt x="17" y="322"/>
                </a:lnTo>
                <a:lnTo>
                  <a:pt x="20" y="329"/>
                </a:lnTo>
                <a:lnTo>
                  <a:pt x="24" y="336"/>
                </a:lnTo>
                <a:lnTo>
                  <a:pt x="29" y="342"/>
                </a:lnTo>
                <a:lnTo>
                  <a:pt x="34" y="347"/>
                </a:lnTo>
                <a:lnTo>
                  <a:pt x="41" y="352"/>
                </a:lnTo>
                <a:lnTo>
                  <a:pt x="48" y="356"/>
                </a:lnTo>
                <a:lnTo>
                  <a:pt x="48" y="356"/>
                </a:lnTo>
                <a:lnTo>
                  <a:pt x="50" y="357"/>
                </a:lnTo>
                <a:lnTo>
                  <a:pt x="52" y="360"/>
                </a:lnTo>
                <a:lnTo>
                  <a:pt x="52" y="360"/>
                </a:lnTo>
                <a:lnTo>
                  <a:pt x="52" y="362"/>
                </a:lnTo>
                <a:lnTo>
                  <a:pt x="52" y="365"/>
                </a:lnTo>
                <a:lnTo>
                  <a:pt x="52" y="365"/>
                </a:lnTo>
                <a:lnTo>
                  <a:pt x="50" y="367"/>
                </a:lnTo>
                <a:lnTo>
                  <a:pt x="48" y="369"/>
                </a:lnTo>
                <a:lnTo>
                  <a:pt x="48" y="369"/>
                </a:lnTo>
                <a:lnTo>
                  <a:pt x="45" y="370"/>
                </a:lnTo>
                <a:lnTo>
                  <a:pt x="42" y="369"/>
                </a:lnTo>
                <a:lnTo>
                  <a:pt x="42" y="369"/>
                </a:lnTo>
                <a:lnTo>
                  <a:pt x="33" y="365"/>
                </a:lnTo>
                <a:lnTo>
                  <a:pt x="25" y="359"/>
                </a:lnTo>
                <a:lnTo>
                  <a:pt x="18" y="352"/>
                </a:lnTo>
                <a:lnTo>
                  <a:pt x="12" y="345"/>
                </a:lnTo>
                <a:lnTo>
                  <a:pt x="7" y="336"/>
                </a:lnTo>
                <a:lnTo>
                  <a:pt x="3" y="327"/>
                </a:lnTo>
                <a:lnTo>
                  <a:pt x="1" y="316"/>
                </a:lnTo>
                <a:lnTo>
                  <a:pt x="0" y="305"/>
                </a:lnTo>
                <a:lnTo>
                  <a:pt x="0" y="305"/>
                </a:lnTo>
                <a:lnTo>
                  <a:pt x="0" y="296"/>
                </a:lnTo>
                <a:lnTo>
                  <a:pt x="0" y="286"/>
                </a:lnTo>
                <a:lnTo>
                  <a:pt x="3" y="267"/>
                </a:lnTo>
                <a:lnTo>
                  <a:pt x="8" y="248"/>
                </a:lnTo>
                <a:lnTo>
                  <a:pt x="15" y="227"/>
                </a:lnTo>
                <a:lnTo>
                  <a:pt x="15" y="227"/>
                </a:lnTo>
                <a:lnTo>
                  <a:pt x="25" y="207"/>
                </a:lnTo>
                <a:lnTo>
                  <a:pt x="36" y="188"/>
                </a:lnTo>
                <a:lnTo>
                  <a:pt x="48" y="170"/>
                </a:lnTo>
                <a:lnTo>
                  <a:pt x="62" y="152"/>
                </a:lnTo>
                <a:lnTo>
                  <a:pt x="62" y="152"/>
                </a:lnTo>
                <a:lnTo>
                  <a:pt x="78" y="135"/>
                </a:lnTo>
                <a:lnTo>
                  <a:pt x="93" y="119"/>
                </a:lnTo>
                <a:lnTo>
                  <a:pt x="110" y="105"/>
                </a:lnTo>
                <a:lnTo>
                  <a:pt x="128" y="91"/>
                </a:lnTo>
                <a:lnTo>
                  <a:pt x="128" y="91"/>
                </a:lnTo>
                <a:lnTo>
                  <a:pt x="146" y="79"/>
                </a:lnTo>
                <a:lnTo>
                  <a:pt x="165" y="67"/>
                </a:lnTo>
                <a:lnTo>
                  <a:pt x="184" y="57"/>
                </a:lnTo>
                <a:lnTo>
                  <a:pt x="204" y="47"/>
                </a:lnTo>
                <a:lnTo>
                  <a:pt x="204" y="47"/>
                </a:lnTo>
                <a:lnTo>
                  <a:pt x="224" y="38"/>
                </a:lnTo>
                <a:lnTo>
                  <a:pt x="244" y="30"/>
                </a:lnTo>
                <a:lnTo>
                  <a:pt x="265" y="23"/>
                </a:lnTo>
                <a:lnTo>
                  <a:pt x="286" y="17"/>
                </a:lnTo>
                <a:lnTo>
                  <a:pt x="286" y="17"/>
                </a:lnTo>
                <a:lnTo>
                  <a:pt x="274" y="16"/>
                </a:lnTo>
                <a:lnTo>
                  <a:pt x="259" y="15"/>
                </a:lnTo>
                <a:lnTo>
                  <a:pt x="259" y="15"/>
                </a:lnTo>
                <a:lnTo>
                  <a:pt x="224" y="15"/>
                </a:lnTo>
                <a:lnTo>
                  <a:pt x="212" y="15"/>
                </a:lnTo>
                <a:lnTo>
                  <a:pt x="203" y="17"/>
                </a:lnTo>
                <a:lnTo>
                  <a:pt x="203" y="17"/>
                </a:lnTo>
                <a:lnTo>
                  <a:pt x="200" y="17"/>
                </a:lnTo>
                <a:lnTo>
                  <a:pt x="198" y="16"/>
                </a:lnTo>
                <a:lnTo>
                  <a:pt x="198" y="16"/>
                </a:lnTo>
                <a:lnTo>
                  <a:pt x="196" y="14"/>
                </a:lnTo>
                <a:lnTo>
                  <a:pt x="194" y="12"/>
                </a:lnTo>
                <a:lnTo>
                  <a:pt x="194" y="12"/>
                </a:lnTo>
                <a:lnTo>
                  <a:pt x="194" y="9"/>
                </a:lnTo>
                <a:lnTo>
                  <a:pt x="195" y="6"/>
                </a:lnTo>
                <a:lnTo>
                  <a:pt x="195" y="6"/>
                </a:lnTo>
                <a:lnTo>
                  <a:pt x="197" y="4"/>
                </a:lnTo>
                <a:lnTo>
                  <a:pt x="200" y="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sz="2400" kern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Freeform 2591">
            <a:extLst>
              <a:ext uri="{FF2B5EF4-FFF2-40B4-BE49-F238E27FC236}">
                <a16:creationId xmlns:a16="http://schemas.microsoft.com/office/drawing/2014/main" id="{87D9315B-A945-4764-51D3-BA38F025605B}"/>
              </a:ext>
            </a:extLst>
          </p:cNvPr>
          <p:cNvSpPr/>
          <p:nvPr/>
        </p:nvSpPr>
        <p:spPr bwMode="auto">
          <a:xfrm rot="13565686">
            <a:off x="6252946" y="4320368"/>
            <a:ext cx="839252" cy="1636521"/>
          </a:xfrm>
          <a:custGeom>
            <a:avLst/>
            <a:gdLst>
              <a:gd name="T0" fmla="*/ 209 w 313"/>
              <a:gd name="T1" fmla="*/ 1 h 370"/>
              <a:gd name="T2" fmla="*/ 260 w 313"/>
              <a:gd name="T3" fmla="*/ 0 h 370"/>
              <a:gd name="T4" fmla="*/ 294 w 313"/>
              <a:gd name="T5" fmla="*/ 3 h 370"/>
              <a:gd name="T6" fmla="*/ 306 w 313"/>
              <a:gd name="T7" fmla="*/ 8 h 370"/>
              <a:gd name="T8" fmla="*/ 312 w 313"/>
              <a:gd name="T9" fmla="*/ 13 h 370"/>
              <a:gd name="T10" fmla="*/ 313 w 313"/>
              <a:gd name="T11" fmla="*/ 20 h 370"/>
              <a:gd name="T12" fmla="*/ 303 w 313"/>
              <a:gd name="T13" fmla="*/ 39 h 370"/>
              <a:gd name="T14" fmla="*/ 259 w 313"/>
              <a:gd name="T15" fmla="*/ 98 h 370"/>
              <a:gd name="T16" fmla="*/ 254 w 313"/>
              <a:gd name="T17" fmla="*/ 102 h 370"/>
              <a:gd name="T18" fmla="*/ 249 w 313"/>
              <a:gd name="T19" fmla="*/ 101 h 370"/>
              <a:gd name="T20" fmla="*/ 245 w 313"/>
              <a:gd name="T21" fmla="*/ 97 h 370"/>
              <a:gd name="T22" fmla="*/ 246 w 313"/>
              <a:gd name="T23" fmla="*/ 92 h 370"/>
              <a:gd name="T24" fmla="*/ 276 w 313"/>
              <a:gd name="T25" fmla="*/ 51 h 370"/>
              <a:gd name="T26" fmla="*/ 292 w 313"/>
              <a:gd name="T27" fmla="*/ 31 h 370"/>
              <a:gd name="T28" fmla="*/ 230 w 313"/>
              <a:gd name="T29" fmla="*/ 51 h 370"/>
              <a:gd name="T30" fmla="*/ 192 w 313"/>
              <a:gd name="T31" fmla="*/ 69 h 370"/>
              <a:gd name="T32" fmla="*/ 137 w 313"/>
              <a:gd name="T33" fmla="*/ 102 h 370"/>
              <a:gd name="T34" fmla="*/ 104 w 313"/>
              <a:gd name="T35" fmla="*/ 129 h 370"/>
              <a:gd name="T36" fmla="*/ 74 w 313"/>
              <a:gd name="T37" fmla="*/ 161 h 370"/>
              <a:gd name="T38" fmla="*/ 38 w 313"/>
              <a:gd name="T39" fmla="*/ 214 h 370"/>
              <a:gd name="T40" fmla="*/ 22 w 313"/>
              <a:gd name="T41" fmla="*/ 252 h 370"/>
              <a:gd name="T42" fmla="*/ 14 w 313"/>
              <a:gd name="T43" fmla="*/ 304 h 370"/>
              <a:gd name="T44" fmla="*/ 17 w 313"/>
              <a:gd name="T45" fmla="*/ 322 h 370"/>
              <a:gd name="T46" fmla="*/ 29 w 313"/>
              <a:gd name="T47" fmla="*/ 342 h 370"/>
              <a:gd name="T48" fmla="*/ 48 w 313"/>
              <a:gd name="T49" fmla="*/ 356 h 370"/>
              <a:gd name="T50" fmla="*/ 52 w 313"/>
              <a:gd name="T51" fmla="*/ 360 h 370"/>
              <a:gd name="T52" fmla="*/ 52 w 313"/>
              <a:gd name="T53" fmla="*/ 365 h 370"/>
              <a:gd name="T54" fmla="*/ 48 w 313"/>
              <a:gd name="T55" fmla="*/ 369 h 370"/>
              <a:gd name="T56" fmla="*/ 42 w 313"/>
              <a:gd name="T57" fmla="*/ 369 h 370"/>
              <a:gd name="T58" fmla="*/ 25 w 313"/>
              <a:gd name="T59" fmla="*/ 359 h 370"/>
              <a:gd name="T60" fmla="*/ 7 w 313"/>
              <a:gd name="T61" fmla="*/ 336 h 370"/>
              <a:gd name="T62" fmla="*/ 0 w 313"/>
              <a:gd name="T63" fmla="*/ 305 h 370"/>
              <a:gd name="T64" fmla="*/ 0 w 313"/>
              <a:gd name="T65" fmla="*/ 286 h 370"/>
              <a:gd name="T66" fmla="*/ 15 w 313"/>
              <a:gd name="T67" fmla="*/ 227 h 370"/>
              <a:gd name="T68" fmla="*/ 36 w 313"/>
              <a:gd name="T69" fmla="*/ 188 h 370"/>
              <a:gd name="T70" fmla="*/ 62 w 313"/>
              <a:gd name="T71" fmla="*/ 152 h 370"/>
              <a:gd name="T72" fmla="*/ 110 w 313"/>
              <a:gd name="T73" fmla="*/ 105 h 370"/>
              <a:gd name="T74" fmla="*/ 146 w 313"/>
              <a:gd name="T75" fmla="*/ 79 h 370"/>
              <a:gd name="T76" fmla="*/ 204 w 313"/>
              <a:gd name="T77" fmla="*/ 47 h 370"/>
              <a:gd name="T78" fmla="*/ 244 w 313"/>
              <a:gd name="T79" fmla="*/ 30 h 370"/>
              <a:gd name="T80" fmla="*/ 286 w 313"/>
              <a:gd name="T81" fmla="*/ 17 h 370"/>
              <a:gd name="T82" fmla="*/ 259 w 313"/>
              <a:gd name="T83" fmla="*/ 15 h 370"/>
              <a:gd name="T84" fmla="*/ 203 w 313"/>
              <a:gd name="T85" fmla="*/ 17 h 370"/>
              <a:gd name="T86" fmla="*/ 198 w 313"/>
              <a:gd name="T87" fmla="*/ 16 h 370"/>
              <a:gd name="T88" fmla="*/ 194 w 313"/>
              <a:gd name="T89" fmla="*/ 12 h 370"/>
              <a:gd name="T90" fmla="*/ 195 w 313"/>
              <a:gd name="T91" fmla="*/ 6 h 370"/>
              <a:gd name="T92" fmla="*/ 200 w 313"/>
              <a:gd name="T93" fmla="*/ 3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13" h="370">
                <a:moveTo>
                  <a:pt x="200" y="3"/>
                </a:moveTo>
                <a:lnTo>
                  <a:pt x="200" y="3"/>
                </a:lnTo>
                <a:lnTo>
                  <a:pt x="209" y="1"/>
                </a:lnTo>
                <a:lnTo>
                  <a:pt x="222" y="0"/>
                </a:lnTo>
                <a:lnTo>
                  <a:pt x="239" y="0"/>
                </a:lnTo>
                <a:lnTo>
                  <a:pt x="260" y="0"/>
                </a:lnTo>
                <a:lnTo>
                  <a:pt x="260" y="0"/>
                </a:lnTo>
                <a:lnTo>
                  <a:pt x="279" y="1"/>
                </a:lnTo>
                <a:lnTo>
                  <a:pt x="294" y="3"/>
                </a:lnTo>
                <a:lnTo>
                  <a:pt x="294" y="3"/>
                </a:lnTo>
                <a:lnTo>
                  <a:pt x="301" y="5"/>
                </a:lnTo>
                <a:lnTo>
                  <a:pt x="306" y="8"/>
                </a:lnTo>
                <a:lnTo>
                  <a:pt x="306" y="8"/>
                </a:lnTo>
                <a:lnTo>
                  <a:pt x="310" y="10"/>
                </a:lnTo>
                <a:lnTo>
                  <a:pt x="312" y="13"/>
                </a:lnTo>
                <a:lnTo>
                  <a:pt x="313" y="17"/>
                </a:lnTo>
                <a:lnTo>
                  <a:pt x="313" y="20"/>
                </a:lnTo>
                <a:lnTo>
                  <a:pt x="313" y="20"/>
                </a:lnTo>
                <a:lnTo>
                  <a:pt x="310" y="28"/>
                </a:lnTo>
                <a:lnTo>
                  <a:pt x="303" y="39"/>
                </a:lnTo>
                <a:lnTo>
                  <a:pt x="303" y="39"/>
                </a:lnTo>
                <a:lnTo>
                  <a:pt x="287" y="60"/>
                </a:lnTo>
                <a:lnTo>
                  <a:pt x="287" y="60"/>
                </a:lnTo>
                <a:lnTo>
                  <a:pt x="259" y="98"/>
                </a:lnTo>
                <a:lnTo>
                  <a:pt x="259" y="98"/>
                </a:lnTo>
                <a:lnTo>
                  <a:pt x="257" y="101"/>
                </a:lnTo>
                <a:lnTo>
                  <a:pt x="254" y="102"/>
                </a:lnTo>
                <a:lnTo>
                  <a:pt x="254" y="102"/>
                </a:lnTo>
                <a:lnTo>
                  <a:pt x="251" y="102"/>
                </a:lnTo>
                <a:lnTo>
                  <a:pt x="249" y="101"/>
                </a:lnTo>
                <a:lnTo>
                  <a:pt x="249" y="101"/>
                </a:lnTo>
                <a:lnTo>
                  <a:pt x="247" y="99"/>
                </a:lnTo>
                <a:lnTo>
                  <a:pt x="245" y="97"/>
                </a:lnTo>
                <a:lnTo>
                  <a:pt x="245" y="97"/>
                </a:lnTo>
                <a:lnTo>
                  <a:pt x="245" y="94"/>
                </a:lnTo>
                <a:lnTo>
                  <a:pt x="246" y="92"/>
                </a:lnTo>
                <a:lnTo>
                  <a:pt x="246" y="92"/>
                </a:lnTo>
                <a:lnTo>
                  <a:pt x="255" y="78"/>
                </a:lnTo>
                <a:lnTo>
                  <a:pt x="276" y="51"/>
                </a:lnTo>
                <a:lnTo>
                  <a:pt x="276" y="51"/>
                </a:lnTo>
                <a:lnTo>
                  <a:pt x="292" y="31"/>
                </a:lnTo>
                <a:lnTo>
                  <a:pt x="292" y="31"/>
                </a:lnTo>
                <a:lnTo>
                  <a:pt x="271" y="37"/>
                </a:lnTo>
                <a:lnTo>
                  <a:pt x="250" y="43"/>
                </a:lnTo>
                <a:lnTo>
                  <a:pt x="230" y="51"/>
                </a:lnTo>
                <a:lnTo>
                  <a:pt x="211" y="60"/>
                </a:lnTo>
                <a:lnTo>
                  <a:pt x="211" y="60"/>
                </a:lnTo>
                <a:lnTo>
                  <a:pt x="192" y="69"/>
                </a:lnTo>
                <a:lnTo>
                  <a:pt x="173" y="79"/>
                </a:lnTo>
                <a:lnTo>
                  <a:pt x="155" y="90"/>
                </a:lnTo>
                <a:lnTo>
                  <a:pt x="137" y="102"/>
                </a:lnTo>
                <a:lnTo>
                  <a:pt x="137" y="102"/>
                </a:lnTo>
                <a:lnTo>
                  <a:pt x="120" y="115"/>
                </a:lnTo>
                <a:lnTo>
                  <a:pt x="104" y="129"/>
                </a:lnTo>
                <a:lnTo>
                  <a:pt x="88" y="144"/>
                </a:lnTo>
                <a:lnTo>
                  <a:pt x="74" y="161"/>
                </a:lnTo>
                <a:lnTo>
                  <a:pt x="74" y="161"/>
                </a:lnTo>
                <a:lnTo>
                  <a:pt x="60" y="178"/>
                </a:lnTo>
                <a:lnTo>
                  <a:pt x="48" y="196"/>
                </a:lnTo>
                <a:lnTo>
                  <a:pt x="38" y="214"/>
                </a:lnTo>
                <a:lnTo>
                  <a:pt x="29" y="233"/>
                </a:lnTo>
                <a:lnTo>
                  <a:pt x="29" y="233"/>
                </a:lnTo>
                <a:lnTo>
                  <a:pt x="22" y="252"/>
                </a:lnTo>
                <a:lnTo>
                  <a:pt x="17" y="270"/>
                </a:lnTo>
                <a:lnTo>
                  <a:pt x="15" y="287"/>
                </a:lnTo>
                <a:lnTo>
                  <a:pt x="14" y="304"/>
                </a:lnTo>
                <a:lnTo>
                  <a:pt x="14" y="304"/>
                </a:lnTo>
                <a:lnTo>
                  <a:pt x="15" y="313"/>
                </a:lnTo>
                <a:lnTo>
                  <a:pt x="17" y="322"/>
                </a:lnTo>
                <a:lnTo>
                  <a:pt x="20" y="329"/>
                </a:lnTo>
                <a:lnTo>
                  <a:pt x="24" y="336"/>
                </a:lnTo>
                <a:lnTo>
                  <a:pt x="29" y="342"/>
                </a:lnTo>
                <a:lnTo>
                  <a:pt x="34" y="347"/>
                </a:lnTo>
                <a:lnTo>
                  <a:pt x="41" y="352"/>
                </a:lnTo>
                <a:lnTo>
                  <a:pt x="48" y="356"/>
                </a:lnTo>
                <a:lnTo>
                  <a:pt x="48" y="356"/>
                </a:lnTo>
                <a:lnTo>
                  <a:pt x="50" y="357"/>
                </a:lnTo>
                <a:lnTo>
                  <a:pt x="52" y="360"/>
                </a:lnTo>
                <a:lnTo>
                  <a:pt x="52" y="360"/>
                </a:lnTo>
                <a:lnTo>
                  <a:pt x="52" y="362"/>
                </a:lnTo>
                <a:lnTo>
                  <a:pt x="52" y="365"/>
                </a:lnTo>
                <a:lnTo>
                  <a:pt x="52" y="365"/>
                </a:lnTo>
                <a:lnTo>
                  <a:pt x="50" y="367"/>
                </a:lnTo>
                <a:lnTo>
                  <a:pt x="48" y="369"/>
                </a:lnTo>
                <a:lnTo>
                  <a:pt x="48" y="369"/>
                </a:lnTo>
                <a:lnTo>
                  <a:pt x="45" y="370"/>
                </a:lnTo>
                <a:lnTo>
                  <a:pt x="42" y="369"/>
                </a:lnTo>
                <a:lnTo>
                  <a:pt x="42" y="369"/>
                </a:lnTo>
                <a:lnTo>
                  <a:pt x="33" y="365"/>
                </a:lnTo>
                <a:lnTo>
                  <a:pt x="25" y="359"/>
                </a:lnTo>
                <a:lnTo>
                  <a:pt x="18" y="352"/>
                </a:lnTo>
                <a:lnTo>
                  <a:pt x="12" y="345"/>
                </a:lnTo>
                <a:lnTo>
                  <a:pt x="7" y="336"/>
                </a:lnTo>
                <a:lnTo>
                  <a:pt x="3" y="327"/>
                </a:lnTo>
                <a:lnTo>
                  <a:pt x="1" y="316"/>
                </a:lnTo>
                <a:lnTo>
                  <a:pt x="0" y="305"/>
                </a:lnTo>
                <a:lnTo>
                  <a:pt x="0" y="305"/>
                </a:lnTo>
                <a:lnTo>
                  <a:pt x="0" y="296"/>
                </a:lnTo>
                <a:lnTo>
                  <a:pt x="0" y="286"/>
                </a:lnTo>
                <a:lnTo>
                  <a:pt x="3" y="267"/>
                </a:lnTo>
                <a:lnTo>
                  <a:pt x="8" y="248"/>
                </a:lnTo>
                <a:lnTo>
                  <a:pt x="15" y="227"/>
                </a:lnTo>
                <a:lnTo>
                  <a:pt x="15" y="227"/>
                </a:lnTo>
                <a:lnTo>
                  <a:pt x="25" y="207"/>
                </a:lnTo>
                <a:lnTo>
                  <a:pt x="36" y="188"/>
                </a:lnTo>
                <a:lnTo>
                  <a:pt x="48" y="170"/>
                </a:lnTo>
                <a:lnTo>
                  <a:pt x="62" y="152"/>
                </a:lnTo>
                <a:lnTo>
                  <a:pt x="62" y="152"/>
                </a:lnTo>
                <a:lnTo>
                  <a:pt x="78" y="135"/>
                </a:lnTo>
                <a:lnTo>
                  <a:pt x="93" y="119"/>
                </a:lnTo>
                <a:lnTo>
                  <a:pt x="110" y="105"/>
                </a:lnTo>
                <a:lnTo>
                  <a:pt x="128" y="91"/>
                </a:lnTo>
                <a:lnTo>
                  <a:pt x="128" y="91"/>
                </a:lnTo>
                <a:lnTo>
                  <a:pt x="146" y="79"/>
                </a:lnTo>
                <a:lnTo>
                  <a:pt x="165" y="67"/>
                </a:lnTo>
                <a:lnTo>
                  <a:pt x="184" y="57"/>
                </a:lnTo>
                <a:lnTo>
                  <a:pt x="204" y="47"/>
                </a:lnTo>
                <a:lnTo>
                  <a:pt x="204" y="47"/>
                </a:lnTo>
                <a:lnTo>
                  <a:pt x="224" y="38"/>
                </a:lnTo>
                <a:lnTo>
                  <a:pt x="244" y="30"/>
                </a:lnTo>
                <a:lnTo>
                  <a:pt x="265" y="23"/>
                </a:lnTo>
                <a:lnTo>
                  <a:pt x="286" y="17"/>
                </a:lnTo>
                <a:lnTo>
                  <a:pt x="286" y="17"/>
                </a:lnTo>
                <a:lnTo>
                  <a:pt x="274" y="16"/>
                </a:lnTo>
                <a:lnTo>
                  <a:pt x="259" y="15"/>
                </a:lnTo>
                <a:lnTo>
                  <a:pt x="259" y="15"/>
                </a:lnTo>
                <a:lnTo>
                  <a:pt x="224" y="15"/>
                </a:lnTo>
                <a:lnTo>
                  <a:pt x="212" y="15"/>
                </a:lnTo>
                <a:lnTo>
                  <a:pt x="203" y="17"/>
                </a:lnTo>
                <a:lnTo>
                  <a:pt x="203" y="17"/>
                </a:lnTo>
                <a:lnTo>
                  <a:pt x="200" y="17"/>
                </a:lnTo>
                <a:lnTo>
                  <a:pt x="198" y="16"/>
                </a:lnTo>
                <a:lnTo>
                  <a:pt x="198" y="16"/>
                </a:lnTo>
                <a:lnTo>
                  <a:pt x="196" y="14"/>
                </a:lnTo>
                <a:lnTo>
                  <a:pt x="194" y="12"/>
                </a:lnTo>
                <a:lnTo>
                  <a:pt x="194" y="12"/>
                </a:lnTo>
                <a:lnTo>
                  <a:pt x="194" y="9"/>
                </a:lnTo>
                <a:lnTo>
                  <a:pt x="195" y="6"/>
                </a:lnTo>
                <a:lnTo>
                  <a:pt x="195" y="6"/>
                </a:lnTo>
                <a:lnTo>
                  <a:pt x="197" y="4"/>
                </a:lnTo>
                <a:lnTo>
                  <a:pt x="200" y="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sz="2400" kern="120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96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p15="http://schemas.microsoft.com/office/powerpoint/2012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4E114-7DB9-288C-7287-ED711DC0A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A8AC6AAE-FD58-4D3D-EDEA-3B76838DD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1746419">
            <a:off x="9630124" y="-1598204"/>
            <a:ext cx="3469968" cy="11902521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EF4E9D5E-8394-C015-0F61-C6DD8ED8F186}"/>
              </a:ext>
            </a:extLst>
          </p:cNvPr>
          <p:cNvGrpSpPr/>
          <p:nvPr/>
        </p:nvGrpSpPr>
        <p:grpSpPr>
          <a:xfrm rot="20433542">
            <a:off x="-3328610" y="4894715"/>
            <a:ext cx="12919498" cy="3440672"/>
            <a:chOff x="-5617185" y="3802512"/>
            <a:chExt cx="12919498" cy="3440672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F8A8C94A-E329-9602-D629-BA062991E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7835760">
              <a:off x="-2102071" y="835154"/>
              <a:ext cx="2892916" cy="9923144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A56C1B4-ECF7-F9F3-73F6-7EE9E572D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7892325">
              <a:off x="894283" y="287398"/>
              <a:ext cx="2892916" cy="9923144"/>
            </a:xfrm>
            <a:prstGeom prst="rect">
              <a:avLst/>
            </a:prstGeom>
          </p:spPr>
        </p:pic>
      </p:grpSp>
      <p:sp>
        <p:nvSpPr>
          <p:cNvPr id="2" name="Rectangle 17">
            <a:extLst>
              <a:ext uri="{FF2B5EF4-FFF2-40B4-BE49-F238E27FC236}">
                <a16:creationId xmlns:a16="http://schemas.microsoft.com/office/drawing/2014/main" id="{20CFF5C3-A220-F460-1F23-18B351C1D598}"/>
              </a:ext>
            </a:extLst>
          </p:cNvPr>
          <p:cNvSpPr/>
          <p:nvPr/>
        </p:nvSpPr>
        <p:spPr>
          <a:xfrm>
            <a:off x="607065" y="469872"/>
            <a:ext cx="11709855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技术四：孤岛识别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</a:rPr>
              <a:t>社区连接的探照灯</a:t>
            </a:r>
          </a:p>
        </p:txBody>
      </p:sp>
      <p:pic>
        <p:nvPicPr>
          <p:cNvPr id="11" name="图片 10" descr="日历&#10;&#10;AI 生成的内容可能不正确。">
            <a:extLst>
              <a:ext uri="{FF2B5EF4-FFF2-40B4-BE49-F238E27FC236}">
                <a16:creationId xmlns:a16="http://schemas.microsoft.com/office/drawing/2014/main" id="{7DB7D596-C771-13FF-141C-3ED20397F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8903" y="2213663"/>
            <a:ext cx="3597672" cy="277584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2393338-7BBC-8744-C414-5A6831831E25}"/>
              </a:ext>
            </a:extLst>
          </p:cNvPr>
          <p:cNvSpPr txBox="1"/>
          <p:nvPr/>
        </p:nvSpPr>
        <p:spPr>
          <a:xfrm>
            <a:off x="698763" y="966645"/>
            <a:ext cx="1035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识别社区间连接关系与孤岛情况，揭示开源社区结构脆弱性</a:t>
            </a:r>
          </a:p>
        </p:txBody>
      </p:sp>
      <p:pic>
        <p:nvPicPr>
          <p:cNvPr id="15" name="图片 14" descr="手机屏幕的截图&#10;&#10;AI 生成的内容可能不正确。">
            <a:extLst>
              <a:ext uri="{FF2B5EF4-FFF2-40B4-BE49-F238E27FC236}">
                <a16:creationId xmlns:a16="http://schemas.microsoft.com/office/drawing/2014/main" id="{905D1807-417C-46A6-F913-46EAA060DA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3897" y="2387150"/>
            <a:ext cx="3764621" cy="2056203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F05A34D1-959C-250D-E39A-87C3FB49E601}"/>
              </a:ext>
            </a:extLst>
          </p:cNvPr>
          <p:cNvSpPr txBox="1"/>
          <p:nvPr/>
        </p:nvSpPr>
        <p:spPr>
          <a:xfrm>
            <a:off x="-1215539" y="1606929"/>
            <a:ext cx="1035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两个社区之间的连接权重等于社区成员间所有协作关系的权重之和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得到社区间的连接矩阵 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99CDF3-AB5D-7705-CF66-D2EBA954CC65}"/>
              </a:ext>
            </a:extLst>
          </p:cNvPr>
          <p:cNvSpPr txBox="1"/>
          <p:nvPr/>
        </p:nvSpPr>
        <p:spPr>
          <a:xfrm>
            <a:off x="698763" y="4596368"/>
            <a:ext cx="60205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每个社区的总连接强度即与该社区相关的所有连接权重和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E64F097-5946-0B17-50C2-1016EEEE7043}"/>
              </a:ext>
            </a:extLst>
          </p:cNvPr>
          <p:cNvSpPr txBox="1"/>
          <p:nvPr/>
        </p:nvSpPr>
        <p:spPr>
          <a:xfrm>
            <a:off x="4379013" y="892513"/>
            <a:ext cx="103774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设定孤岛阈值（可自定义）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将总连接强度低于阈值的社区判定为孤岛社区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连接强度高于阈值的社区判定为核心社区</a:t>
            </a:r>
            <a:endParaRPr lang="zh-CN" altLang="en-US" dirty="0"/>
          </a:p>
        </p:txBody>
      </p:sp>
      <p:sp>
        <p:nvSpPr>
          <p:cNvPr id="24" name="Freeform 2591">
            <a:extLst>
              <a:ext uri="{FF2B5EF4-FFF2-40B4-BE49-F238E27FC236}">
                <a16:creationId xmlns:a16="http://schemas.microsoft.com/office/drawing/2014/main" id="{E5839E68-0426-C00A-68DB-A11431C5097E}"/>
              </a:ext>
            </a:extLst>
          </p:cNvPr>
          <p:cNvSpPr/>
          <p:nvPr/>
        </p:nvSpPr>
        <p:spPr bwMode="auto">
          <a:xfrm rot="990906">
            <a:off x="6734557" y="1804100"/>
            <a:ext cx="552320" cy="2877449"/>
          </a:xfrm>
          <a:custGeom>
            <a:avLst/>
            <a:gdLst>
              <a:gd name="T0" fmla="*/ 209 w 313"/>
              <a:gd name="T1" fmla="*/ 1 h 370"/>
              <a:gd name="T2" fmla="*/ 260 w 313"/>
              <a:gd name="T3" fmla="*/ 0 h 370"/>
              <a:gd name="T4" fmla="*/ 294 w 313"/>
              <a:gd name="T5" fmla="*/ 3 h 370"/>
              <a:gd name="T6" fmla="*/ 306 w 313"/>
              <a:gd name="T7" fmla="*/ 8 h 370"/>
              <a:gd name="T8" fmla="*/ 312 w 313"/>
              <a:gd name="T9" fmla="*/ 13 h 370"/>
              <a:gd name="T10" fmla="*/ 313 w 313"/>
              <a:gd name="T11" fmla="*/ 20 h 370"/>
              <a:gd name="T12" fmla="*/ 303 w 313"/>
              <a:gd name="T13" fmla="*/ 39 h 370"/>
              <a:gd name="T14" fmla="*/ 259 w 313"/>
              <a:gd name="T15" fmla="*/ 98 h 370"/>
              <a:gd name="T16" fmla="*/ 254 w 313"/>
              <a:gd name="T17" fmla="*/ 102 h 370"/>
              <a:gd name="T18" fmla="*/ 249 w 313"/>
              <a:gd name="T19" fmla="*/ 101 h 370"/>
              <a:gd name="T20" fmla="*/ 245 w 313"/>
              <a:gd name="T21" fmla="*/ 97 h 370"/>
              <a:gd name="T22" fmla="*/ 246 w 313"/>
              <a:gd name="T23" fmla="*/ 92 h 370"/>
              <a:gd name="T24" fmla="*/ 276 w 313"/>
              <a:gd name="T25" fmla="*/ 51 h 370"/>
              <a:gd name="T26" fmla="*/ 292 w 313"/>
              <a:gd name="T27" fmla="*/ 31 h 370"/>
              <a:gd name="T28" fmla="*/ 230 w 313"/>
              <a:gd name="T29" fmla="*/ 51 h 370"/>
              <a:gd name="T30" fmla="*/ 192 w 313"/>
              <a:gd name="T31" fmla="*/ 69 h 370"/>
              <a:gd name="T32" fmla="*/ 137 w 313"/>
              <a:gd name="T33" fmla="*/ 102 h 370"/>
              <a:gd name="T34" fmla="*/ 104 w 313"/>
              <a:gd name="T35" fmla="*/ 129 h 370"/>
              <a:gd name="T36" fmla="*/ 74 w 313"/>
              <a:gd name="T37" fmla="*/ 161 h 370"/>
              <a:gd name="T38" fmla="*/ 38 w 313"/>
              <a:gd name="T39" fmla="*/ 214 h 370"/>
              <a:gd name="T40" fmla="*/ 22 w 313"/>
              <a:gd name="T41" fmla="*/ 252 h 370"/>
              <a:gd name="T42" fmla="*/ 14 w 313"/>
              <a:gd name="T43" fmla="*/ 304 h 370"/>
              <a:gd name="T44" fmla="*/ 17 w 313"/>
              <a:gd name="T45" fmla="*/ 322 h 370"/>
              <a:gd name="T46" fmla="*/ 29 w 313"/>
              <a:gd name="T47" fmla="*/ 342 h 370"/>
              <a:gd name="T48" fmla="*/ 48 w 313"/>
              <a:gd name="T49" fmla="*/ 356 h 370"/>
              <a:gd name="T50" fmla="*/ 52 w 313"/>
              <a:gd name="T51" fmla="*/ 360 h 370"/>
              <a:gd name="T52" fmla="*/ 52 w 313"/>
              <a:gd name="T53" fmla="*/ 365 h 370"/>
              <a:gd name="T54" fmla="*/ 48 w 313"/>
              <a:gd name="T55" fmla="*/ 369 h 370"/>
              <a:gd name="T56" fmla="*/ 42 w 313"/>
              <a:gd name="T57" fmla="*/ 369 h 370"/>
              <a:gd name="T58" fmla="*/ 25 w 313"/>
              <a:gd name="T59" fmla="*/ 359 h 370"/>
              <a:gd name="T60" fmla="*/ 7 w 313"/>
              <a:gd name="T61" fmla="*/ 336 h 370"/>
              <a:gd name="T62" fmla="*/ 0 w 313"/>
              <a:gd name="T63" fmla="*/ 305 h 370"/>
              <a:gd name="T64" fmla="*/ 0 w 313"/>
              <a:gd name="T65" fmla="*/ 286 h 370"/>
              <a:gd name="T66" fmla="*/ 15 w 313"/>
              <a:gd name="T67" fmla="*/ 227 h 370"/>
              <a:gd name="T68" fmla="*/ 36 w 313"/>
              <a:gd name="T69" fmla="*/ 188 h 370"/>
              <a:gd name="T70" fmla="*/ 62 w 313"/>
              <a:gd name="T71" fmla="*/ 152 h 370"/>
              <a:gd name="T72" fmla="*/ 110 w 313"/>
              <a:gd name="T73" fmla="*/ 105 h 370"/>
              <a:gd name="T74" fmla="*/ 146 w 313"/>
              <a:gd name="T75" fmla="*/ 79 h 370"/>
              <a:gd name="T76" fmla="*/ 204 w 313"/>
              <a:gd name="T77" fmla="*/ 47 h 370"/>
              <a:gd name="T78" fmla="*/ 244 w 313"/>
              <a:gd name="T79" fmla="*/ 30 h 370"/>
              <a:gd name="T80" fmla="*/ 286 w 313"/>
              <a:gd name="T81" fmla="*/ 17 h 370"/>
              <a:gd name="T82" fmla="*/ 259 w 313"/>
              <a:gd name="T83" fmla="*/ 15 h 370"/>
              <a:gd name="T84" fmla="*/ 203 w 313"/>
              <a:gd name="T85" fmla="*/ 17 h 370"/>
              <a:gd name="T86" fmla="*/ 198 w 313"/>
              <a:gd name="T87" fmla="*/ 16 h 370"/>
              <a:gd name="T88" fmla="*/ 194 w 313"/>
              <a:gd name="T89" fmla="*/ 12 h 370"/>
              <a:gd name="T90" fmla="*/ 195 w 313"/>
              <a:gd name="T91" fmla="*/ 6 h 370"/>
              <a:gd name="T92" fmla="*/ 200 w 313"/>
              <a:gd name="T93" fmla="*/ 3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13" h="370">
                <a:moveTo>
                  <a:pt x="200" y="3"/>
                </a:moveTo>
                <a:lnTo>
                  <a:pt x="200" y="3"/>
                </a:lnTo>
                <a:lnTo>
                  <a:pt x="209" y="1"/>
                </a:lnTo>
                <a:lnTo>
                  <a:pt x="222" y="0"/>
                </a:lnTo>
                <a:lnTo>
                  <a:pt x="239" y="0"/>
                </a:lnTo>
                <a:lnTo>
                  <a:pt x="260" y="0"/>
                </a:lnTo>
                <a:lnTo>
                  <a:pt x="260" y="0"/>
                </a:lnTo>
                <a:lnTo>
                  <a:pt x="279" y="1"/>
                </a:lnTo>
                <a:lnTo>
                  <a:pt x="294" y="3"/>
                </a:lnTo>
                <a:lnTo>
                  <a:pt x="294" y="3"/>
                </a:lnTo>
                <a:lnTo>
                  <a:pt x="301" y="5"/>
                </a:lnTo>
                <a:lnTo>
                  <a:pt x="306" y="8"/>
                </a:lnTo>
                <a:lnTo>
                  <a:pt x="306" y="8"/>
                </a:lnTo>
                <a:lnTo>
                  <a:pt x="310" y="10"/>
                </a:lnTo>
                <a:lnTo>
                  <a:pt x="312" y="13"/>
                </a:lnTo>
                <a:lnTo>
                  <a:pt x="313" y="17"/>
                </a:lnTo>
                <a:lnTo>
                  <a:pt x="313" y="20"/>
                </a:lnTo>
                <a:lnTo>
                  <a:pt x="313" y="20"/>
                </a:lnTo>
                <a:lnTo>
                  <a:pt x="310" y="28"/>
                </a:lnTo>
                <a:lnTo>
                  <a:pt x="303" y="39"/>
                </a:lnTo>
                <a:lnTo>
                  <a:pt x="303" y="39"/>
                </a:lnTo>
                <a:lnTo>
                  <a:pt x="287" y="60"/>
                </a:lnTo>
                <a:lnTo>
                  <a:pt x="287" y="60"/>
                </a:lnTo>
                <a:lnTo>
                  <a:pt x="259" y="98"/>
                </a:lnTo>
                <a:lnTo>
                  <a:pt x="259" y="98"/>
                </a:lnTo>
                <a:lnTo>
                  <a:pt x="257" y="101"/>
                </a:lnTo>
                <a:lnTo>
                  <a:pt x="254" y="102"/>
                </a:lnTo>
                <a:lnTo>
                  <a:pt x="254" y="102"/>
                </a:lnTo>
                <a:lnTo>
                  <a:pt x="251" y="102"/>
                </a:lnTo>
                <a:lnTo>
                  <a:pt x="249" y="101"/>
                </a:lnTo>
                <a:lnTo>
                  <a:pt x="249" y="101"/>
                </a:lnTo>
                <a:lnTo>
                  <a:pt x="247" y="99"/>
                </a:lnTo>
                <a:lnTo>
                  <a:pt x="245" y="97"/>
                </a:lnTo>
                <a:lnTo>
                  <a:pt x="245" y="97"/>
                </a:lnTo>
                <a:lnTo>
                  <a:pt x="245" y="94"/>
                </a:lnTo>
                <a:lnTo>
                  <a:pt x="246" y="92"/>
                </a:lnTo>
                <a:lnTo>
                  <a:pt x="246" y="92"/>
                </a:lnTo>
                <a:lnTo>
                  <a:pt x="255" y="78"/>
                </a:lnTo>
                <a:lnTo>
                  <a:pt x="276" y="51"/>
                </a:lnTo>
                <a:lnTo>
                  <a:pt x="276" y="51"/>
                </a:lnTo>
                <a:lnTo>
                  <a:pt x="292" y="31"/>
                </a:lnTo>
                <a:lnTo>
                  <a:pt x="292" y="31"/>
                </a:lnTo>
                <a:lnTo>
                  <a:pt x="271" y="37"/>
                </a:lnTo>
                <a:lnTo>
                  <a:pt x="250" y="43"/>
                </a:lnTo>
                <a:lnTo>
                  <a:pt x="230" y="51"/>
                </a:lnTo>
                <a:lnTo>
                  <a:pt x="211" y="60"/>
                </a:lnTo>
                <a:lnTo>
                  <a:pt x="211" y="60"/>
                </a:lnTo>
                <a:lnTo>
                  <a:pt x="192" y="69"/>
                </a:lnTo>
                <a:lnTo>
                  <a:pt x="173" y="79"/>
                </a:lnTo>
                <a:lnTo>
                  <a:pt x="155" y="90"/>
                </a:lnTo>
                <a:lnTo>
                  <a:pt x="137" y="102"/>
                </a:lnTo>
                <a:lnTo>
                  <a:pt x="137" y="102"/>
                </a:lnTo>
                <a:lnTo>
                  <a:pt x="120" y="115"/>
                </a:lnTo>
                <a:lnTo>
                  <a:pt x="104" y="129"/>
                </a:lnTo>
                <a:lnTo>
                  <a:pt x="88" y="144"/>
                </a:lnTo>
                <a:lnTo>
                  <a:pt x="74" y="161"/>
                </a:lnTo>
                <a:lnTo>
                  <a:pt x="74" y="161"/>
                </a:lnTo>
                <a:lnTo>
                  <a:pt x="60" y="178"/>
                </a:lnTo>
                <a:lnTo>
                  <a:pt x="48" y="196"/>
                </a:lnTo>
                <a:lnTo>
                  <a:pt x="38" y="214"/>
                </a:lnTo>
                <a:lnTo>
                  <a:pt x="29" y="233"/>
                </a:lnTo>
                <a:lnTo>
                  <a:pt x="29" y="233"/>
                </a:lnTo>
                <a:lnTo>
                  <a:pt x="22" y="252"/>
                </a:lnTo>
                <a:lnTo>
                  <a:pt x="17" y="270"/>
                </a:lnTo>
                <a:lnTo>
                  <a:pt x="15" y="287"/>
                </a:lnTo>
                <a:lnTo>
                  <a:pt x="14" y="304"/>
                </a:lnTo>
                <a:lnTo>
                  <a:pt x="14" y="304"/>
                </a:lnTo>
                <a:lnTo>
                  <a:pt x="15" y="313"/>
                </a:lnTo>
                <a:lnTo>
                  <a:pt x="17" y="322"/>
                </a:lnTo>
                <a:lnTo>
                  <a:pt x="20" y="329"/>
                </a:lnTo>
                <a:lnTo>
                  <a:pt x="24" y="336"/>
                </a:lnTo>
                <a:lnTo>
                  <a:pt x="29" y="342"/>
                </a:lnTo>
                <a:lnTo>
                  <a:pt x="34" y="347"/>
                </a:lnTo>
                <a:lnTo>
                  <a:pt x="41" y="352"/>
                </a:lnTo>
                <a:lnTo>
                  <a:pt x="48" y="356"/>
                </a:lnTo>
                <a:lnTo>
                  <a:pt x="48" y="356"/>
                </a:lnTo>
                <a:lnTo>
                  <a:pt x="50" y="357"/>
                </a:lnTo>
                <a:lnTo>
                  <a:pt x="52" y="360"/>
                </a:lnTo>
                <a:lnTo>
                  <a:pt x="52" y="360"/>
                </a:lnTo>
                <a:lnTo>
                  <a:pt x="52" y="362"/>
                </a:lnTo>
                <a:lnTo>
                  <a:pt x="52" y="365"/>
                </a:lnTo>
                <a:lnTo>
                  <a:pt x="52" y="365"/>
                </a:lnTo>
                <a:lnTo>
                  <a:pt x="50" y="367"/>
                </a:lnTo>
                <a:lnTo>
                  <a:pt x="48" y="369"/>
                </a:lnTo>
                <a:lnTo>
                  <a:pt x="48" y="369"/>
                </a:lnTo>
                <a:lnTo>
                  <a:pt x="45" y="370"/>
                </a:lnTo>
                <a:lnTo>
                  <a:pt x="42" y="369"/>
                </a:lnTo>
                <a:lnTo>
                  <a:pt x="42" y="369"/>
                </a:lnTo>
                <a:lnTo>
                  <a:pt x="33" y="365"/>
                </a:lnTo>
                <a:lnTo>
                  <a:pt x="25" y="359"/>
                </a:lnTo>
                <a:lnTo>
                  <a:pt x="18" y="352"/>
                </a:lnTo>
                <a:lnTo>
                  <a:pt x="12" y="345"/>
                </a:lnTo>
                <a:lnTo>
                  <a:pt x="7" y="336"/>
                </a:lnTo>
                <a:lnTo>
                  <a:pt x="3" y="327"/>
                </a:lnTo>
                <a:lnTo>
                  <a:pt x="1" y="316"/>
                </a:lnTo>
                <a:lnTo>
                  <a:pt x="0" y="305"/>
                </a:lnTo>
                <a:lnTo>
                  <a:pt x="0" y="305"/>
                </a:lnTo>
                <a:lnTo>
                  <a:pt x="0" y="296"/>
                </a:lnTo>
                <a:lnTo>
                  <a:pt x="0" y="286"/>
                </a:lnTo>
                <a:lnTo>
                  <a:pt x="3" y="267"/>
                </a:lnTo>
                <a:lnTo>
                  <a:pt x="8" y="248"/>
                </a:lnTo>
                <a:lnTo>
                  <a:pt x="15" y="227"/>
                </a:lnTo>
                <a:lnTo>
                  <a:pt x="15" y="227"/>
                </a:lnTo>
                <a:lnTo>
                  <a:pt x="25" y="207"/>
                </a:lnTo>
                <a:lnTo>
                  <a:pt x="36" y="188"/>
                </a:lnTo>
                <a:lnTo>
                  <a:pt x="48" y="170"/>
                </a:lnTo>
                <a:lnTo>
                  <a:pt x="62" y="152"/>
                </a:lnTo>
                <a:lnTo>
                  <a:pt x="62" y="152"/>
                </a:lnTo>
                <a:lnTo>
                  <a:pt x="78" y="135"/>
                </a:lnTo>
                <a:lnTo>
                  <a:pt x="93" y="119"/>
                </a:lnTo>
                <a:lnTo>
                  <a:pt x="110" y="105"/>
                </a:lnTo>
                <a:lnTo>
                  <a:pt x="128" y="91"/>
                </a:lnTo>
                <a:lnTo>
                  <a:pt x="128" y="91"/>
                </a:lnTo>
                <a:lnTo>
                  <a:pt x="146" y="79"/>
                </a:lnTo>
                <a:lnTo>
                  <a:pt x="165" y="67"/>
                </a:lnTo>
                <a:lnTo>
                  <a:pt x="184" y="57"/>
                </a:lnTo>
                <a:lnTo>
                  <a:pt x="204" y="47"/>
                </a:lnTo>
                <a:lnTo>
                  <a:pt x="204" y="47"/>
                </a:lnTo>
                <a:lnTo>
                  <a:pt x="224" y="38"/>
                </a:lnTo>
                <a:lnTo>
                  <a:pt x="244" y="30"/>
                </a:lnTo>
                <a:lnTo>
                  <a:pt x="265" y="23"/>
                </a:lnTo>
                <a:lnTo>
                  <a:pt x="286" y="17"/>
                </a:lnTo>
                <a:lnTo>
                  <a:pt x="286" y="17"/>
                </a:lnTo>
                <a:lnTo>
                  <a:pt x="274" y="16"/>
                </a:lnTo>
                <a:lnTo>
                  <a:pt x="259" y="15"/>
                </a:lnTo>
                <a:lnTo>
                  <a:pt x="259" y="15"/>
                </a:lnTo>
                <a:lnTo>
                  <a:pt x="224" y="15"/>
                </a:lnTo>
                <a:lnTo>
                  <a:pt x="212" y="15"/>
                </a:lnTo>
                <a:lnTo>
                  <a:pt x="203" y="17"/>
                </a:lnTo>
                <a:lnTo>
                  <a:pt x="203" y="17"/>
                </a:lnTo>
                <a:lnTo>
                  <a:pt x="200" y="17"/>
                </a:lnTo>
                <a:lnTo>
                  <a:pt x="198" y="16"/>
                </a:lnTo>
                <a:lnTo>
                  <a:pt x="198" y="16"/>
                </a:lnTo>
                <a:lnTo>
                  <a:pt x="196" y="14"/>
                </a:lnTo>
                <a:lnTo>
                  <a:pt x="194" y="12"/>
                </a:lnTo>
                <a:lnTo>
                  <a:pt x="194" y="12"/>
                </a:lnTo>
                <a:lnTo>
                  <a:pt x="194" y="9"/>
                </a:lnTo>
                <a:lnTo>
                  <a:pt x="195" y="6"/>
                </a:lnTo>
                <a:lnTo>
                  <a:pt x="195" y="6"/>
                </a:lnTo>
                <a:lnTo>
                  <a:pt x="197" y="4"/>
                </a:lnTo>
                <a:lnTo>
                  <a:pt x="200" y="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sz="2400" kern="120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0573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p15="http://schemas.microsoft.com/office/powerpoint/2012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0F24B-A127-5828-B6A7-19B7663A1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E1DF3D91-EA19-DD49-BF34-71A8A1549F5E}"/>
              </a:ext>
            </a:extLst>
          </p:cNvPr>
          <p:cNvGrpSpPr/>
          <p:nvPr/>
        </p:nvGrpSpPr>
        <p:grpSpPr>
          <a:xfrm>
            <a:off x="-6345689" y="3617133"/>
            <a:ext cx="24285839" cy="3710961"/>
            <a:chOff x="-7692168" y="3430410"/>
            <a:chExt cx="24285839" cy="3710961"/>
          </a:xfrm>
        </p:grpSpPr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2B7627DF-27E6-EA44-FCE8-FFDD58E9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8720490" y="-888409"/>
              <a:ext cx="3554361" cy="12192000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88D0559F-7671-8AAF-BF94-0A76E4C35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-3373349" y="-731809"/>
              <a:ext cx="3554361" cy="12192000"/>
            </a:xfrm>
            <a:prstGeom prst="rect">
              <a:avLst/>
            </a:prstGeom>
          </p:spPr>
        </p:pic>
      </p:grpSp>
      <p:sp>
        <p:nvSpPr>
          <p:cNvPr id="3" name="Rectangle 17">
            <a:extLst>
              <a:ext uri="{FF2B5EF4-FFF2-40B4-BE49-F238E27FC236}">
                <a16:creationId xmlns:a16="http://schemas.microsoft.com/office/drawing/2014/main" id="{36CCE2B6-0A2A-4C11-BB84-438FF78FC77D}"/>
              </a:ext>
            </a:extLst>
          </p:cNvPr>
          <p:cNvSpPr/>
          <p:nvPr/>
        </p:nvSpPr>
        <p:spPr>
          <a:xfrm>
            <a:off x="111834" y="358038"/>
            <a:ext cx="7545444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技术五：开发者推荐算法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</a:rPr>
              <a:t>精准匹配，促进协作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1B3345E-A301-A9B2-814A-E99FF8356AD9}"/>
              </a:ext>
            </a:extLst>
          </p:cNvPr>
          <p:cNvGrpSpPr/>
          <p:nvPr/>
        </p:nvGrpSpPr>
        <p:grpSpPr>
          <a:xfrm>
            <a:off x="625224" y="975752"/>
            <a:ext cx="11189065" cy="4472589"/>
            <a:chOff x="624127" y="1363879"/>
            <a:chExt cx="11189065" cy="447258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82B6619-58C8-5A1C-6FF4-589167E0B4C9}"/>
                </a:ext>
              </a:extLst>
            </p:cNvPr>
            <p:cNvSpPr txBox="1"/>
            <p:nvPr/>
          </p:nvSpPr>
          <p:spPr>
            <a:xfrm>
              <a:off x="1422582" y="1363879"/>
              <a:ext cx="449799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从开发者列表中选择目标开发者，</a:t>
              </a:r>
              <a:endParaRPr lang="en-US" altLang="zh-CN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获取开发者的技术栈、协作历史等信息</a:t>
              </a:r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7FEDC550-C9B5-95DF-72BC-05D7E5694BE5}"/>
                </a:ext>
              </a:extLst>
            </p:cNvPr>
            <p:cNvGrpSpPr/>
            <p:nvPr/>
          </p:nvGrpSpPr>
          <p:grpSpPr>
            <a:xfrm>
              <a:off x="6939271" y="2943829"/>
              <a:ext cx="4812633" cy="2474448"/>
              <a:chOff x="905928" y="2965960"/>
              <a:chExt cx="7679117" cy="3169319"/>
            </a:xfrm>
          </p:grpSpPr>
          <p:pic>
            <p:nvPicPr>
              <p:cNvPr id="11" name="图片 10" descr="电脑萤幕画面&#10;&#10;AI 生成的内容可能不正确。">
                <a:extLst>
                  <a:ext uri="{FF2B5EF4-FFF2-40B4-BE49-F238E27FC236}">
                    <a16:creationId xmlns:a16="http://schemas.microsoft.com/office/drawing/2014/main" id="{001DA8DF-B704-D117-0924-7ECDCB760D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5928" y="2965960"/>
                <a:ext cx="5525271" cy="3162741"/>
              </a:xfrm>
              <a:prstGeom prst="rect">
                <a:avLst/>
              </a:prstGeom>
            </p:spPr>
          </p:pic>
          <p:pic>
            <p:nvPicPr>
              <p:cNvPr id="14" name="图片 13" descr="图形用户界面, 应用程序&#10;&#10;AI 生成的内容可能不正确。">
                <a:extLst>
                  <a:ext uri="{FF2B5EF4-FFF2-40B4-BE49-F238E27FC236}">
                    <a16:creationId xmlns:a16="http://schemas.microsoft.com/office/drawing/2014/main" id="{123ECCBE-B440-F8A5-4BF5-D460D64F76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25944" y="2972538"/>
                <a:ext cx="2259101" cy="3162741"/>
              </a:xfrm>
              <a:prstGeom prst="rect">
                <a:avLst/>
              </a:prstGeom>
            </p:spPr>
          </p:pic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DB88CCD-81BC-8BE0-5735-988509343C3F}"/>
                </a:ext>
              </a:extLst>
            </p:cNvPr>
            <p:cNvSpPr txBox="1"/>
            <p:nvPr/>
          </p:nvSpPr>
          <p:spPr>
            <a:xfrm>
              <a:off x="624127" y="3805143"/>
              <a:ext cx="6094902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多维度匹配计算</a:t>
              </a:r>
              <a:endParaRPr lang="en-US" altLang="zh-CN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技术栈匹配：相同技术栈+40分，互补技术栈：+20分</a:t>
              </a:r>
              <a:endParaRPr lang="en-US" altLang="zh-CN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每有一个共同合作伙伴：+15分</a:t>
              </a:r>
              <a:endParaRPr lang="en-US" altLang="zh-CN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（比较目标开发者与候选开发者的合作关系交集）</a:t>
              </a:r>
              <a:endParaRPr lang="en-US" altLang="zh-CN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活跃度匹配：基于合作次数差异、平均合作强度差异计算 （最高可获20分）</a:t>
              </a:r>
              <a:endParaRPr lang="en-US" altLang="zh-CN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社区归属：同一社区+15分，不同社区：+5分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4AF32D3-9EF9-57AA-260B-DEFE5607A1B1}"/>
                </a:ext>
              </a:extLst>
            </p:cNvPr>
            <p:cNvSpPr txBox="1"/>
            <p:nvPr/>
          </p:nvSpPr>
          <p:spPr>
            <a:xfrm>
              <a:off x="5718290" y="1371599"/>
              <a:ext cx="60949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汇总各项匹配分数，生成总推荐分数</a:t>
              </a:r>
              <a:endParaRPr lang="en-US" altLang="zh-CN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按推荐分数降序排序，取前N名作为最终推荐结果</a:t>
              </a:r>
            </a:p>
          </p:txBody>
        </p:sp>
        <p:sp>
          <p:nvSpPr>
            <p:cNvPr id="20" name="Freeform 2591">
              <a:extLst>
                <a:ext uri="{FF2B5EF4-FFF2-40B4-BE49-F238E27FC236}">
                  <a16:creationId xmlns:a16="http://schemas.microsoft.com/office/drawing/2014/main" id="{B7519079-315D-026C-EF90-427851366A25}"/>
                </a:ext>
              </a:extLst>
            </p:cNvPr>
            <p:cNvSpPr/>
            <p:nvPr/>
          </p:nvSpPr>
          <p:spPr bwMode="auto">
            <a:xfrm rot="9834318">
              <a:off x="3056808" y="2102189"/>
              <a:ext cx="839252" cy="1636521"/>
            </a:xfrm>
            <a:custGeom>
              <a:avLst/>
              <a:gdLst>
                <a:gd name="T0" fmla="*/ 209 w 313"/>
                <a:gd name="T1" fmla="*/ 1 h 370"/>
                <a:gd name="T2" fmla="*/ 260 w 313"/>
                <a:gd name="T3" fmla="*/ 0 h 370"/>
                <a:gd name="T4" fmla="*/ 294 w 313"/>
                <a:gd name="T5" fmla="*/ 3 h 370"/>
                <a:gd name="T6" fmla="*/ 306 w 313"/>
                <a:gd name="T7" fmla="*/ 8 h 370"/>
                <a:gd name="T8" fmla="*/ 312 w 313"/>
                <a:gd name="T9" fmla="*/ 13 h 370"/>
                <a:gd name="T10" fmla="*/ 313 w 313"/>
                <a:gd name="T11" fmla="*/ 20 h 370"/>
                <a:gd name="T12" fmla="*/ 303 w 313"/>
                <a:gd name="T13" fmla="*/ 39 h 370"/>
                <a:gd name="T14" fmla="*/ 259 w 313"/>
                <a:gd name="T15" fmla="*/ 98 h 370"/>
                <a:gd name="T16" fmla="*/ 254 w 313"/>
                <a:gd name="T17" fmla="*/ 102 h 370"/>
                <a:gd name="T18" fmla="*/ 249 w 313"/>
                <a:gd name="T19" fmla="*/ 101 h 370"/>
                <a:gd name="T20" fmla="*/ 245 w 313"/>
                <a:gd name="T21" fmla="*/ 97 h 370"/>
                <a:gd name="T22" fmla="*/ 246 w 313"/>
                <a:gd name="T23" fmla="*/ 92 h 370"/>
                <a:gd name="T24" fmla="*/ 276 w 313"/>
                <a:gd name="T25" fmla="*/ 51 h 370"/>
                <a:gd name="T26" fmla="*/ 292 w 313"/>
                <a:gd name="T27" fmla="*/ 31 h 370"/>
                <a:gd name="T28" fmla="*/ 230 w 313"/>
                <a:gd name="T29" fmla="*/ 51 h 370"/>
                <a:gd name="T30" fmla="*/ 192 w 313"/>
                <a:gd name="T31" fmla="*/ 69 h 370"/>
                <a:gd name="T32" fmla="*/ 137 w 313"/>
                <a:gd name="T33" fmla="*/ 102 h 370"/>
                <a:gd name="T34" fmla="*/ 104 w 313"/>
                <a:gd name="T35" fmla="*/ 129 h 370"/>
                <a:gd name="T36" fmla="*/ 74 w 313"/>
                <a:gd name="T37" fmla="*/ 161 h 370"/>
                <a:gd name="T38" fmla="*/ 38 w 313"/>
                <a:gd name="T39" fmla="*/ 214 h 370"/>
                <a:gd name="T40" fmla="*/ 22 w 313"/>
                <a:gd name="T41" fmla="*/ 252 h 370"/>
                <a:gd name="T42" fmla="*/ 14 w 313"/>
                <a:gd name="T43" fmla="*/ 304 h 370"/>
                <a:gd name="T44" fmla="*/ 17 w 313"/>
                <a:gd name="T45" fmla="*/ 322 h 370"/>
                <a:gd name="T46" fmla="*/ 29 w 313"/>
                <a:gd name="T47" fmla="*/ 342 h 370"/>
                <a:gd name="T48" fmla="*/ 48 w 313"/>
                <a:gd name="T49" fmla="*/ 356 h 370"/>
                <a:gd name="T50" fmla="*/ 52 w 313"/>
                <a:gd name="T51" fmla="*/ 360 h 370"/>
                <a:gd name="T52" fmla="*/ 52 w 313"/>
                <a:gd name="T53" fmla="*/ 365 h 370"/>
                <a:gd name="T54" fmla="*/ 48 w 313"/>
                <a:gd name="T55" fmla="*/ 369 h 370"/>
                <a:gd name="T56" fmla="*/ 42 w 313"/>
                <a:gd name="T57" fmla="*/ 369 h 370"/>
                <a:gd name="T58" fmla="*/ 25 w 313"/>
                <a:gd name="T59" fmla="*/ 359 h 370"/>
                <a:gd name="T60" fmla="*/ 7 w 313"/>
                <a:gd name="T61" fmla="*/ 336 h 370"/>
                <a:gd name="T62" fmla="*/ 0 w 313"/>
                <a:gd name="T63" fmla="*/ 305 h 370"/>
                <a:gd name="T64" fmla="*/ 0 w 313"/>
                <a:gd name="T65" fmla="*/ 286 h 370"/>
                <a:gd name="T66" fmla="*/ 15 w 313"/>
                <a:gd name="T67" fmla="*/ 227 h 370"/>
                <a:gd name="T68" fmla="*/ 36 w 313"/>
                <a:gd name="T69" fmla="*/ 188 h 370"/>
                <a:gd name="T70" fmla="*/ 62 w 313"/>
                <a:gd name="T71" fmla="*/ 152 h 370"/>
                <a:gd name="T72" fmla="*/ 110 w 313"/>
                <a:gd name="T73" fmla="*/ 105 h 370"/>
                <a:gd name="T74" fmla="*/ 146 w 313"/>
                <a:gd name="T75" fmla="*/ 79 h 370"/>
                <a:gd name="T76" fmla="*/ 204 w 313"/>
                <a:gd name="T77" fmla="*/ 47 h 370"/>
                <a:gd name="T78" fmla="*/ 244 w 313"/>
                <a:gd name="T79" fmla="*/ 30 h 370"/>
                <a:gd name="T80" fmla="*/ 286 w 313"/>
                <a:gd name="T81" fmla="*/ 17 h 370"/>
                <a:gd name="T82" fmla="*/ 259 w 313"/>
                <a:gd name="T83" fmla="*/ 15 h 370"/>
                <a:gd name="T84" fmla="*/ 203 w 313"/>
                <a:gd name="T85" fmla="*/ 17 h 370"/>
                <a:gd name="T86" fmla="*/ 198 w 313"/>
                <a:gd name="T87" fmla="*/ 16 h 370"/>
                <a:gd name="T88" fmla="*/ 194 w 313"/>
                <a:gd name="T89" fmla="*/ 12 h 370"/>
                <a:gd name="T90" fmla="*/ 195 w 313"/>
                <a:gd name="T91" fmla="*/ 6 h 370"/>
                <a:gd name="T92" fmla="*/ 200 w 313"/>
                <a:gd name="T93" fmla="*/ 3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13" h="370">
                  <a:moveTo>
                    <a:pt x="200" y="3"/>
                  </a:moveTo>
                  <a:lnTo>
                    <a:pt x="200" y="3"/>
                  </a:lnTo>
                  <a:lnTo>
                    <a:pt x="209" y="1"/>
                  </a:lnTo>
                  <a:lnTo>
                    <a:pt x="222" y="0"/>
                  </a:lnTo>
                  <a:lnTo>
                    <a:pt x="239" y="0"/>
                  </a:lnTo>
                  <a:lnTo>
                    <a:pt x="260" y="0"/>
                  </a:lnTo>
                  <a:lnTo>
                    <a:pt x="260" y="0"/>
                  </a:lnTo>
                  <a:lnTo>
                    <a:pt x="279" y="1"/>
                  </a:lnTo>
                  <a:lnTo>
                    <a:pt x="294" y="3"/>
                  </a:lnTo>
                  <a:lnTo>
                    <a:pt x="294" y="3"/>
                  </a:lnTo>
                  <a:lnTo>
                    <a:pt x="301" y="5"/>
                  </a:lnTo>
                  <a:lnTo>
                    <a:pt x="306" y="8"/>
                  </a:lnTo>
                  <a:lnTo>
                    <a:pt x="306" y="8"/>
                  </a:lnTo>
                  <a:lnTo>
                    <a:pt x="310" y="10"/>
                  </a:lnTo>
                  <a:lnTo>
                    <a:pt x="312" y="13"/>
                  </a:lnTo>
                  <a:lnTo>
                    <a:pt x="313" y="17"/>
                  </a:lnTo>
                  <a:lnTo>
                    <a:pt x="313" y="20"/>
                  </a:lnTo>
                  <a:lnTo>
                    <a:pt x="313" y="20"/>
                  </a:lnTo>
                  <a:lnTo>
                    <a:pt x="310" y="28"/>
                  </a:lnTo>
                  <a:lnTo>
                    <a:pt x="303" y="39"/>
                  </a:lnTo>
                  <a:lnTo>
                    <a:pt x="303" y="39"/>
                  </a:lnTo>
                  <a:lnTo>
                    <a:pt x="287" y="60"/>
                  </a:lnTo>
                  <a:lnTo>
                    <a:pt x="287" y="60"/>
                  </a:lnTo>
                  <a:lnTo>
                    <a:pt x="259" y="98"/>
                  </a:lnTo>
                  <a:lnTo>
                    <a:pt x="259" y="98"/>
                  </a:lnTo>
                  <a:lnTo>
                    <a:pt x="257" y="101"/>
                  </a:lnTo>
                  <a:lnTo>
                    <a:pt x="254" y="102"/>
                  </a:lnTo>
                  <a:lnTo>
                    <a:pt x="254" y="102"/>
                  </a:lnTo>
                  <a:lnTo>
                    <a:pt x="251" y="102"/>
                  </a:lnTo>
                  <a:lnTo>
                    <a:pt x="249" y="101"/>
                  </a:lnTo>
                  <a:lnTo>
                    <a:pt x="249" y="101"/>
                  </a:lnTo>
                  <a:lnTo>
                    <a:pt x="247" y="99"/>
                  </a:lnTo>
                  <a:lnTo>
                    <a:pt x="245" y="97"/>
                  </a:lnTo>
                  <a:lnTo>
                    <a:pt x="245" y="97"/>
                  </a:lnTo>
                  <a:lnTo>
                    <a:pt x="245" y="94"/>
                  </a:lnTo>
                  <a:lnTo>
                    <a:pt x="246" y="92"/>
                  </a:lnTo>
                  <a:lnTo>
                    <a:pt x="246" y="92"/>
                  </a:lnTo>
                  <a:lnTo>
                    <a:pt x="255" y="78"/>
                  </a:lnTo>
                  <a:lnTo>
                    <a:pt x="276" y="51"/>
                  </a:lnTo>
                  <a:lnTo>
                    <a:pt x="276" y="51"/>
                  </a:lnTo>
                  <a:lnTo>
                    <a:pt x="292" y="31"/>
                  </a:lnTo>
                  <a:lnTo>
                    <a:pt x="292" y="31"/>
                  </a:lnTo>
                  <a:lnTo>
                    <a:pt x="271" y="37"/>
                  </a:lnTo>
                  <a:lnTo>
                    <a:pt x="250" y="43"/>
                  </a:lnTo>
                  <a:lnTo>
                    <a:pt x="230" y="51"/>
                  </a:lnTo>
                  <a:lnTo>
                    <a:pt x="211" y="60"/>
                  </a:lnTo>
                  <a:lnTo>
                    <a:pt x="211" y="60"/>
                  </a:lnTo>
                  <a:lnTo>
                    <a:pt x="192" y="69"/>
                  </a:lnTo>
                  <a:lnTo>
                    <a:pt x="173" y="79"/>
                  </a:lnTo>
                  <a:lnTo>
                    <a:pt x="155" y="90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20" y="115"/>
                  </a:lnTo>
                  <a:lnTo>
                    <a:pt x="104" y="129"/>
                  </a:lnTo>
                  <a:lnTo>
                    <a:pt x="88" y="144"/>
                  </a:lnTo>
                  <a:lnTo>
                    <a:pt x="74" y="161"/>
                  </a:lnTo>
                  <a:lnTo>
                    <a:pt x="74" y="161"/>
                  </a:lnTo>
                  <a:lnTo>
                    <a:pt x="60" y="178"/>
                  </a:lnTo>
                  <a:lnTo>
                    <a:pt x="48" y="196"/>
                  </a:lnTo>
                  <a:lnTo>
                    <a:pt x="38" y="214"/>
                  </a:lnTo>
                  <a:lnTo>
                    <a:pt x="29" y="233"/>
                  </a:lnTo>
                  <a:lnTo>
                    <a:pt x="29" y="233"/>
                  </a:lnTo>
                  <a:lnTo>
                    <a:pt x="22" y="252"/>
                  </a:lnTo>
                  <a:lnTo>
                    <a:pt x="17" y="270"/>
                  </a:lnTo>
                  <a:lnTo>
                    <a:pt x="15" y="287"/>
                  </a:lnTo>
                  <a:lnTo>
                    <a:pt x="14" y="304"/>
                  </a:lnTo>
                  <a:lnTo>
                    <a:pt x="14" y="304"/>
                  </a:lnTo>
                  <a:lnTo>
                    <a:pt x="15" y="313"/>
                  </a:lnTo>
                  <a:lnTo>
                    <a:pt x="17" y="322"/>
                  </a:lnTo>
                  <a:lnTo>
                    <a:pt x="20" y="329"/>
                  </a:lnTo>
                  <a:lnTo>
                    <a:pt x="24" y="336"/>
                  </a:lnTo>
                  <a:lnTo>
                    <a:pt x="29" y="342"/>
                  </a:lnTo>
                  <a:lnTo>
                    <a:pt x="34" y="347"/>
                  </a:lnTo>
                  <a:lnTo>
                    <a:pt x="41" y="352"/>
                  </a:lnTo>
                  <a:lnTo>
                    <a:pt x="48" y="356"/>
                  </a:lnTo>
                  <a:lnTo>
                    <a:pt x="48" y="356"/>
                  </a:lnTo>
                  <a:lnTo>
                    <a:pt x="50" y="357"/>
                  </a:lnTo>
                  <a:lnTo>
                    <a:pt x="52" y="360"/>
                  </a:lnTo>
                  <a:lnTo>
                    <a:pt x="52" y="360"/>
                  </a:lnTo>
                  <a:lnTo>
                    <a:pt x="52" y="362"/>
                  </a:lnTo>
                  <a:lnTo>
                    <a:pt x="52" y="365"/>
                  </a:lnTo>
                  <a:lnTo>
                    <a:pt x="52" y="365"/>
                  </a:lnTo>
                  <a:lnTo>
                    <a:pt x="50" y="367"/>
                  </a:lnTo>
                  <a:lnTo>
                    <a:pt x="48" y="369"/>
                  </a:lnTo>
                  <a:lnTo>
                    <a:pt x="48" y="369"/>
                  </a:lnTo>
                  <a:lnTo>
                    <a:pt x="45" y="370"/>
                  </a:lnTo>
                  <a:lnTo>
                    <a:pt x="42" y="369"/>
                  </a:lnTo>
                  <a:lnTo>
                    <a:pt x="42" y="369"/>
                  </a:lnTo>
                  <a:lnTo>
                    <a:pt x="33" y="365"/>
                  </a:lnTo>
                  <a:lnTo>
                    <a:pt x="25" y="359"/>
                  </a:lnTo>
                  <a:lnTo>
                    <a:pt x="18" y="352"/>
                  </a:lnTo>
                  <a:lnTo>
                    <a:pt x="12" y="345"/>
                  </a:lnTo>
                  <a:lnTo>
                    <a:pt x="7" y="336"/>
                  </a:lnTo>
                  <a:lnTo>
                    <a:pt x="3" y="327"/>
                  </a:lnTo>
                  <a:lnTo>
                    <a:pt x="1" y="316"/>
                  </a:lnTo>
                  <a:lnTo>
                    <a:pt x="0" y="305"/>
                  </a:lnTo>
                  <a:lnTo>
                    <a:pt x="0" y="305"/>
                  </a:lnTo>
                  <a:lnTo>
                    <a:pt x="0" y="296"/>
                  </a:lnTo>
                  <a:lnTo>
                    <a:pt x="0" y="286"/>
                  </a:lnTo>
                  <a:lnTo>
                    <a:pt x="3" y="267"/>
                  </a:lnTo>
                  <a:lnTo>
                    <a:pt x="8" y="248"/>
                  </a:lnTo>
                  <a:lnTo>
                    <a:pt x="15" y="227"/>
                  </a:lnTo>
                  <a:lnTo>
                    <a:pt x="15" y="227"/>
                  </a:lnTo>
                  <a:lnTo>
                    <a:pt x="25" y="207"/>
                  </a:lnTo>
                  <a:lnTo>
                    <a:pt x="36" y="188"/>
                  </a:lnTo>
                  <a:lnTo>
                    <a:pt x="48" y="170"/>
                  </a:lnTo>
                  <a:lnTo>
                    <a:pt x="62" y="152"/>
                  </a:lnTo>
                  <a:lnTo>
                    <a:pt x="62" y="152"/>
                  </a:lnTo>
                  <a:lnTo>
                    <a:pt x="78" y="135"/>
                  </a:lnTo>
                  <a:lnTo>
                    <a:pt x="93" y="119"/>
                  </a:lnTo>
                  <a:lnTo>
                    <a:pt x="110" y="105"/>
                  </a:lnTo>
                  <a:lnTo>
                    <a:pt x="128" y="91"/>
                  </a:lnTo>
                  <a:lnTo>
                    <a:pt x="128" y="91"/>
                  </a:lnTo>
                  <a:lnTo>
                    <a:pt x="146" y="79"/>
                  </a:lnTo>
                  <a:lnTo>
                    <a:pt x="165" y="67"/>
                  </a:lnTo>
                  <a:lnTo>
                    <a:pt x="184" y="57"/>
                  </a:lnTo>
                  <a:lnTo>
                    <a:pt x="204" y="47"/>
                  </a:lnTo>
                  <a:lnTo>
                    <a:pt x="204" y="47"/>
                  </a:lnTo>
                  <a:lnTo>
                    <a:pt x="224" y="38"/>
                  </a:lnTo>
                  <a:lnTo>
                    <a:pt x="244" y="30"/>
                  </a:lnTo>
                  <a:lnTo>
                    <a:pt x="265" y="23"/>
                  </a:lnTo>
                  <a:lnTo>
                    <a:pt x="286" y="17"/>
                  </a:lnTo>
                  <a:lnTo>
                    <a:pt x="286" y="17"/>
                  </a:lnTo>
                  <a:lnTo>
                    <a:pt x="274" y="16"/>
                  </a:lnTo>
                  <a:lnTo>
                    <a:pt x="259" y="15"/>
                  </a:lnTo>
                  <a:lnTo>
                    <a:pt x="259" y="15"/>
                  </a:lnTo>
                  <a:lnTo>
                    <a:pt x="224" y="15"/>
                  </a:lnTo>
                  <a:lnTo>
                    <a:pt x="212" y="15"/>
                  </a:lnTo>
                  <a:lnTo>
                    <a:pt x="203" y="17"/>
                  </a:lnTo>
                  <a:lnTo>
                    <a:pt x="203" y="17"/>
                  </a:lnTo>
                  <a:lnTo>
                    <a:pt x="200" y="17"/>
                  </a:lnTo>
                  <a:lnTo>
                    <a:pt x="198" y="16"/>
                  </a:lnTo>
                  <a:lnTo>
                    <a:pt x="198" y="16"/>
                  </a:lnTo>
                  <a:lnTo>
                    <a:pt x="196" y="14"/>
                  </a:lnTo>
                  <a:lnTo>
                    <a:pt x="194" y="12"/>
                  </a:lnTo>
                  <a:lnTo>
                    <a:pt x="194" y="12"/>
                  </a:lnTo>
                  <a:lnTo>
                    <a:pt x="194" y="9"/>
                  </a:lnTo>
                  <a:lnTo>
                    <a:pt x="195" y="6"/>
                  </a:lnTo>
                  <a:lnTo>
                    <a:pt x="195" y="6"/>
                  </a:lnTo>
                  <a:lnTo>
                    <a:pt x="197" y="4"/>
                  </a:lnTo>
                  <a:lnTo>
                    <a:pt x="20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sz="2400" kern="1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Freeform 2591">
              <a:extLst>
                <a:ext uri="{FF2B5EF4-FFF2-40B4-BE49-F238E27FC236}">
                  <a16:creationId xmlns:a16="http://schemas.microsoft.com/office/drawing/2014/main" id="{3F8C9737-CE76-092D-8FCD-2DBC8DE806EC}"/>
                </a:ext>
              </a:extLst>
            </p:cNvPr>
            <p:cNvSpPr/>
            <p:nvPr/>
          </p:nvSpPr>
          <p:spPr bwMode="auto">
            <a:xfrm rot="389117">
              <a:off x="5632110" y="2102189"/>
              <a:ext cx="839252" cy="1636521"/>
            </a:xfrm>
            <a:custGeom>
              <a:avLst/>
              <a:gdLst>
                <a:gd name="T0" fmla="*/ 209 w 313"/>
                <a:gd name="T1" fmla="*/ 1 h 370"/>
                <a:gd name="T2" fmla="*/ 260 w 313"/>
                <a:gd name="T3" fmla="*/ 0 h 370"/>
                <a:gd name="T4" fmla="*/ 294 w 313"/>
                <a:gd name="T5" fmla="*/ 3 h 370"/>
                <a:gd name="T6" fmla="*/ 306 w 313"/>
                <a:gd name="T7" fmla="*/ 8 h 370"/>
                <a:gd name="T8" fmla="*/ 312 w 313"/>
                <a:gd name="T9" fmla="*/ 13 h 370"/>
                <a:gd name="T10" fmla="*/ 313 w 313"/>
                <a:gd name="T11" fmla="*/ 20 h 370"/>
                <a:gd name="T12" fmla="*/ 303 w 313"/>
                <a:gd name="T13" fmla="*/ 39 h 370"/>
                <a:gd name="T14" fmla="*/ 259 w 313"/>
                <a:gd name="T15" fmla="*/ 98 h 370"/>
                <a:gd name="T16" fmla="*/ 254 w 313"/>
                <a:gd name="T17" fmla="*/ 102 h 370"/>
                <a:gd name="T18" fmla="*/ 249 w 313"/>
                <a:gd name="T19" fmla="*/ 101 h 370"/>
                <a:gd name="T20" fmla="*/ 245 w 313"/>
                <a:gd name="T21" fmla="*/ 97 h 370"/>
                <a:gd name="T22" fmla="*/ 246 w 313"/>
                <a:gd name="T23" fmla="*/ 92 h 370"/>
                <a:gd name="T24" fmla="*/ 276 w 313"/>
                <a:gd name="T25" fmla="*/ 51 h 370"/>
                <a:gd name="T26" fmla="*/ 292 w 313"/>
                <a:gd name="T27" fmla="*/ 31 h 370"/>
                <a:gd name="T28" fmla="*/ 230 w 313"/>
                <a:gd name="T29" fmla="*/ 51 h 370"/>
                <a:gd name="T30" fmla="*/ 192 w 313"/>
                <a:gd name="T31" fmla="*/ 69 h 370"/>
                <a:gd name="T32" fmla="*/ 137 w 313"/>
                <a:gd name="T33" fmla="*/ 102 h 370"/>
                <a:gd name="T34" fmla="*/ 104 w 313"/>
                <a:gd name="T35" fmla="*/ 129 h 370"/>
                <a:gd name="T36" fmla="*/ 74 w 313"/>
                <a:gd name="T37" fmla="*/ 161 h 370"/>
                <a:gd name="T38" fmla="*/ 38 w 313"/>
                <a:gd name="T39" fmla="*/ 214 h 370"/>
                <a:gd name="T40" fmla="*/ 22 w 313"/>
                <a:gd name="T41" fmla="*/ 252 h 370"/>
                <a:gd name="T42" fmla="*/ 14 w 313"/>
                <a:gd name="T43" fmla="*/ 304 h 370"/>
                <a:gd name="T44" fmla="*/ 17 w 313"/>
                <a:gd name="T45" fmla="*/ 322 h 370"/>
                <a:gd name="T46" fmla="*/ 29 w 313"/>
                <a:gd name="T47" fmla="*/ 342 h 370"/>
                <a:gd name="T48" fmla="*/ 48 w 313"/>
                <a:gd name="T49" fmla="*/ 356 h 370"/>
                <a:gd name="T50" fmla="*/ 52 w 313"/>
                <a:gd name="T51" fmla="*/ 360 h 370"/>
                <a:gd name="T52" fmla="*/ 52 w 313"/>
                <a:gd name="T53" fmla="*/ 365 h 370"/>
                <a:gd name="T54" fmla="*/ 48 w 313"/>
                <a:gd name="T55" fmla="*/ 369 h 370"/>
                <a:gd name="T56" fmla="*/ 42 w 313"/>
                <a:gd name="T57" fmla="*/ 369 h 370"/>
                <a:gd name="T58" fmla="*/ 25 w 313"/>
                <a:gd name="T59" fmla="*/ 359 h 370"/>
                <a:gd name="T60" fmla="*/ 7 w 313"/>
                <a:gd name="T61" fmla="*/ 336 h 370"/>
                <a:gd name="T62" fmla="*/ 0 w 313"/>
                <a:gd name="T63" fmla="*/ 305 h 370"/>
                <a:gd name="T64" fmla="*/ 0 w 313"/>
                <a:gd name="T65" fmla="*/ 286 h 370"/>
                <a:gd name="T66" fmla="*/ 15 w 313"/>
                <a:gd name="T67" fmla="*/ 227 h 370"/>
                <a:gd name="T68" fmla="*/ 36 w 313"/>
                <a:gd name="T69" fmla="*/ 188 h 370"/>
                <a:gd name="T70" fmla="*/ 62 w 313"/>
                <a:gd name="T71" fmla="*/ 152 h 370"/>
                <a:gd name="T72" fmla="*/ 110 w 313"/>
                <a:gd name="T73" fmla="*/ 105 h 370"/>
                <a:gd name="T74" fmla="*/ 146 w 313"/>
                <a:gd name="T75" fmla="*/ 79 h 370"/>
                <a:gd name="T76" fmla="*/ 204 w 313"/>
                <a:gd name="T77" fmla="*/ 47 h 370"/>
                <a:gd name="T78" fmla="*/ 244 w 313"/>
                <a:gd name="T79" fmla="*/ 30 h 370"/>
                <a:gd name="T80" fmla="*/ 286 w 313"/>
                <a:gd name="T81" fmla="*/ 17 h 370"/>
                <a:gd name="T82" fmla="*/ 259 w 313"/>
                <a:gd name="T83" fmla="*/ 15 h 370"/>
                <a:gd name="T84" fmla="*/ 203 w 313"/>
                <a:gd name="T85" fmla="*/ 17 h 370"/>
                <a:gd name="T86" fmla="*/ 198 w 313"/>
                <a:gd name="T87" fmla="*/ 16 h 370"/>
                <a:gd name="T88" fmla="*/ 194 w 313"/>
                <a:gd name="T89" fmla="*/ 12 h 370"/>
                <a:gd name="T90" fmla="*/ 195 w 313"/>
                <a:gd name="T91" fmla="*/ 6 h 370"/>
                <a:gd name="T92" fmla="*/ 200 w 313"/>
                <a:gd name="T93" fmla="*/ 3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13" h="370">
                  <a:moveTo>
                    <a:pt x="200" y="3"/>
                  </a:moveTo>
                  <a:lnTo>
                    <a:pt x="200" y="3"/>
                  </a:lnTo>
                  <a:lnTo>
                    <a:pt x="209" y="1"/>
                  </a:lnTo>
                  <a:lnTo>
                    <a:pt x="222" y="0"/>
                  </a:lnTo>
                  <a:lnTo>
                    <a:pt x="239" y="0"/>
                  </a:lnTo>
                  <a:lnTo>
                    <a:pt x="260" y="0"/>
                  </a:lnTo>
                  <a:lnTo>
                    <a:pt x="260" y="0"/>
                  </a:lnTo>
                  <a:lnTo>
                    <a:pt x="279" y="1"/>
                  </a:lnTo>
                  <a:lnTo>
                    <a:pt x="294" y="3"/>
                  </a:lnTo>
                  <a:lnTo>
                    <a:pt x="294" y="3"/>
                  </a:lnTo>
                  <a:lnTo>
                    <a:pt x="301" y="5"/>
                  </a:lnTo>
                  <a:lnTo>
                    <a:pt x="306" y="8"/>
                  </a:lnTo>
                  <a:lnTo>
                    <a:pt x="306" y="8"/>
                  </a:lnTo>
                  <a:lnTo>
                    <a:pt x="310" y="10"/>
                  </a:lnTo>
                  <a:lnTo>
                    <a:pt x="312" y="13"/>
                  </a:lnTo>
                  <a:lnTo>
                    <a:pt x="313" y="17"/>
                  </a:lnTo>
                  <a:lnTo>
                    <a:pt x="313" y="20"/>
                  </a:lnTo>
                  <a:lnTo>
                    <a:pt x="313" y="20"/>
                  </a:lnTo>
                  <a:lnTo>
                    <a:pt x="310" y="28"/>
                  </a:lnTo>
                  <a:lnTo>
                    <a:pt x="303" y="39"/>
                  </a:lnTo>
                  <a:lnTo>
                    <a:pt x="303" y="39"/>
                  </a:lnTo>
                  <a:lnTo>
                    <a:pt x="287" y="60"/>
                  </a:lnTo>
                  <a:lnTo>
                    <a:pt x="287" y="60"/>
                  </a:lnTo>
                  <a:lnTo>
                    <a:pt x="259" y="98"/>
                  </a:lnTo>
                  <a:lnTo>
                    <a:pt x="259" y="98"/>
                  </a:lnTo>
                  <a:lnTo>
                    <a:pt x="257" y="101"/>
                  </a:lnTo>
                  <a:lnTo>
                    <a:pt x="254" y="102"/>
                  </a:lnTo>
                  <a:lnTo>
                    <a:pt x="254" y="102"/>
                  </a:lnTo>
                  <a:lnTo>
                    <a:pt x="251" y="102"/>
                  </a:lnTo>
                  <a:lnTo>
                    <a:pt x="249" y="101"/>
                  </a:lnTo>
                  <a:lnTo>
                    <a:pt x="249" y="101"/>
                  </a:lnTo>
                  <a:lnTo>
                    <a:pt x="247" y="99"/>
                  </a:lnTo>
                  <a:lnTo>
                    <a:pt x="245" y="97"/>
                  </a:lnTo>
                  <a:lnTo>
                    <a:pt x="245" y="97"/>
                  </a:lnTo>
                  <a:lnTo>
                    <a:pt x="245" y="94"/>
                  </a:lnTo>
                  <a:lnTo>
                    <a:pt x="246" y="92"/>
                  </a:lnTo>
                  <a:lnTo>
                    <a:pt x="246" y="92"/>
                  </a:lnTo>
                  <a:lnTo>
                    <a:pt x="255" y="78"/>
                  </a:lnTo>
                  <a:lnTo>
                    <a:pt x="276" y="51"/>
                  </a:lnTo>
                  <a:lnTo>
                    <a:pt x="276" y="51"/>
                  </a:lnTo>
                  <a:lnTo>
                    <a:pt x="292" y="31"/>
                  </a:lnTo>
                  <a:lnTo>
                    <a:pt x="292" y="31"/>
                  </a:lnTo>
                  <a:lnTo>
                    <a:pt x="271" y="37"/>
                  </a:lnTo>
                  <a:lnTo>
                    <a:pt x="250" y="43"/>
                  </a:lnTo>
                  <a:lnTo>
                    <a:pt x="230" y="51"/>
                  </a:lnTo>
                  <a:lnTo>
                    <a:pt x="211" y="60"/>
                  </a:lnTo>
                  <a:lnTo>
                    <a:pt x="211" y="60"/>
                  </a:lnTo>
                  <a:lnTo>
                    <a:pt x="192" y="69"/>
                  </a:lnTo>
                  <a:lnTo>
                    <a:pt x="173" y="79"/>
                  </a:lnTo>
                  <a:lnTo>
                    <a:pt x="155" y="90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20" y="115"/>
                  </a:lnTo>
                  <a:lnTo>
                    <a:pt x="104" y="129"/>
                  </a:lnTo>
                  <a:lnTo>
                    <a:pt x="88" y="144"/>
                  </a:lnTo>
                  <a:lnTo>
                    <a:pt x="74" y="161"/>
                  </a:lnTo>
                  <a:lnTo>
                    <a:pt x="74" y="161"/>
                  </a:lnTo>
                  <a:lnTo>
                    <a:pt x="60" y="178"/>
                  </a:lnTo>
                  <a:lnTo>
                    <a:pt x="48" y="196"/>
                  </a:lnTo>
                  <a:lnTo>
                    <a:pt x="38" y="214"/>
                  </a:lnTo>
                  <a:lnTo>
                    <a:pt x="29" y="233"/>
                  </a:lnTo>
                  <a:lnTo>
                    <a:pt x="29" y="233"/>
                  </a:lnTo>
                  <a:lnTo>
                    <a:pt x="22" y="252"/>
                  </a:lnTo>
                  <a:lnTo>
                    <a:pt x="17" y="270"/>
                  </a:lnTo>
                  <a:lnTo>
                    <a:pt x="15" y="287"/>
                  </a:lnTo>
                  <a:lnTo>
                    <a:pt x="14" y="304"/>
                  </a:lnTo>
                  <a:lnTo>
                    <a:pt x="14" y="304"/>
                  </a:lnTo>
                  <a:lnTo>
                    <a:pt x="15" y="313"/>
                  </a:lnTo>
                  <a:lnTo>
                    <a:pt x="17" y="322"/>
                  </a:lnTo>
                  <a:lnTo>
                    <a:pt x="20" y="329"/>
                  </a:lnTo>
                  <a:lnTo>
                    <a:pt x="24" y="336"/>
                  </a:lnTo>
                  <a:lnTo>
                    <a:pt x="29" y="342"/>
                  </a:lnTo>
                  <a:lnTo>
                    <a:pt x="34" y="347"/>
                  </a:lnTo>
                  <a:lnTo>
                    <a:pt x="41" y="352"/>
                  </a:lnTo>
                  <a:lnTo>
                    <a:pt x="48" y="356"/>
                  </a:lnTo>
                  <a:lnTo>
                    <a:pt x="48" y="356"/>
                  </a:lnTo>
                  <a:lnTo>
                    <a:pt x="50" y="357"/>
                  </a:lnTo>
                  <a:lnTo>
                    <a:pt x="52" y="360"/>
                  </a:lnTo>
                  <a:lnTo>
                    <a:pt x="52" y="360"/>
                  </a:lnTo>
                  <a:lnTo>
                    <a:pt x="52" y="362"/>
                  </a:lnTo>
                  <a:lnTo>
                    <a:pt x="52" y="365"/>
                  </a:lnTo>
                  <a:lnTo>
                    <a:pt x="52" y="365"/>
                  </a:lnTo>
                  <a:lnTo>
                    <a:pt x="50" y="367"/>
                  </a:lnTo>
                  <a:lnTo>
                    <a:pt x="48" y="369"/>
                  </a:lnTo>
                  <a:lnTo>
                    <a:pt x="48" y="369"/>
                  </a:lnTo>
                  <a:lnTo>
                    <a:pt x="45" y="370"/>
                  </a:lnTo>
                  <a:lnTo>
                    <a:pt x="42" y="369"/>
                  </a:lnTo>
                  <a:lnTo>
                    <a:pt x="42" y="369"/>
                  </a:lnTo>
                  <a:lnTo>
                    <a:pt x="33" y="365"/>
                  </a:lnTo>
                  <a:lnTo>
                    <a:pt x="25" y="359"/>
                  </a:lnTo>
                  <a:lnTo>
                    <a:pt x="18" y="352"/>
                  </a:lnTo>
                  <a:lnTo>
                    <a:pt x="12" y="345"/>
                  </a:lnTo>
                  <a:lnTo>
                    <a:pt x="7" y="336"/>
                  </a:lnTo>
                  <a:lnTo>
                    <a:pt x="3" y="327"/>
                  </a:lnTo>
                  <a:lnTo>
                    <a:pt x="1" y="316"/>
                  </a:lnTo>
                  <a:lnTo>
                    <a:pt x="0" y="305"/>
                  </a:lnTo>
                  <a:lnTo>
                    <a:pt x="0" y="305"/>
                  </a:lnTo>
                  <a:lnTo>
                    <a:pt x="0" y="296"/>
                  </a:lnTo>
                  <a:lnTo>
                    <a:pt x="0" y="286"/>
                  </a:lnTo>
                  <a:lnTo>
                    <a:pt x="3" y="267"/>
                  </a:lnTo>
                  <a:lnTo>
                    <a:pt x="8" y="248"/>
                  </a:lnTo>
                  <a:lnTo>
                    <a:pt x="15" y="227"/>
                  </a:lnTo>
                  <a:lnTo>
                    <a:pt x="15" y="227"/>
                  </a:lnTo>
                  <a:lnTo>
                    <a:pt x="25" y="207"/>
                  </a:lnTo>
                  <a:lnTo>
                    <a:pt x="36" y="188"/>
                  </a:lnTo>
                  <a:lnTo>
                    <a:pt x="48" y="170"/>
                  </a:lnTo>
                  <a:lnTo>
                    <a:pt x="62" y="152"/>
                  </a:lnTo>
                  <a:lnTo>
                    <a:pt x="62" y="152"/>
                  </a:lnTo>
                  <a:lnTo>
                    <a:pt x="78" y="135"/>
                  </a:lnTo>
                  <a:lnTo>
                    <a:pt x="93" y="119"/>
                  </a:lnTo>
                  <a:lnTo>
                    <a:pt x="110" y="105"/>
                  </a:lnTo>
                  <a:lnTo>
                    <a:pt x="128" y="91"/>
                  </a:lnTo>
                  <a:lnTo>
                    <a:pt x="128" y="91"/>
                  </a:lnTo>
                  <a:lnTo>
                    <a:pt x="146" y="79"/>
                  </a:lnTo>
                  <a:lnTo>
                    <a:pt x="165" y="67"/>
                  </a:lnTo>
                  <a:lnTo>
                    <a:pt x="184" y="57"/>
                  </a:lnTo>
                  <a:lnTo>
                    <a:pt x="204" y="47"/>
                  </a:lnTo>
                  <a:lnTo>
                    <a:pt x="204" y="47"/>
                  </a:lnTo>
                  <a:lnTo>
                    <a:pt x="224" y="38"/>
                  </a:lnTo>
                  <a:lnTo>
                    <a:pt x="244" y="30"/>
                  </a:lnTo>
                  <a:lnTo>
                    <a:pt x="265" y="23"/>
                  </a:lnTo>
                  <a:lnTo>
                    <a:pt x="286" y="17"/>
                  </a:lnTo>
                  <a:lnTo>
                    <a:pt x="286" y="17"/>
                  </a:lnTo>
                  <a:lnTo>
                    <a:pt x="274" y="16"/>
                  </a:lnTo>
                  <a:lnTo>
                    <a:pt x="259" y="15"/>
                  </a:lnTo>
                  <a:lnTo>
                    <a:pt x="259" y="15"/>
                  </a:lnTo>
                  <a:lnTo>
                    <a:pt x="224" y="15"/>
                  </a:lnTo>
                  <a:lnTo>
                    <a:pt x="212" y="15"/>
                  </a:lnTo>
                  <a:lnTo>
                    <a:pt x="203" y="17"/>
                  </a:lnTo>
                  <a:lnTo>
                    <a:pt x="203" y="17"/>
                  </a:lnTo>
                  <a:lnTo>
                    <a:pt x="200" y="17"/>
                  </a:lnTo>
                  <a:lnTo>
                    <a:pt x="198" y="16"/>
                  </a:lnTo>
                  <a:lnTo>
                    <a:pt x="198" y="16"/>
                  </a:lnTo>
                  <a:lnTo>
                    <a:pt x="196" y="14"/>
                  </a:lnTo>
                  <a:lnTo>
                    <a:pt x="194" y="12"/>
                  </a:lnTo>
                  <a:lnTo>
                    <a:pt x="194" y="12"/>
                  </a:lnTo>
                  <a:lnTo>
                    <a:pt x="194" y="9"/>
                  </a:lnTo>
                  <a:lnTo>
                    <a:pt x="195" y="6"/>
                  </a:lnTo>
                  <a:lnTo>
                    <a:pt x="195" y="6"/>
                  </a:lnTo>
                  <a:lnTo>
                    <a:pt x="197" y="4"/>
                  </a:lnTo>
                  <a:lnTo>
                    <a:pt x="20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sz="2400" kern="1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67947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43E31-40D1-CD0A-366F-2785DFA71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246642F1-4F45-DA88-0F7C-0AF3A497B1A7}"/>
              </a:ext>
            </a:extLst>
          </p:cNvPr>
          <p:cNvGrpSpPr/>
          <p:nvPr/>
        </p:nvGrpSpPr>
        <p:grpSpPr>
          <a:xfrm>
            <a:off x="-256932" y="-3963239"/>
            <a:ext cx="12705863" cy="11189797"/>
            <a:chOff x="-80229" y="-3950082"/>
            <a:chExt cx="12705863" cy="11189797"/>
          </a:xfrm>
        </p:grpSpPr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A3D5847A-6DB7-D3FC-36C7-AF947A278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4127488" y="-6042"/>
              <a:ext cx="3038040" cy="11453474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C36B960E-C594-E5F5-6D85-C6FB11C30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9323544">
              <a:off x="9587594" y="-3950082"/>
              <a:ext cx="3038040" cy="10420942"/>
            </a:xfrm>
            <a:prstGeom prst="rect">
              <a:avLst/>
            </a:prstGeom>
          </p:spPr>
        </p:pic>
      </p:grpSp>
      <p:sp>
        <p:nvSpPr>
          <p:cNvPr id="2" name="Rectangle 17">
            <a:extLst>
              <a:ext uri="{FF2B5EF4-FFF2-40B4-BE49-F238E27FC236}">
                <a16:creationId xmlns:a16="http://schemas.microsoft.com/office/drawing/2014/main" id="{085CF385-0C7D-E9BE-15F7-BAFCBC0AAB63}"/>
              </a:ext>
            </a:extLst>
          </p:cNvPr>
          <p:cNvSpPr/>
          <p:nvPr/>
        </p:nvSpPr>
        <p:spPr>
          <a:xfrm>
            <a:off x="111833" y="358038"/>
            <a:ext cx="8854549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技术六：社区健康度算法</a:t>
            </a:r>
            <a:r>
              <a:rPr lang="en-US" altLang="zh-CN" sz="2400" b="1" dirty="0">
                <a:solidFill>
                  <a:schemeClr val="bg1"/>
                </a:solidFill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</a:rPr>
              <a:t>量化社区活力，助力可持续发展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AF14FD-7971-3EF5-D4BB-2F9642A8C3D7}"/>
              </a:ext>
            </a:extLst>
          </p:cNvPr>
          <p:cNvSpPr txBox="1"/>
          <p:nvPr/>
        </p:nvSpPr>
        <p:spPr>
          <a:xfrm>
            <a:off x="547652" y="917912"/>
            <a:ext cx="2452105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活跃度维度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月度活跃开发者数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月度协作事件总数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开发者增长率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开发者留存率 </a:t>
            </a:r>
            <a:endParaRPr lang="en-US" altLang="zh-CN" sz="1600" dirty="0">
              <a:solidFill>
                <a:schemeClr val="bg1"/>
              </a:solidFill>
            </a:endParaRPr>
          </a:p>
          <a:p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协作强度维度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平均协作权重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协作关系密度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跨社区协作比例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核心开发者协作次数 </a:t>
            </a:r>
            <a:endParaRPr lang="en-US" altLang="zh-CN" sz="1600" dirty="0">
              <a:solidFill>
                <a:schemeClr val="bg1"/>
              </a:solidFill>
            </a:endParaRPr>
          </a:p>
          <a:p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社区结构维度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社区数量与规模分布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社区稳定性指数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孤岛社区比例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核心社区占比</a:t>
            </a:r>
            <a:endParaRPr lang="en-US" altLang="zh-CN" sz="1600" dirty="0">
              <a:solidFill>
                <a:schemeClr val="bg1"/>
              </a:solidFill>
            </a:endParaRPr>
          </a:p>
          <a:p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网络健康维度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网络密度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平均聚类系数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连通分量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关键节点分布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93FDDE-1002-32BB-7B0B-F741F2D0C039}"/>
              </a:ext>
            </a:extLst>
          </p:cNvPr>
          <p:cNvSpPr txBox="1"/>
          <p:nvPr/>
        </p:nvSpPr>
        <p:spPr>
          <a:xfrm>
            <a:off x="4539107" y="1700752"/>
            <a:ext cx="388619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指标标准化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对不同量级指标进行标准化处理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统一指标范围至[0, 100]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消除指标间量级差异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权重分配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支持自定义权重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默认为各维度等权重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可根据社区需求调整 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健康度计算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维度得分 = Σ(指标值 × 指标权重) 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健康度 = Σ(维度得分 × 维度权重)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F3AF4CC-C651-542F-AAD4-29385B02CFB9}"/>
              </a:ext>
            </a:extLst>
          </p:cNvPr>
          <p:cNvGrpSpPr/>
          <p:nvPr/>
        </p:nvGrpSpPr>
        <p:grpSpPr>
          <a:xfrm>
            <a:off x="2709829" y="2765214"/>
            <a:ext cx="1756888" cy="1952485"/>
            <a:chOff x="2709829" y="2765214"/>
            <a:chExt cx="1756888" cy="1952485"/>
          </a:xfrm>
        </p:grpSpPr>
        <p:sp>
          <p:nvSpPr>
            <p:cNvPr id="17" name="Freeform 2591">
              <a:extLst>
                <a:ext uri="{FF2B5EF4-FFF2-40B4-BE49-F238E27FC236}">
                  <a16:creationId xmlns:a16="http://schemas.microsoft.com/office/drawing/2014/main" id="{21C06E0E-EA5C-5933-E6A3-45FDA01CB39A}"/>
                </a:ext>
              </a:extLst>
            </p:cNvPr>
            <p:cNvSpPr/>
            <p:nvPr/>
          </p:nvSpPr>
          <p:spPr bwMode="auto">
            <a:xfrm rot="3536479">
              <a:off x="3108464" y="2366579"/>
              <a:ext cx="839252" cy="1636521"/>
            </a:xfrm>
            <a:custGeom>
              <a:avLst/>
              <a:gdLst>
                <a:gd name="T0" fmla="*/ 209 w 313"/>
                <a:gd name="T1" fmla="*/ 1 h 370"/>
                <a:gd name="T2" fmla="*/ 260 w 313"/>
                <a:gd name="T3" fmla="*/ 0 h 370"/>
                <a:gd name="T4" fmla="*/ 294 w 313"/>
                <a:gd name="T5" fmla="*/ 3 h 370"/>
                <a:gd name="T6" fmla="*/ 306 w 313"/>
                <a:gd name="T7" fmla="*/ 8 h 370"/>
                <a:gd name="T8" fmla="*/ 312 w 313"/>
                <a:gd name="T9" fmla="*/ 13 h 370"/>
                <a:gd name="T10" fmla="*/ 313 w 313"/>
                <a:gd name="T11" fmla="*/ 20 h 370"/>
                <a:gd name="T12" fmla="*/ 303 w 313"/>
                <a:gd name="T13" fmla="*/ 39 h 370"/>
                <a:gd name="T14" fmla="*/ 259 w 313"/>
                <a:gd name="T15" fmla="*/ 98 h 370"/>
                <a:gd name="T16" fmla="*/ 254 w 313"/>
                <a:gd name="T17" fmla="*/ 102 h 370"/>
                <a:gd name="T18" fmla="*/ 249 w 313"/>
                <a:gd name="T19" fmla="*/ 101 h 370"/>
                <a:gd name="T20" fmla="*/ 245 w 313"/>
                <a:gd name="T21" fmla="*/ 97 h 370"/>
                <a:gd name="T22" fmla="*/ 246 w 313"/>
                <a:gd name="T23" fmla="*/ 92 h 370"/>
                <a:gd name="T24" fmla="*/ 276 w 313"/>
                <a:gd name="T25" fmla="*/ 51 h 370"/>
                <a:gd name="T26" fmla="*/ 292 w 313"/>
                <a:gd name="T27" fmla="*/ 31 h 370"/>
                <a:gd name="T28" fmla="*/ 230 w 313"/>
                <a:gd name="T29" fmla="*/ 51 h 370"/>
                <a:gd name="T30" fmla="*/ 192 w 313"/>
                <a:gd name="T31" fmla="*/ 69 h 370"/>
                <a:gd name="T32" fmla="*/ 137 w 313"/>
                <a:gd name="T33" fmla="*/ 102 h 370"/>
                <a:gd name="T34" fmla="*/ 104 w 313"/>
                <a:gd name="T35" fmla="*/ 129 h 370"/>
                <a:gd name="T36" fmla="*/ 74 w 313"/>
                <a:gd name="T37" fmla="*/ 161 h 370"/>
                <a:gd name="T38" fmla="*/ 38 w 313"/>
                <a:gd name="T39" fmla="*/ 214 h 370"/>
                <a:gd name="T40" fmla="*/ 22 w 313"/>
                <a:gd name="T41" fmla="*/ 252 h 370"/>
                <a:gd name="T42" fmla="*/ 14 w 313"/>
                <a:gd name="T43" fmla="*/ 304 h 370"/>
                <a:gd name="T44" fmla="*/ 17 w 313"/>
                <a:gd name="T45" fmla="*/ 322 h 370"/>
                <a:gd name="T46" fmla="*/ 29 w 313"/>
                <a:gd name="T47" fmla="*/ 342 h 370"/>
                <a:gd name="T48" fmla="*/ 48 w 313"/>
                <a:gd name="T49" fmla="*/ 356 h 370"/>
                <a:gd name="T50" fmla="*/ 52 w 313"/>
                <a:gd name="T51" fmla="*/ 360 h 370"/>
                <a:gd name="T52" fmla="*/ 52 w 313"/>
                <a:gd name="T53" fmla="*/ 365 h 370"/>
                <a:gd name="T54" fmla="*/ 48 w 313"/>
                <a:gd name="T55" fmla="*/ 369 h 370"/>
                <a:gd name="T56" fmla="*/ 42 w 313"/>
                <a:gd name="T57" fmla="*/ 369 h 370"/>
                <a:gd name="T58" fmla="*/ 25 w 313"/>
                <a:gd name="T59" fmla="*/ 359 h 370"/>
                <a:gd name="T60" fmla="*/ 7 w 313"/>
                <a:gd name="T61" fmla="*/ 336 h 370"/>
                <a:gd name="T62" fmla="*/ 0 w 313"/>
                <a:gd name="T63" fmla="*/ 305 h 370"/>
                <a:gd name="T64" fmla="*/ 0 w 313"/>
                <a:gd name="T65" fmla="*/ 286 h 370"/>
                <a:gd name="T66" fmla="*/ 15 w 313"/>
                <a:gd name="T67" fmla="*/ 227 h 370"/>
                <a:gd name="T68" fmla="*/ 36 w 313"/>
                <a:gd name="T69" fmla="*/ 188 h 370"/>
                <a:gd name="T70" fmla="*/ 62 w 313"/>
                <a:gd name="T71" fmla="*/ 152 h 370"/>
                <a:gd name="T72" fmla="*/ 110 w 313"/>
                <a:gd name="T73" fmla="*/ 105 h 370"/>
                <a:gd name="T74" fmla="*/ 146 w 313"/>
                <a:gd name="T75" fmla="*/ 79 h 370"/>
                <a:gd name="T76" fmla="*/ 204 w 313"/>
                <a:gd name="T77" fmla="*/ 47 h 370"/>
                <a:gd name="T78" fmla="*/ 244 w 313"/>
                <a:gd name="T79" fmla="*/ 30 h 370"/>
                <a:gd name="T80" fmla="*/ 286 w 313"/>
                <a:gd name="T81" fmla="*/ 17 h 370"/>
                <a:gd name="T82" fmla="*/ 259 w 313"/>
                <a:gd name="T83" fmla="*/ 15 h 370"/>
                <a:gd name="T84" fmla="*/ 203 w 313"/>
                <a:gd name="T85" fmla="*/ 17 h 370"/>
                <a:gd name="T86" fmla="*/ 198 w 313"/>
                <a:gd name="T87" fmla="*/ 16 h 370"/>
                <a:gd name="T88" fmla="*/ 194 w 313"/>
                <a:gd name="T89" fmla="*/ 12 h 370"/>
                <a:gd name="T90" fmla="*/ 195 w 313"/>
                <a:gd name="T91" fmla="*/ 6 h 370"/>
                <a:gd name="T92" fmla="*/ 200 w 313"/>
                <a:gd name="T93" fmla="*/ 3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13" h="370">
                  <a:moveTo>
                    <a:pt x="200" y="3"/>
                  </a:moveTo>
                  <a:lnTo>
                    <a:pt x="200" y="3"/>
                  </a:lnTo>
                  <a:lnTo>
                    <a:pt x="209" y="1"/>
                  </a:lnTo>
                  <a:lnTo>
                    <a:pt x="222" y="0"/>
                  </a:lnTo>
                  <a:lnTo>
                    <a:pt x="239" y="0"/>
                  </a:lnTo>
                  <a:lnTo>
                    <a:pt x="260" y="0"/>
                  </a:lnTo>
                  <a:lnTo>
                    <a:pt x="260" y="0"/>
                  </a:lnTo>
                  <a:lnTo>
                    <a:pt x="279" y="1"/>
                  </a:lnTo>
                  <a:lnTo>
                    <a:pt x="294" y="3"/>
                  </a:lnTo>
                  <a:lnTo>
                    <a:pt x="294" y="3"/>
                  </a:lnTo>
                  <a:lnTo>
                    <a:pt x="301" y="5"/>
                  </a:lnTo>
                  <a:lnTo>
                    <a:pt x="306" y="8"/>
                  </a:lnTo>
                  <a:lnTo>
                    <a:pt x="306" y="8"/>
                  </a:lnTo>
                  <a:lnTo>
                    <a:pt x="310" y="10"/>
                  </a:lnTo>
                  <a:lnTo>
                    <a:pt x="312" y="13"/>
                  </a:lnTo>
                  <a:lnTo>
                    <a:pt x="313" y="17"/>
                  </a:lnTo>
                  <a:lnTo>
                    <a:pt x="313" y="20"/>
                  </a:lnTo>
                  <a:lnTo>
                    <a:pt x="313" y="20"/>
                  </a:lnTo>
                  <a:lnTo>
                    <a:pt x="310" y="28"/>
                  </a:lnTo>
                  <a:lnTo>
                    <a:pt x="303" y="39"/>
                  </a:lnTo>
                  <a:lnTo>
                    <a:pt x="303" y="39"/>
                  </a:lnTo>
                  <a:lnTo>
                    <a:pt x="287" y="60"/>
                  </a:lnTo>
                  <a:lnTo>
                    <a:pt x="287" y="60"/>
                  </a:lnTo>
                  <a:lnTo>
                    <a:pt x="259" y="98"/>
                  </a:lnTo>
                  <a:lnTo>
                    <a:pt x="259" y="98"/>
                  </a:lnTo>
                  <a:lnTo>
                    <a:pt x="257" y="101"/>
                  </a:lnTo>
                  <a:lnTo>
                    <a:pt x="254" y="102"/>
                  </a:lnTo>
                  <a:lnTo>
                    <a:pt x="254" y="102"/>
                  </a:lnTo>
                  <a:lnTo>
                    <a:pt x="251" y="102"/>
                  </a:lnTo>
                  <a:lnTo>
                    <a:pt x="249" y="101"/>
                  </a:lnTo>
                  <a:lnTo>
                    <a:pt x="249" y="101"/>
                  </a:lnTo>
                  <a:lnTo>
                    <a:pt x="247" y="99"/>
                  </a:lnTo>
                  <a:lnTo>
                    <a:pt x="245" y="97"/>
                  </a:lnTo>
                  <a:lnTo>
                    <a:pt x="245" y="97"/>
                  </a:lnTo>
                  <a:lnTo>
                    <a:pt x="245" y="94"/>
                  </a:lnTo>
                  <a:lnTo>
                    <a:pt x="246" y="92"/>
                  </a:lnTo>
                  <a:lnTo>
                    <a:pt x="246" y="92"/>
                  </a:lnTo>
                  <a:lnTo>
                    <a:pt x="255" y="78"/>
                  </a:lnTo>
                  <a:lnTo>
                    <a:pt x="276" y="51"/>
                  </a:lnTo>
                  <a:lnTo>
                    <a:pt x="276" y="51"/>
                  </a:lnTo>
                  <a:lnTo>
                    <a:pt x="292" y="31"/>
                  </a:lnTo>
                  <a:lnTo>
                    <a:pt x="292" y="31"/>
                  </a:lnTo>
                  <a:lnTo>
                    <a:pt x="271" y="37"/>
                  </a:lnTo>
                  <a:lnTo>
                    <a:pt x="250" y="43"/>
                  </a:lnTo>
                  <a:lnTo>
                    <a:pt x="230" y="51"/>
                  </a:lnTo>
                  <a:lnTo>
                    <a:pt x="211" y="60"/>
                  </a:lnTo>
                  <a:lnTo>
                    <a:pt x="211" y="60"/>
                  </a:lnTo>
                  <a:lnTo>
                    <a:pt x="192" y="69"/>
                  </a:lnTo>
                  <a:lnTo>
                    <a:pt x="173" y="79"/>
                  </a:lnTo>
                  <a:lnTo>
                    <a:pt x="155" y="90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20" y="115"/>
                  </a:lnTo>
                  <a:lnTo>
                    <a:pt x="104" y="129"/>
                  </a:lnTo>
                  <a:lnTo>
                    <a:pt x="88" y="144"/>
                  </a:lnTo>
                  <a:lnTo>
                    <a:pt x="74" y="161"/>
                  </a:lnTo>
                  <a:lnTo>
                    <a:pt x="74" y="161"/>
                  </a:lnTo>
                  <a:lnTo>
                    <a:pt x="60" y="178"/>
                  </a:lnTo>
                  <a:lnTo>
                    <a:pt x="48" y="196"/>
                  </a:lnTo>
                  <a:lnTo>
                    <a:pt x="38" y="214"/>
                  </a:lnTo>
                  <a:lnTo>
                    <a:pt x="29" y="233"/>
                  </a:lnTo>
                  <a:lnTo>
                    <a:pt x="29" y="233"/>
                  </a:lnTo>
                  <a:lnTo>
                    <a:pt x="22" y="252"/>
                  </a:lnTo>
                  <a:lnTo>
                    <a:pt x="17" y="270"/>
                  </a:lnTo>
                  <a:lnTo>
                    <a:pt x="15" y="287"/>
                  </a:lnTo>
                  <a:lnTo>
                    <a:pt x="14" y="304"/>
                  </a:lnTo>
                  <a:lnTo>
                    <a:pt x="14" y="304"/>
                  </a:lnTo>
                  <a:lnTo>
                    <a:pt x="15" y="313"/>
                  </a:lnTo>
                  <a:lnTo>
                    <a:pt x="17" y="322"/>
                  </a:lnTo>
                  <a:lnTo>
                    <a:pt x="20" y="329"/>
                  </a:lnTo>
                  <a:lnTo>
                    <a:pt x="24" y="336"/>
                  </a:lnTo>
                  <a:lnTo>
                    <a:pt x="29" y="342"/>
                  </a:lnTo>
                  <a:lnTo>
                    <a:pt x="34" y="347"/>
                  </a:lnTo>
                  <a:lnTo>
                    <a:pt x="41" y="352"/>
                  </a:lnTo>
                  <a:lnTo>
                    <a:pt x="48" y="356"/>
                  </a:lnTo>
                  <a:lnTo>
                    <a:pt x="48" y="356"/>
                  </a:lnTo>
                  <a:lnTo>
                    <a:pt x="50" y="357"/>
                  </a:lnTo>
                  <a:lnTo>
                    <a:pt x="52" y="360"/>
                  </a:lnTo>
                  <a:lnTo>
                    <a:pt x="52" y="360"/>
                  </a:lnTo>
                  <a:lnTo>
                    <a:pt x="52" y="362"/>
                  </a:lnTo>
                  <a:lnTo>
                    <a:pt x="52" y="365"/>
                  </a:lnTo>
                  <a:lnTo>
                    <a:pt x="52" y="365"/>
                  </a:lnTo>
                  <a:lnTo>
                    <a:pt x="50" y="367"/>
                  </a:lnTo>
                  <a:lnTo>
                    <a:pt x="48" y="369"/>
                  </a:lnTo>
                  <a:lnTo>
                    <a:pt x="48" y="369"/>
                  </a:lnTo>
                  <a:lnTo>
                    <a:pt x="45" y="370"/>
                  </a:lnTo>
                  <a:lnTo>
                    <a:pt x="42" y="369"/>
                  </a:lnTo>
                  <a:lnTo>
                    <a:pt x="42" y="369"/>
                  </a:lnTo>
                  <a:lnTo>
                    <a:pt x="33" y="365"/>
                  </a:lnTo>
                  <a:lnTo>
                    <a:pt x="25" y="359"/>
                  </a:lnTo>
                  <a:lnTo>
                    <a:pt x="18" y="352"/>
                  </a:lnTo>
                  <a:lnTo>
                    <a:pt x="12" y="345"/>
                  </a:lnTo>
                  <a:lnTo>
                    <a:pt x="7" y="336"/>
                  </a:lnTo>
                  <a:lnTo>
                    <a:pt x="3" y="327"/>
                  </a:lnTo>
                  <a:lnTo>
                    <a:pt x="1" y="316"/>
                  </a:lnTo>
                  <a:lnTo>
                    <a:pt x="0" y="305"/>
                  </a:lnTo>
                  <a:lnTo>
                    <a:pt x="0" y="305"/>
                  </a:lnTo>
                  <a:lnTo>
                    <a:pt x="0" y="296"/>
                  </a:lnTo>
                  <a:lnTo>
                    <a:pt x="0" y="286"/>
                  </a:lnTo>
                  <a:lnTo>
                    <a:pt x="3" y="267"/>
                  </a:lnTo>
                  <a:lnTo>
                    <a:pt x="8" y="248"/>
                  </a:lnTo>
                  <a:lnTo>
                    <a:pt x="15" y="227"/>
                  </a:lnTo>
                  <a:lnTo>
                    <a:pt x="15" y="227"/>
                  </a:lnTo>
                  <a:lnTo>
                    <a:pt x="25" y="207"/>
                  </a:lnTo>
                  <a:lnTo>
                    <a:pt x="36" y="188"/>
                  </a:lnTo>
                  <a:lnTo>
                    <a:pt x="48" y="170"/>
                  </a:lnTo>
                  <a:lnTo>
                    <a:pt x="62" y="152"/>
                  </a:lnTo>
                  <a:lnTo>
                    <a:pt x="62" y="152"/>
                  </a:lnTo>
                  <a:lnTo>
                    <a:pt x="78" y="135"/>
                  </a:lnTo>
                  <a:lnTo>
                    <a:pt x="93" y="119"/>
                  </a:lnTo>
                  <a:lnTo>
                    <a:pt x="110" y="105"/>
                  </a:lnTo>
                  <a:lnTo>
                    <a:pt x="128" y="91"/>
                  </a:lnTo>
                  <a:lnTo>
                    <a:pt x="128" y="91"/>
                  </a:lnTo>
                  <a:lnTo>
                    <a:pt x="146" y="79"/>
                  </a:lnTo>
                  <a:lnTo>
                    <a:pt x="165" y="67"/>
                  </a:lnTo>
                  <a:lnTo>
                    <a:pt x="184" y="57"/>
                  </a:lnTo>
                  <a:lnTo>
                    <a:pt x="204" y="47"/>
                  </a:lnTo>
                  <a:lnTo>
                    <a:pt x="204" y="47"/>
                  </a:lnTo>
                  <a:lnTo>
                    <a:pt x="224" y="38"/>
                  </a:lnTo>
                  <a:lnTo>
                    <a:pt x="244" y="30"/>
                  </a:lnTo>
                  <a:lnTo>
                    <a:pt x="265" y="23"/>
                  </a:lnTo>
                  <a:lnTo>
                    <a:pt x="286" y="17"/>
                  </a:lnTo>
                  <a:lnTo>
                    <a:pt x="286" y="17"/>
                  </a:lnTo>
                  <a:lnTo>
                    <a:pt x="274" y="16"/>
                  </a:lnTo>
                  <a:lnTo>
                    <a:pt x="259" y="15"/>
                  </a:lnTo>
                  <a:lnTo>
                    <a:pt x="259" y="15"/>
                  </a:lnTo>
                  <a:lnTo>
                    <a:pt x="224" y="15"/>
                  </a:lnTo>
                  <a:lnTo>
                    <a:pt x="212" y="15"/>
                  </a:lnTo>
                  <a:lnTo>
                    <a:pt x="203" y="17"/>
                  </a:lnTo>
                  <a:lnTo>
                    <a:pt x="203" y="17"/>
                  </a:lnTo>
                  <a:lnTo>
                    <a:pt x="200" y="17"/>
                  </a:lnTo>
                  <a:lnTo>
                    <a:pt x="198" y="16"/>
                  </a:lnTo>
                  <a:lnTo>
                    <a:pt x="198" y="16"/>
                  </a:lnTo>
                  <a:lnTo>
                    <a:pt x="196" y="14"/>
                  </a:lnTo>
                  <a:lnTo>
                    <a:pt x="194" y="12"/>
                  </a:lnTo>
                  <a:lnTo>
                    <a:pt x="194" y="12"/>
                  </a:lnTo>
                  <a:lnTo>
                    <a:pt x="194" y="9"/>
                  </a:lnTo>
                  <a:lnTo>
                    <a:pt x="195" y="6"/>
                  </a:lnTo>
                  <a:lnTo>
                    <a:pt x="195" y="6"/>
                  </a:lnTo>
                  <a:lnTo>
                    <a:pt x="197" y="4"/>
                  </a:lnTo>
                  <a:lnTo>
                    <a:pt x="20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sz="2400" kern="1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" name="Freeform 2591">
              <a:extLst>
                <a:ext uri="{FF2B5EF4-FFF2-40B4-BE49-F238E27FC236}">
                  <a16:creationId xmlns:a16="http://schemas.microsoft.com/office/drawing/2014/main" id="{9EE81D6C-A975-D6A2-E34C-F0CCB08604A9}"/>
                </a:ext>
              </a:extLst>
            </p:cNvPr>
            <p:cNvSpPr/>
            <p:nvPr/>
          </p:nvSpPr>
          <p:spPr bwMode="auto">
            <a:xfrm rot="16910241" flipV="1">
              <a:off x="3200680" y="3451662"/>
              <a:ext cx="877337" cy="1654737"/>
            </a:xfrm>
            <a:custGeom>
              <a:avLst/>
              <a:gdLst>
                <a:gd name="T0" fmla="*/ 209 w 313"/>
                <a:gd name="T1" fmla="*/ 1 h 370"/>
                <a:gd name="T2" fmla="*/ 260 w 313"/>
                <a:gd name="T3" fmla="*/ 0 h 370"/>
                <a:gd name="T4" fmla="*/ 294 w 313"/>
                <a:gd name="T5" fmla="*/ 3 h 370"/>
                <a:gd name="T6" fmla="*/ 306 w 313"/>
                <a:gd name="T7" fmla="*/ 8 h 370"/>
                <a:gd name="T8" fmla="*/ 312 w 313"/>
                <a:gd name="T9" fmla="*/ 13 h 370"/>
                <a:gd name="T10" fmla="*/ 313 w 313"/>
                <a:gd name="T11" fmla="*/ 20 h 370"/>
                <a:gd name="T12" fmla="*/ 303 w 313"/>
                <a:gd name="T13" fmla="*/ 39 h 370"/>
                <a:gd name="T14" fmla="*/ 259 w 313"/>
                <a:gd name="T15" fmla="*/ 98 h 370"/>
                <a:gd name="T16" fmla="*/ 254 w 313"/>
                <a:gd name="T17" fmla="*/ 102 h 370"/>
                <a:gd name="T18" fmla="*/ 249 w 313"/>
                <a:gd name="T19" fmla="*/ 101 h 370"/>
                <a:gd name="T20" fmla="*/ 245 w 313"/>
                <a:gd name="T21" fmla="*/ 97 h 370"/>
                <a:gd name="T22" fmla="*/ 246 w 313"/>
                <a:gd name="T23" fmla="*/ 92 h 370"/>
                <a:gd name="T24" fmla="*/ 276 w 313"/>
                <a:gd name="T25" fmla="*/ 51 h 370"/>
                <a:gd name="T26" fmla="*/ 292 w 313"/>
                <a:gd name="T27" fmla="*/ 31 h 370"/>
                <a:gd name="T28" fmla="*/ 230 w 313"/>
                <a:gd name="T29" fmla="*/ 51 h 370"/>
                <a:gd name="T30" fmla="*/ 192 w 313"/>
                <a:gd name="T31" fmla="*/ 69 h 370"/>
                <a:gd name="T32" fmla="*/ 137 w 313"/>
                <a:gd name="T33" fmla="*/ 102 h 370"/>
                <a:gd name="T34" fmla="*/ 104 w 313"/>
                <a:gd name="T35" fmla="*/ 129 h 370"/>
                <a:gd name="T36" fmla="*/ 74 w 313"/>
                <a:gd name="T37" fmla="*/ 161 h 370"/>
                <a:gd name="T38" fmla="*/ 38 w 313"/>
                <a:gd name="T39" fmla="*/ 214 h 370"/>
                <a:gd name="T40" fmla="*/ 22 w 313"/>
                <a:gd name="T41" fmla="*/ 252 h 370"/>
                <a:gd name="T42" fmla="*/ 14 w 313"/>
                <a:gd name="T43" fmla="*/ 304 h 370"/>
                <a:gd name="T44" fmla="*/ 17 w 313"/>
                <a:gd name="T45" fmla="*/ 322 h 370"/>
                <a:gd name="T46" fmla="*/ 29 w 313"/>
                <a:gd name="T47" fmla="*/ 342 h 370"/>
                <a:gd name="T48" fmla="*/ 48 w 313"/>
                <a:gd name="T49" fmla="*/ 356 h 370"/>
                <a:gd name="T50" fmla="*/ 52 w 313"/>
                <a:gd name="T51" fmla="*/ 360 h 370"/>
                <a:gd name="T52" fmla="*/ 52 w 313"/>
                <a:gd name="T53" fmla="*/ 365 h 370"/>
                <a:gd name="T54" fmla="*/ 48 w 313"/>
                <a:gd name="T55" fmla="*/ 369 h 370"/>
                <a:gd name="T56" fmla="*/ 42 w 313"/>
                <a:gd name="T57" fmla="*/ 369 h 370"/>
                <a:gd name="T58" fmla="*/ 25 w 313"/>
                <a:gd name="T59" fmla="*/ 359 h 370"/>
                <a:gd name="T60" fmla="*/ 7 w 313"/>
                <a:gd name="T61" fmla="*/ 336 h 370"/>
                <a:gd name="T62" fmla="*/ 0 w 313"/>
                <a:gd name="T63" fmla="*/ 305 h 370"/>
                <a:gd name="T64" fmla="*/ 0 w 313"/>
                <a:gd name="T65" fmla="*/ 286 h 370"/>
                <a:gd name="T66" fmla="*/ 15 w 313"/>
                <a:gd name="T67" fmla="*/ 227 h 370"/>
                <a:gd name="T68" fmla="*/ 36 w 313"/>
                <a:gd name="T69" fmla="*/ 188 h 370"/>
                <a:gd name="T70" fmla="*/ 62 w 313"/>
                <a:gd name="T71" fmla="*/ 152 h 370"/>
                <a:gd name="T72" fmla="*/ 110 w 313"/>
                <a:gd name="T73" fmla="*/ 105 h 370"/>
                <a:gd name="T74" fmla="*/ 146 w 313"/>
                <a:gd name="T75" fmla="*/ 79 h 370"/>
                <a:gd name="T76" fmla="*/ 204 w 313"/>
                <a:gd name="T77" fmla="*/ 47 h 370"/>
                <a:gd name="T78" fmla="*/ 244 w 313"/>
                <a:gd name="T79" fmla="*/ 30 h 370"/>
                <a:gd name="T80" fmla="*/ 286 w 313"/>
                <a:gd name="T81" fmla="*/ 17 h 370"/>
                <a:gd name="T82" fmla="*/ 259 w 313"/>
                <a:gd name="T83" fmla="*/ 15 h 370"/>
                <a:gd name="T84" fmla="*/ 203 w 313"/>
                <a:gd name="T85" fmla="*/ 17 h 370"/>
                <a:gd name="T86" fmla="*/ 198 w 313"/>
                <a:gd name="T87" fmla="*/ 16 h 370"/>
                <a:gd name="T88" fmla="*/ 194 w 313"/>
                <a:gd name="T89" fmla="*/ 12 h 370"/>
                <a:gd name="T90" fmla="*/ 195 w 313"/>
                <a:gd name="T91" fmla="*/ 6 h 370"/>
                <a:gd name="T92" fmla="*/ 200 w 313"/>
                <a:gd name="T93" fmla="*/ 3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13" h="370">
                  <a:moveTo>
                    <a:pt x="200" y="3"/>
                  </a:moveTo>
                  <a:lnTo>
                    <a:pt x="200" y="3"/>
                  </a:lnTo>
                  <a:lnTo>
                    <a:pt x="209" y="1"/>
                  </a:lnTo>
                  <a:lnTo>
                    <a:pt x="222" y="0"/>
                  </a:lnTo>
                  <a:lnTo>
                    <a:pt x="239" y="0"/>
                  </a:lnTo>
                  <a:lnTo>
                    <a:pt x="260" y="0"/>
                  </a:lnTo>
                  <a:lnTo>
                    <a:pt x="260" y="0"/>
                  </a:lnTo>
                  <a:lnTo>
                    <a:pt x="279" y="1"/>
                  </a:lnTo>
                  <a:lnTo>
                    <a:pt x="294" y="3"/>
                  </a:lnTo>
                  <a:lnTo>
                    <a:pt x="294" y="3"/>
                  </a:lnTo>
                  <a:lnTo>
                    <a:pt x="301" y="5"/>
                  </a:lnTo>
                  <a:lnTo>
                    <a:pt x="306" y="8"/>
                  </a:lnTo>
                  <a:lnTo>
                    <a:pt x="306" y="8"/>
                  </a:lnTo>
                  <a:lnTo>
                    <a:pt x="310" y="10"/>
                  </a:lnTo>
                  <a:lnTo>
                    <a:pt x="312" y="13"/>
                  </a:lnTo>
                  <a:lnTo>
                    <a:pt x="313" y="17"/>
                  </a:lnTo>
                  <a:lnTo>
                    <a:pt x="313" y="20"/>
                  </a:lnTo>
                  <a:lnTo>
                    <a:pt x="313" y="20"/>
                  </a:lnTo>
                  <a:lnTo>
                    <a:pt x="310" y="28"/>
                  </a:lnTo>
                  <a:lnTo>
                    <a:pt x="303" y="39"/>
                  </a:lnTo>
                  <a:lnTo>
                    <a:pt x="303" y="39"/>
                  </a:lnTo>
                  <a:lnTo>
                    <a:pt x="287" y="60"/>
                  </a:lnTo>
                  <a:lnTo>
                    <a:pt x="287" y="60"/>
                  </a:lnTo>
                  <a:lnTo>
                    <a:pt x="259" y="98"/>
                  </a:lnTo>
                  <a:lnTo>
                    <a:pt x="259" y="98"/>
                  </a:lnTo>
                  <a:lnTo>
                    <a:pt x="257" y="101"/>
                  </a:lnTo>
                  <a:lnTo>
                    <a:pt x="254" y="102"/>
                  </a:lnTo>
                  <a:lnTo>
                    <a:pt x="254" y="102"/>
                  </a:lnTo>
                  <a:lnTo>
                    <a:pt x="251" y="102"/>
                  </a:lnTo>
                  <a:lnTo>
                    <a:pt x="249" y="101"/>
                  </a:lnTo>
                  <a:lnTo>
                    <a:pt x="249" y="101"/>
                  </a:lnTo>
                  <a:lnTo>
                    <a:pt x="247" y="99"/>
                  </a:lnTo>
                  <a:lnTo>
                    <a:pt x="245" y="97"/>
                  </a:lnTo>
                  <a:lnTo>
                    <a:pt x="245" y="97"/>
                  </a:lnTo>
                  <a:lnTo>
                    <a:pt x="245" y="94"/>
                  </a:lnTo>
                  <a:lnTo>
                    <a:pt x="246" y="92"/>
                  </a:lnTo>
                  <a:lnTo>
                    <a:pt x="246" y="92"/>
                  </a:lnTo>
                  <a:lnTo>
                    <a:pt x="255" y="78"/>
                  </a:lnTo>
                  <a:lnTo>
                    <a:pt x="276" y="51"/>
                  </a:lnTo>
                  <a:lnTo>
                    <a:pt x="276" y="51"/>
                  </a:lnTo>
                  <a:lnTo>
                    <a:pt x="292" y="31"/>
                  </a:lnTo>
                  <a:lnTo>
                    <a:pt x="292" y="31"/>
                  </a:lnTo>
                  <a:lnTo>
                    <a:pt x="271" y="37"/>
                  </a:lnTo>
                  <a:lnTo>
                    <a:pt x="250" y="43"/>
                  </a:lnTo>
                  <a:lnTo>
                    <a:pt x="230" y="51"/>
                  </a:lnTo>
                  <a:lnTo>
                    <a:pt x="211" y="60"/>
                  </a:lnTo>
                  <a:lnTo>
                    <a:pt x="211" y="60"/>
                  </a:lnTo>
                  <a:lnTo>
                    <a:pt x="192" y="69"/>
                  </a:lnTo>
                  <a:lnTo>
                    <a:pt x="173" y="79"/>
                  </a:lnTo>
                  <a:lnTo>
                    <a:pt x="155" y="90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20" y="115"/>
                  </a:lnTo>
                  <a:lnTo>
                    <a:pt x="104" y="129"/>
                  </a:lnTo>
                  <a:lnTo>
                    <a:pt x="88" y="144"/>
                  </a:lnTo>
                  <a:lnTo>
                    <a:pt x="74" y="161"/>
                  </a:lnTo>
                  <a:lnTo>
                    <a:pt x="74" y="161"/>
                  </a:lnTo>
                  <a:lnTo>
                    <a:pt x="60" y="178"/>
                  </a:lnTo>
                  <a:lnTo>
                    <a:pt x="48" y="196"/>
                  </a:lnTo>
                  <a:lnTo>
                    <a:pt x="38" y="214"/>
                  </a:lnTo>
                  <a:lnTo>
                    <a:pt x="29" y="233"/>
                  </a:lnTo>
                  <a:lnTo>
                    <a:pt x="29" y="233"/>
                  </a:lnTo>
                  <a:lnTo>
                    <a:pt x="22" y="252"/>
                  </a:lnTo>
                  <a:lnTo>
                    <a:pt x="17" y="270"/>
                  </a:lnTo>
                  <a:lnTo>
                    <a:pt x="15" y="287"/>
                  </a:lnTo>
                  <a:lnTo>
                    <a:pt x="14" y="304"/>
                  </a:lnTo>
                  <a:lnTo>
                    <a:pt x="14" y="304"/>
                  </a:lnTo>
                  <a:lnTo>
                    <a:pt x="15" y="313"/>
                  </a:lnTo>
                  <a:lnTo>
                    <a:pt x="17" y="322"/>
                  </a:lnTo>
                  <a:lnTo>
                    <a:pt x="20" y="329"/>
                  </a:lnTo>
                  <a:lnTo>
                    <a:pt x="24" y="336"/>
                  </a:lnTo>
                  <a:lnTo>
                    <a:pt x="29" y="342"/>
                  </a:lnTo>
                  <a:lnTo>
                    <a:pt x="34" y="347"/>
                  </a:lnTo>
                  <a:lnTo>
                    <a:pt x="41" y="352"/>
                  </a:lnTo>
                  <a:lnTo>
                    <a:pt x="48" y="356"/>
                  </a:lnTo>
                  <a:lnTo>
                    <a:pt x="48" y="356"/>
                  </a:lnTo>
                  <a:lnTo>
                    <a:pt x="50" y="357"/>
                  </a:lnTo>
                  <a:lnTo>
                    <a:pt x="52" y="360"/>
                  </a:lnTo>
                  <a:lnTo>
                    <a:pt x="52" y="360"/>
                  </a:lnTo>
                  <a:lnTo>
                    <a:pt x="52" y="362"/>
                  </a:lnTo>
                  <a:lnTo>
                    <a:pt x="52" y="365"/>
                  </a:lnTo>
                  <a:lnTo>
                    <a:pt x="52" y="365"/>
                  </a:lnTo>
                  <a:lnTo>
                    <a:pt x="50" y="367"/>
                  </a:lnTo>
                  <a:lnTo>
                    <a:pt x="48" y="369"/>
                  </a:lnTo>
                  <a:lnTo>
                    <a:pt x="48" y="369"/>
                  </a:lnTo>
                  <a:lnTo>
                    <a:pt x="45" y="370"/>
                  </a:lnTo>
                  <a:lnTo>
                    <a:pt x="42" y="369"/>
                  </a:lnTo>
                  <a:lnTo>
                    <a:pt x="42" y="369"/>
                  </a:lnTo>
                  <a:lnTo>
                    <a:pt x="33" y="365"/>
                  </a:lnTo>
                  <a:lnTo>
                    <a:pt x="25" y="359"/>
                  </a:lnTo>
                  <a:lnTo>
                    <a:pt x="18" y="352"/>
                  </a:lnTo>
                  <a:lnTo>
                    <a:pt x="12" y="345"/>
                  </a:lnTo>
                  <a:lnTo>
                    <a:pt x="7" y="336"/>
                  </a:lnTo>
                  <a:lnTo>
                    <a:pt x="3" y="327"/>
                  </a:lnTo>
                  <a:lnTo>
                    <a:pt x="1" y="316"/>
                  </a:lnTo>
                  <a:lnTo>
                    <a:pt x="0" y="305"/>
                  </a:lnTo>
                  <a:lnTo>
                    <a:pt x="0" y="305"/>
                  </a:lnTo>
                  <a:lnTo>
                    <a:pt x="0" y="296"/>
                  </a:lnTo>
                  <a:lnTo>
                    <a:pt x="0" y="286"/>
                  </a:lnTo>
                  <a:lnTo>
                    <a:pt x="3" y="267"/>
                  </a:lnTo>
                  <a:lnTo>
                    <a:pt x="8" y="248"/>
                  </a:lnTo>
                  <a:lnTo>
                    <a:pt x="15" y="227"/>
                  </a:lnTo>
                  <a:lnTo>
                    <a:pt x="15" y="227"/>
                  </a:lnTo>
                  <a:lnTo>
                    <a:pt x="25" y="207"/>
                  </a:lnTo>
                  <a:lnTo>
                    <a:pt x="36" y="188"/>
                  </a:lnTo>
                  <a:lnTo>
                    <a:pt x="48" y="170"/>
                  </a:lnTo>
                  <a:lnTo>
                    <a:pt x="62" y="152"/>
                  </a:lnTo>
                  <a:lnTo>
                    <a:pt x="62" y="152"/>
                  </a:lnTo>
                  <a:lnTo>
                    <a:pt x="78" y="135"/>
                  </a:lnTo>
                  <a:lnTo>
                    <a:pt x="93" y="119"/>
                  </a:lnTo>
                  <a:lnTo>
                    <a:pt x="110" y="105"/>
                  </a:lnTo>
                  <a:lnTo>
                    <a:pt x="128" y="91"/>
                  </a:lnTo>
                  <a:lnTo>
                    <a:pt x="128" y="91"/>
                  </a:lnTo>
                  <a:lnTo>
                    <a:pt x="146" y="79"/>
                  </a:lnTo>
                  <a:lnTo>
                    <a:pt x="165" y="67"/>
                  </a:lnTo>
                  <a:lnTo>
                    <a:pt x="184" y="57"/>
                  </a:lnTo>
                  <a:lnTo>
                    <a:pt x="204" y="47"/>
                  </a:lnTo>
                  <a:lnTo>
                    <a:pt x="204" y="47"/>
                  </a:lnTo>
                  <a:lnTo>
                    <a:pt x="224" y="38"/>
                  </a:lnTo>
                  <a:lnTo>
                    <a:pt x="244" y="30"/>
                  </a:lnTo>
                  <a:lnTo>
                    <a:pt x="265" y="23"/>
                  </a:lnTo>
                  <a:lnTo>
                    <a:pt x="286" y="17"/>
                  </a:lnTo>
                  <a:lnTo>
                    <a:pt x="286" y="17"/>
                  </a:lnTo>
                  <a:lnTo>
                    <a:pt x="274" y="16"/>
                  </a:lnTo>
                  <a:lnTo>
                    <a:pt x="259" y="15"/>
                  </a:lnTo>
                  <a:lnTo>
                    <a:pt x="259" y="15"/>
                  </a:lnTo>
                  <a:lnTo>
                    <a:pt x="224" y="15"/>
                  </a:lnTo>
                  <a:lnTo>
                    <a:pt x="212" y="15"/>
                  </a:lnTo>
                  <a:lnTo>
                    <a:pt x="203" y="17"/>
                  </a:lnTo>
                  <a:lnTo>
                    <a:pt x="203" y="17"/>
                  </a:lnTo>
                  <a:lnTo>
                    <a:pt x="200" y="17"/>
                  </a:lnTo>
                  <a:lnTo>
                    <a:pt x="198" y="16"/>
                  </a:lnTo>
                  <a:lnTo>
                    <a:pt x="198" y="16"/>
                  </a:lnTo>
                  <a:lnTo>
                    <a:pt x="196" y="14"/>
                  </a:lnTo>
                  <a:lnTo>
                    <a:pt x="194" y="12"/>
                  </a:lnTo>
                  <a:lnTo>
                    <a:pt x="194" y="12"/>
                  </a:lnTo>
                  <a:lnTo>
                    <a:pt x="194" y="9"/>
                  </a:lnTo>
                  <a:lnTo>
                    <a:pt x="195" y="6"/>
                  </a:lnTo>
                  <a:lnTo>
                    <a:pt x="195" y="6"/>
                  </a:lnTo>
                  <a:lnTo>
                    <a:pt x="197" y="4"/>
                  </a:lnTo>
                  <a:lnTo>
                    <a:pt x="20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sz="2400" kern="12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24" name="图片 23" descr="图片包含 日历&#10;&#10;AI 生成的内容可能不正确。">
            <a:extLst>
              <a:ext uri="{FF2B5EF4-FFF2-40B4-BE49-F238E27FC236}">
                <a16:creationId xmlns:a16="http://schemas.microsoft.com/office/drawing/2014/main" id="{06B2F1DF-1333-D3E0-8B53-87D1CD3E0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428" y="2183143"/>
            <a:ext cx="3847652" cy="259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05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dir="in"/>
      </p:transition>
    </mc:Choice>
    <mc:Fallback xmlns:p15="http://schemas.microsoft.com/office/powerpoint/2012/main" xmlns="">
      <p:transition spd="slow">
        <p:split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6356D-566F-9CFB-F87D-3DD40FF60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DF344C49-38A3-EE13-BB6F-4F883F6DEFEF}"/>
              </a:ext>
            </a:extLst>
          </p:cNvPr>
          <p:cNvGrpSpPr/>
          <p:nvPr/>
        </p:nvGrpSpPr>
        <p:grpSpPr>
          <a:xfrm flipH="1">
            <a:off x="8027476" y="-3911060"/>
            <a:ext cx="6149009" cy="12595326"/>
            <a:chOff x="7122607" y="-4944730"/>
            <a:chExt cx="6733272" cy="12595326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863DBE21-4A8B-A13E-67DA-65FD233D8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195162" y="-4906223"/>
              <a:ext cx="3660717" cy="12556819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08BA3721-448A-AE1E-9BE5-659A227DD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7122607" y="-4944730"/>
              <a:ext cx="3660717" cy="12556819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5AB9B87-8E1A-088B-8DBD-9BBA1CAD8888}"/>
              </a:ext>
            </a:extLst>
          </p:cNvPr>
          <p:cNvSpPr txBox="1"/>
          <p:nvPr/>
        </p:nvSpPr>
        <p:spPr>
          <a:xfrm>
            <a:off x="4422275" y="292607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cs typeface="+mn-ea"/>
                <a:sym typeface="+mn-lt"/>
              </a:rPr>
              <a:t>可视化与应用层</a:t>
            </a:r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CDCDC6B0-E50D-6065-65CA-82B1181DF5A7}"/>
              </a:ext>
            </a:extLst>
          </p:cNvPr>
          <p:cNvSpPr/>
          <p:nvPr/>
        </p:nvSpPr>
        <p:spPr>
          <a:xfrm>
            <a:off x="340464" y="1013770"/>
            <a:ext cx="11709855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技术一：数据</a:t>
            </a:r>
            <a:r>
              <a:rPr lang="en-US" altLang="zh-CN" sz="2400" b="1" dirty="0">
                <a:solidFill>
                  <a:schemeClr val="bg1"/>
                </a:solidFill>
              </a:rPr>
              <a:t>-</a:t>
            </a:r>
            <a:r>
              <a:rPr lang="zh-CN" altLang="en-US" sz="2400" b="1" dirty="0">
                <a:solidFill>
                  <a:schemeClr val="bg1"/>
                </a:solidFill>
              </a:rPr>
              <a:t>视觉映射技术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A2EB18-3DCB-412F-A52F-54D4BCD16E85}"/>
              </a:ext>
            </a:extLst>
          </p:cNvPr>
          <p:cNvSpPr txBox="1"/>
          <p:nvPr/>
        </p:nvSpPr>
        <p:spPr>
          <a:xfrm>
            <a:off x="1090018" y="5369105"/>
            <a:ext cx="100119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网络图 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pagerank_score 映射为节点大小（体现开发者影响力）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primary_tech 映射为节点颜色（区分技术领域）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weight 映射为边粗细（表示协作强度）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E2A4957-4202-D0A1-456F-FC21EDABD3A0}"/>
              </a:ext>
            </a:extLst>
          </p:cNvPr>
          <p:cNvSpPr txBox="1"/>
          <p:nvPr/>
        </p:nvSpPr>
        <p:spPr>
          <a:xfrm>
            <a:off x="3834005" y="1083004"/>
            <a:ext cx="22487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</a:rPr>
              <a:t>（均为局部图像）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84440AC3-0D91-B779-D656-847209DC1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50" y="1769223"/>
            <a:ext cx="3154981" cy="3319553"/>
          </a:xfrm>
          <a:prstGeom prst="rect">
            <a:avLst/>
          </a:prstGeom>
        </p:spPr>
      </p:pic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5FBF241D-4EE3-F66A-647E-6E0AF0844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4931" y="1728572"/>
            <a:ext cx="3121892" cy="3360204"/>
          </a:xfrm>
          <a:prstGeom prst="rect">
            <a:avLst/>
          </a:prstGeom>
        </p:spPr>
      </p:pic>
      <p:pic>
        <p:nvPicPr>
          <p:cNvPr id="10" name="图片 9" descr="图示&#10;&#10;AI 生成的内容可能不正确。">
            <a:extLst>
              <a:ext uri="{FF2B5EF4-FFF2-40B4-BE49-F238E27FC236}">
                <a16:creationId xmlns:a16="http://schemas.microsoft.com/office/drawing/2014/main" id="{04792F9F-A613-4B19-EE92-70C8F5677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8213" y="1721263"/>
            <a:ext cx="2754812" cy="337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447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p15="http://schemas.microsoft.com/office/powerpoint/2012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50F3C-3C11-EFF1-46DA-FBB2D566C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6F797544-4476-B8BE-DC65-B857B1E9024C}"/>
              </a:ext>
            </a:extLst>
          </p:cNvPr>
          <p:cNvGrpSpPr/>
          <p:nvPr/>
        </p:nvGrpSpPr>
        <p:grpSpPr>
          <a:xfrm flipH="1">
            <a:off x="2936488" y="-1276603"/>
            <a:ext cx="6149009" cy="12595326"/>
            <a:chOff x="7122607" y="-4944730"/>
            <a:chExt cx="6733272" cy="12595326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8ECF6C80-76E2-7295-FE6D-DEA675EE3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195162" y="-4906223"/>
              <a:ext cx="3660717" cy="12556819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1CD02BF9-F016-7923-2E5C-D3DD271B0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7122607" y="-4944730"/>
              <a:ext cx="3660717" cy="12556819"/>
            </a:xfrm>
            <a:prstGeom prst="rect">
              <a:avLst/>
            </a:prstGeom>
          </p:spPr>
        </p:pic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4A4F40E5-8808-97A8-8204-90ABD3A24D8A}"/>
              </a:ext>
            </a:extLst>
          </p:cNvPr>
          <p:cNvSpPr txBox="1"/>
          <p:nvPr/>
        </p:nvSpPr>
        <p:spPr>
          <a:xfrm>
            <a:off x="6355974" y="550438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雷达图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不同维度指标共同映射成整体形状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（直观呈现不同月度的社区特征）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FD1556E0-2BA7-24B9-8AAA-0505A4F64057}"/>
              </a:ext>
            </a:extLst>
          </p:cNvPr>
          <p:cNvSpPr/>
          <p:nvPr/>
        </p:nvSpPr>
        <p:spPr>
          <a:xfrm>
            <a:off x="413351" y="529679"/>
            <a:ext cx="11709855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技术一：数据</a:t>
            </a:r>
            <a:r>
              <a:rPr lang="en-US" altLang="zh-CN" sz="2400" b="1" dirty="0">
                <a:solidFill>
                  <a:schemeClr val="bg1"/>
                </a:solidFill>
              </a:rPr>
              <a:t>-</a:t>
            </a:r>
            <a:r>
              <a:rPr lang="zh-CN" altLang="en-US" sz="2400" b="1" dirty="0">
                <a:solidFill>
                  <a:schemeClr val="bg1"/>
                </a:solidFill>
              </a:rPr>
              <a:t>视觉映射技术</a:t>
            </a:r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1B3187EC-9548-F98A-DA61-E39C976FD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86" y="2195756"/>
            <a:ext cx="3543265" cy="406179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CE5FF92-9A8D-AAB8-DA38-93144859D0B8}"/>
              </a:ext>
            </a:extLst>
          </p:cNvPr>
          <p:cNvSpPr txBox="1"/>
          <p:nvPr/>
        </p:nvSpPr>
        <p:spPr>
          <a:xfrm>
            <a:off x="402746" y="1116304"/>
            <a:ext cx="46005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热力图 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开发者对之间的 </a:t>
            </a:r>
            <a:r>
              <a:rPr lang="en-US" altLang="zh-CN" dirty="0" err="1">
                <a:solidFill>
                  <a:schemeClr val="bg1"/>
                </a:solidFill>
              </a:rPr>
              <a:t>collaboration_frequency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映射为颜色深浅（直观展示合作密度）</a:t>
            </a:r>
            <a:endParaRPr lang="zh-CN" altLang="en-US" dirty="0"/>
          </a:p>
        </p:txBody>
      </p:sp>
      <p:pic>
        <p:nvPicPr>
          <p:cNvPr id="13" name="图片 12" descr="图表, 雷达图&#10;&#10;AI 生成的内容可能不正确。">
            <a:extLst>
              <a:ext uri="{FF2B5EF4-FFF2-40B4-BE49-F238E27FC236}">
                <a16:creationId xmlns:a16="http://schemas.microsoft.com/office/drawing/2014/main" id="{EE9AD2D7-6F26-8325-101D-2325B132D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7334" y="340134"/>
            <a:ext cx="3713280" cy="506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302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71643-039C-4956-1F42-2635CCDC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66AD288F-6304-CBB1-11B0-60F632E4A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4948299" y="-4948299"/>
            <a:ext cx="3554361" cy="13450959"/>
          </a:xfrm>
          <a:prstGeom prst="rect">
            <a:avLst/>
          </a:prstGeom>
        </p:spPr>
      </p:pic>
      <p:sp>
        <p:nvSpPr>
          <p:cNvPr id="2" name="Rectangle 17">
            <a:extLst>
              <a:ext uri="{FF2B5EF4-FFF2-40B4-BE49-F238E27FC236}">
                <a16:creationId xmlns:a16="http://schemas.microsoft.com/office/drawing/2014/main" id="{058A6856-276E-BB37-6254-C597E26C7507}"/>
              </a:ext>
            </a:extLst>
          </p:cNvPr>
          <p:cNvSpPr/>
          <p:nvPr/>
        </p:nvSpPr>
        <p:spPr>
          <a:xfrm>
            <a:off x="128085" y="299384"/>
            <a:ext cx="11709855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技术二：社区演化可视化技术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E25FC2C-5574-262E-3A1B-D3F774EBEFCF}"/>
              </a:ext>
            </a:extLst>
          </p:cNvPr>
          <p:cNvGrpSpPr/>
          <p:nvPr/>
        </p:nvGrpSpPr>
        <p:grpSpPr>
          <a:xfrm>
            <a:off x="298174" y="1547962"/>
            <a:ext cx="11893826" cy="4563106"/>
            <a:chOff x="298174" y="872101"/>
            <a:chExt cx="11893826" cy="4563106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DA866A1-4B41-6047-F285-6E5C3377F623}"/>
                </a:ext>
              </a:extLst>
            </p:cNvPr>
            <p:cNvGrpSpPr/>
            <p:nvPr/>
          </p:nvGrpSpPr>
          <p:grpSpPr>
            <a:xfrm>
              <a:off x="465304" y="872101"/>
              <a:ext cx="7043271" cy="3509583"/>
              <a:chOff x="-614189" y="724667"/>
              <a:chExt cx="7043271" cy="3509583"/>
            </a:xfrm>
          </p:grpSpPr>
          <p:pic>
            <p:nvPicPr>
              <p:cNvPr id="4" name="图片 3" descr="图表&#10;&#10;AI 生成的内容可能不正确。">
                <a:extLst>
                  <a:ext uri="{FF2B5EF4-FFF2-40B4-BE49-F238E27FC236}">
                    <a16:creationId xmlns:a16="http://schemas.microsoft.com/office/drawing/2014/main" id="{9134DBA2-1019-CC6F-7AA8-7320D7EF1F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7958" y="748928"/>
                <a:ext cx="3051124" cy="3485322"/>
              </a:xfrm>
              <a:prstGeom prst="rect">
                <a:avLst/>
              </a:prstGeom>
            </p:spPr>
          </p:pic>
          <p:pic>
            <p:nvPicPr>
              <p:cNvPr id="9" name="图片 8" descr="图表, 折线图&#10;&#10;AI 生成的内容可能不正确。">
                <a:extLst>
                  <a:ext uri="{FF2B5EF4-FFF2-40B4-BE49-F238E27FC236}">
                    <a16:creationId xmlns:a16="http://schemas.microsoft.com/office/drawing/2014/main" id="{BFE8BE6E-EE40-643C-6814-5C22F416C9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614189" y="724667"/>
                <a:ext cx="3164311" cy="3509583"/>
              </a:xfrm>
              <a:prstGeom prst="rect">
                <a:avLst/>
              </a:prstGeom>
            </p:spPr>
          </p:pic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BEEE3DC-E0AA-D923-402E-18F328C7FCF9}"/>
                </a:ext>
              </a:extLst>
            </p:cNvPr>
            <p:cNvSpPr txBox="1"/>
            <p:nvPr/>
          </p:nvSpPr>
          <p:spPr>
            <a:xfrm>
              <a:off x="3929269" y="4509146"/>
              <a:ext cx="3957526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网络指标时序分析 </a:t>
              </a:r>
              <a:endParaRPr lang="en-US" altLang="zh-CN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实时计算并存储每月的网络密度、平均聚类系数、连通分量数等关键指标</a:t>
              </a:r>
              <a:endParaRPr lang="en-US" altLang="zh-CN" dirty="0">
                <a:solidFill>
                  <a:schemeClr val="bg1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8033425-3505-8052-90A5-D47B767C2C80}"/>
                </a:ext>
              </a:extLst>
            </p:cNvPr>
            <p:cNvSpPr txBox="1"/>
            <p:nvPr/>
          </p:nvSpPr>
          <p:spPr>
            <a:xfrm>
              <a:off x="298174" y="4487617"/>
              <a:ext cx="349857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Louvain社区检测 </a:t>
              </a:r>
              <a:endParaRPr lang="en-US" altLang="zh-CN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每月对协作网络进行社区划分</a:t>
              </a:r>
              <a:endParaRPr lang="en-US" altLang="zh-CN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自动发现潜在的开发者群体</a:t>
              </a:r>
              <a:endParaRPr lang="en-US" altLang="zh-CN" dirty="0">
                <a:solidFill>
                  <a:schemeClr val="bg1"/>
                </a:solidFill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3CD1ACC-1CAD-A80E-152D-6363B6C749E8}"/>
                </a:ext>
              </a:extLst>
            </p:cNvPr>
            <p:cNvSpPr txBox="1"/>
            <p:nvPr/>
          </p:nvSpPr>
          <p:spPr>
            <a:xfrm>
              <a:off x="7840223" y="4511877"/>
              <a:ext cx="4351777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社区稳定性追踪 </a:t>
              </a:r>
              <a:endParaRPr lang="en-US" altLang="zh-CN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记录开发者在不同月份的社区归属变化，展示社区的合并、分裂和持续演进过程</a:t>
              </a:r>
            </a:p>
          </p:txBody>
        </p:sp>
      </p:grpSp>
      <p:pic>
        <p:nvPicPr>
          <p:cNvPr id="5" name="图片 4" descr="图片包含 日历&#10;&#10;AI 生成的内容可能不正确。">
            <a:extLst>
              <a:ext uri="{FF2B5EF4-FFF2-40B4-BE49-F238E27FC236}">
                <a16:creationId xmlns:a16="http://schemas.microsoft.com/office/drawing/2014/main" id="{EF791869-CA73-37F4-FE47-B3773D541C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2387" y="1316016"/>
            <a:ext cx="2739334" cy="37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895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p15="http://schemas.microsoft.com/office/powerpoint/2012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5C325-3AED-0599-87B6-EF2AE1354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2E9A98F3-14BB-62F3-3A44-118E29EF35BA}"/>
              </a:ext>
            </a:extLst>
          </p:cNvPr>
          <p:cNvGrpSpPr/>
          <p:nvPr/>
        </p:nvGrpSpPr>
        <p:grpSpPr>
          <a:xfrm>
            <a:off x="-7665664" y="3264758"/>
            <a:ext cx="24285839" cy="3710961"/>
            <a:chOff x="-7692168" y="3430410"/>
            <a:chExt cx="24285839" cy="3710961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02B3DA2E-627D-AA83-CE8C-EA82AA89B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8720490" y="-888409"/>
              <a:ext cx="3554361" cy="12192000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2068E15-9FF6-565F-ACD5-D589F2168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-3373349" y="-731809"/>
              <a:ext cx="3554361" cy="12192000"/>
            </a:xfrm>
            <a:prstGeom prst="rect">
              <a:avLst/>
            </a:prstGeom>
          </p:spPr>
        </p:pic>
      </p:grpSp>
      <p:sp>
        <p:nvSpPr>
          <p:cNvPr id="2" name="Rectangle 17">
            <a:extLst>
              <a:ext uri="{FF2B5EF4-FFF2-40B4-BE49-F238E27FC236}">
                <a16:creationId xmlns:a16="http://schemas.microsoft.com/office/drawing/2014/main" id="{6690D8C4-8DFD-0372-9AFC-F63AF7597650}"/>
              </a:ext>
            </a:extLst>
          </p:cNvPr>
          <p:cNvSpPr/>
          <p:nvPr/>
        </p:nvSpPr>
        <p:spPr>
          <a:xfrm>
            <a:off x="128085" y="299384"/>
            <a:ext cx="11709855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技术三：交互式可视化设计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552125-AD6A-E1B8-A603-75B1C41ACB50}"/>
              </a:ext>
            </a:extLst>
          </p:cNvPr>
          <p:cNvSpPr txBox="1"/>
          <p:nvPr/>
        </p:nvSpPr>
        <p:spPr>
          <a:xfrm>
            <a:off x="902612" y="916790"/>
            <a:ext cx="10011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简洁明了的主界面，根据需求进入对应的模块</a:t>
            </a:r>
            <a:endParaRPr lang="en-US" altLang="zh-CN" dirty="0">
              <a:solidFill>
                <a:schemeClr val="bg1"/>
              </a:solidFill>
            </a:endParaRPr>
          </a:p>
        </p:txBody>
      </p:sp>
      <p:pic>
        <p:nvPicPr>
          <p:cNvPr id="9" name="图片 8" descr="图形用户界面, 图示, 应用程序, Teams&#10;&#10;AI 生成的内容可能不正确。">
            <a:extLst>
              <a:ext uri="{FF2B5EF4-FFF2-40B4-BE49-F238E27FC236}">
                <a16:creationId xmlns:a16="http://schemas.microsoft.com/office/drawing/2014/main" id="{98365632-3C36-0899-4541-4E4FEF8F3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19" y="2154371"/>
            <a:ext cx="5068672" cy="4032629"/>
          </a:xfrm>
          <a:prstGeom prst="rect">
            <a:avLst/>
          </a:prstGeom>
        </p:spPr>
      </p:pic>
      <p:pic>
        <p:nvPicPr>
          <p:cNvPr id="13" name="图片 12" descr="图形用户界面, 应用程序, Teams&#10;&#10;AI 生成的内容可能不正确。">
            <a:extLst>
              <a:ext uri="{FF2B5EF4-FFF2-40B4-BE49-F238E27FC236}">
                <a16:creationId xmlns:a16="http://schemas.microsoft.com/office/drawing/2014/main" id="{7F527E28-69BA-D917-5E34-9B981891E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305" y="1499629"/>
            <a:ext cx="4458993" cy="534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54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CFDB7-8D2F-3BB5-6036-E21EC9BF8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8E9734E0-7881-E600-4C69-4A010D58B9DD}"/>
              </a:ext>
            </a:extLst>
          </p:cNvPr>
          <p:cNvGrpSpPr/>
          <p:nvPr/>
        </p:nvGrpSpPr>
        <p:grpSpPr>
          <a:xfrm>
            <a:off x="-7692168" y="3430410"/>
            <a:ext cx="24285839" cy="3710961"/>
            <a:chOff x="-7692168" y="3430410"/>
            <a:chExt cx="24285839" cy="3710961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3049C91C-6387-0D80-3F8A-690CEFD28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8720490" y="-888409"/>
              <a:ext cx="3554361" cy="12192000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2F3322D6-1F86-3387-FC4A-CF4BBB122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-3373349" y="-731809"/>
              <a:ext cx="3554361" cy="12192000"/>
            </a:xfrm>
            <a:prstGeom prst="rect">
              <a:avLst/>
            </a:prstGeom>
          </p:spPr>
        </p:pic>
      </p:grpSp>
      <p:sp>
        <p:nvSpPr>
          <p:cNvPr id="2" name="Rectangle 17">
            <a:extLst>
              <a:ext uri="{FF2B5EF4-FFF2-40B4-BE49-F238E27FC236}">
                <a16:creationId xmlns:a16="http://schemas.microsoft.com/office/drawing/2014/main" id="{1198969C-789B-7B7C-E786-9810488EF841}"/>
              </a:ext>
            </a:extLst>
          </p:cNvPr>
          <p:cNvSpPr/>
          <p:nvPr/>
        </p:nvSpPr>
        <p:spPr>
          <a:xfrm>
            <a:off x="128085" y="299384"/>
            <a:ext cx="11709855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技术三：交互式可视化设计</a:t>
            </a:r>
          </a:p>
        </p:txBody>
      </p:sp>
      <p:pic>
        <p:nvPicPr>
          <p:cNvPr id="6" name="图片 5" descr="图表&#10;&#10;AI 生成的内容可能不正确。">
            <a:extLst>
              <a:ext uri="{FF2B5EF4-FFF2-40B4-BE49-F238E27FC236}">
                <a16:creationId xmlns:a16="http://schemas.microsoft.com/office/drawing/2014/main" id="{770C1DEA-EAAF-317C-98D7-AD236ED35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002" y="802995"/>
            <a:ext cx="3937737" cy="5703628"/>
          </a:xfrm>
          <a:prstGeom prst="rect">
            <a:avLst/>
          </a:prstGeom>
        </p:spPr>
      </p:pic>
      <p:pic>
        <p:nvPicPr>
          <p:cNvPr id="10" name="图片 9" descr="图表, 条形图, 直方图&#10;&#10;AI 生成的内容可能不正确。">
            <a:extLst>
              <a:ext uri="{FF2B5EF4-FFF2-40B4-BE49-F238E27FC236}">
                <a16:creationId xmlns:a16="http://schemas.microsoft.com/office/drawing/2014/main" id="{D36E5237-932A-93F7-C5FE-F7844F5E2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917" y="1027044"/>
            <a:ext cx="3232557" cy="3644348"/>
          </a:xfrm>
          <a:prstGeom prst="rect">
            <a:avLst/>
          </a:prstGeom>
        </p:spPr>
      </p:pic>
      <p:sp>
        <p:nvSpPr>
          <p:cNvPr id="11" name="Freeform 2591">
            <a:extLst>
              <a:ext uri="{FF2B5EF4-FFF2-40B4-BE49-F238E27FC236}">
                <a16:creationId xmlns:a16="http://schemas.microsoft.com/office/drawing/2014/main" id="{3526C8E0-C1DD-6E04-6294-683518BE3F78}"/>
              </a:ext>
            </a:extLst>
          </p:cNvPr>
          <p:cNvSpPr/>
          <p:nvPr/>
        </p:nvSpPr>
        <p:spPr bwMode="auto">
          <a:xfrm rot="3684130">
            <a:off x="4663904" y="1556834"/>
            <a:ext cx="1098667" cy="2268786"/>
          </a:xfrm>
          <a:custGeom>
            <a:avLst/>
            <a:gdLst>
              <a:gd name="T0" fmla="*/ 209 w 313"/>
              <a:gd name="T1" fmla="*/ 1 h 370"/>
              <a:gd name="T2" fmla="*/ 260 w 313"/>
              <a:gd name="T3" fmla="*/ 0 h 370"/>
              <a:gd name="T4" fmla="*/ 294 w 313"/>
              <a:gd name="T5" fmla="*/ 3 h 370"/>
              <a:gd name="T6" fmla="*/ 306 w 313"/>
              <a:gd name="T7" fmla="*/ 8 h 370"/>
              <a:gd name="T8" fmla="*/ 312 w 313"/>
              <a:gd name="T9" fmla="*/ 13 h 370"/>
              <a:gd name="T10" fmla="*/ 313 w 313"/>
              <a:gd name="T11" fmla="*/ 20 h 370"/>
              <a:gd name="T12" fmla="*/ 303 w 313"/>
              <a:gd name="T13" fmla="*/ 39 h 370"/>
              <a:gd name="T14" fmla="*/ 259 w 313"/>
              <a:gd name="T15" fmla="*/ 98 h 370"/>
              <a:gd name="T16" fmla="*/ 254 w 313"/>
              <a:gd name="T17" fmla="*/ 102 h 370"/>
              <a:gd name="T18" fmla="*/ 249 w 313"/>
              <a:gd name="T19" fmla="*/ 101 h 370"/>
              <a:gd name="T20" fmla="*/ 245 w 313"/>
              <a:gd name="T21" fmla="*/ 97 h 370"/>
              <a:gd name="T22" fmla="*/ 246 w 313"/>
              <a:gd name="T23" fmla="*/ 92 h 370"/>
              <a:gd name="T24" fmla="*/ 276 w 313"/>
              <a:gd name="T25" fmla="*/ 51 h 370"/>
              <a:gd name="T26" fmla="*/ 292 w 313"/>
              <a:gd name="T27" fmla="*/ 31 h 370"/>
              <a:gd name="T28" fmla="*/ 230 w 313"/>
              <a:gd name="T29" fmla="*/ 51 h 370"/>
              <a:gd name="T30" fmla="*/ 192 w 313"/>
              <a:gd name="T31" fmla="*/ 69 h 370"/>
              <a:gd name="T32" fmla="*/ 137 w 313"/>
              <a:gd name="T33" fmla="*/ 102 h 370"/>
              <a:gd name="T34" fmla="*/ 104 w 313"/>
              <a:gd name="T35" fmla="*/ 129 h 370"/>
              <a:gd name="T36" fmla="*/ 74 w 313"/>
              <a:gd name="T37" fmla="*/ 161 h 370"/>
              <a:gd name="T38" fmla="*/ 38 w 313"/>
              <a:gd name="T39" fmla="*/ 214 h 370"/>
              <a:gd name="T40" fmla="*/ 22 w 313"/>
              <a:gd name="T41" fmla="*/ 252 h 370"/>
              <a:gd name="T42" fmla="*/ 14 w 313"/>
              <a:gd name="T43" fmla="*/ 304 h 370"/>
              <a:gd name="T44" fmla="*/ 17 w 313"/>
              <a:gd name="T45" fmla="*/ 322 h 370"/>
              <a:gd name="T46" fmla="*/ 29 w 313"/>
              <a:gd name="T47" fmla="*/ 342 h 370"/>
              <a:gd name="T48" fmla="*/ 48 w 313"/>
              <a:gd name="T49" fmla="*/ 356 h 370"/>
              <a:gd name="T50" fmla="*/ 52 w 313"/>
              <a:gd name="T51" fmla="*/ 360 h 370"/>
              <a:gd name="T52" fmla="*/ 52 w 313"/>
              <a:gd name="T53" fmla="*/ 365 h 370"/>
              <a:gd name="T54" fmla="*/ 48 w 313"/>
              <a:gd name="T55" fmla="*/ 369 h 370"/>
              <a:gd name="T56" fmla="*/ 42 w 313"/>
              <a:gd name="T57" fmla="*/ 369 h 370"/>
              <a:gd name="T58" fmla="*/ 25 w 313"/>
              <a:gd name="T59" fmla="*/ 359 h 370"/>
              <a:gd name="T60" fmla="*/ 7 w 313"/>
              <a:gd name="T61" fmla="*/ 336 h 370"/>
              <a:gd name="T62" fmla="*/ 0 w 313"/>
              <a:gd name="T63" fmla="*/ 305 h 370"/>
              <a:gd name="T64" fmla="*/ 0 w 313"/>
              <a:gd name="T65" fmla="*/ 286 h 370"/>
              <a:gd name="T66" fmla="*/ 15 w 313"/>
              <a:gd name="T67" fmla="*/ 227 h 370"/>
              <a:gd name="T68" fmla="*/ 36 w 313"/>
              <a:gd name="T69" fmla="*/ 188 h 370"/>
              <a:gd name="T70" fmla="*/ 62 w 313"/>
              <a:gd name="T71" fmla="*/ 152 h 370"/>
              <a:gd name="T72" fmla="*/ 110 w 313"/>
              <a:gd name="T73" fmla="*/ 105 h 370"/>
              <a:gd name="T74" fmla="*/ 146 w 313"/>
              <a:gd name="T75" fmla="*/ 79 h 370"/>
              <a:gd name="T76" fmla="*/ 204 w 313"/>
              <a:gd name="T77" fmla="*/ 47 h 370"/>
              <a:gd name="T78" fmla="*/ 244 w 313"/>
              <a:gd name="T79" fmla="*/ 30 h 370"/>
              <a:gd name="T80" fmla="*/ 286 w 313"/>
              <a:gd name="T81" fmla="*/ 17 h 370"/>
              <a:gd name="T82" fmla="*/ 259 w 313"/>
              <a:gd name="T83" fmla="*/ 15 h 370"/>
              <a:gd name="T84" fmla="*/ 203 w 313"/>
              <a:gd name="T85" fmla="*/ 17 h 370"/>
              <a:gd name="T86" fmla="*/ 198 w 313"/>
              <a:gd name="T87" fmla="*/ 16 h 370"/>
              <a:gd name="T88" fmla="*/ 194 w 313"/>
              <a:gd name="T89" fmla="*/ 12 h 370"/>
              <a:gd name="T90" fmla="*/ 195 w 313"/>
              <a:gd name="T91" fmla="*/ 6 h 370"/>
              <a:gd name="T92" fmla="*/ 200 w 313"/>
              <a:gd name="T93" fmla="*/ 3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13" h="370">
                <a:moveTo>
                  <a:pt x="200" y="3"/>
                </a:moveTo>
                <a:lnTo>
                  <a:pt x="200" y="3"/>
                </a:lnTo>
                <a:lnTo>
                  <a:pt x="209" y="1"/>
                </a:lnTo>
                <a:lnTo>
                  <a:pt x="222" y="0"/>
                </a:lnTo>
                <a:lnTo>
                  <a:pt x="239" y="0"/>
                </a:lnTo>
                <a:lnTo>
                  <a:pt x="260" y="0"/>
                </a:lnTo>
                <a:lnTo>
                  <a:pt x="260" y="0"/>
                </a:lnTo>
                <a:lnTo>
                  <a:pt x="279" y="1"/>
                </a:lnTo>
                <a:lnTo>
                  <a:pt x="294" y="3"/>
                </a:lnTo>
                <a:lnTo>
                  <a:pt x="294" y="3"/>
                </a:lnTo>
                <a:lnTo>
                  <a:pt x="301" y="5"/>
                </a:lnTo>
                <a:lnTo>
                  <a:pt x="306" y="8"/>
                </a:lnTo>
                <a:lnTo>
                  <a:pt x="306" y="8"/>
                </a:lnTo>
                <a:lnTo>
                  <a:pt x="310" y="10"/>
                </a:lnTo>
                <a:lnTo>
                  <a:pt x="312" y="13"/>
                </a:lnTo>
                <a:lnTo>
                  <a:pt x="313" y="17"/>
                </a:lnTo>
                <a:lnTo>
                  <a:pt x="313" y="20"/>
                </a:lnTo>
                <a:lnTo>
                  <a:pt x="313" y="20"/>
                </a:lnTo>
                <a:lnTo>
                  <a:pt x="310" y="28"/>
                </a:lnTo>
                <a:lnTo>
                  <a:pt x="303" y="39"/>
                </a:lnTo>
                <a:lnTo>
                  <a:pt x="303" y="39"/>
                </a:lnTo>
                <a:lnTo>
                  <a:pt x="287" y="60"/>
                </a:lnTo>
                <a:lnTo>
                  <a:pt x="287" y="60"/>
                </a:lnTo>
                <a:lnTo>
                  <a:pt x="259" y="98"/>
                </a:lnTo>
                <a:lnTo>
                  <a:pt x="259" y="98"/>
                </a:lnTo>
                <a:lnTo>
                  <a:pt x="257" y="101"/>
                </a:lnTo>
                <a:lnTo>
                  <a:pt x="254" y="102"/>
                </a:lnTo>
                <a:lnTo>
                  <a:pt x="254" y="102"/>
                </a:lnTo>
                <a:lnTo>
                  <a:pt x="251" y="102"/>
                </a:lnTo>
                <a:lnTo>
                  <a:pt x="249" y="101"/>
                </a:lnTo>
                <a:lnTo>
                  <a:pt x="249" y="101"/>
                </a:lnTo>
                <a:lnTo>
                  <a:pt x="247" y="99"/>
                </a:lnTo>
                <a:lnTo>
                  <a:pt x="245" y="97"/>
                </a:lnTo>
                <a:lnTo>
                  <a:pt x="245" y="97"/>
                </a:lnTo>
                <a:lnTo>
                  <a:pt x="245" y="94"/>
                </a:lnTo>
                <a:lnTo>
                  <a:pt x="246" y="92"/>
                </a:lnTo>
                <a:lnTo>
                  <a:pt x="246" y="92"/>
                </a:lnTo>
                <a:lnTo>
                  <a:pt x="255" y="78"/>
                </a:lnTo>
                <a:lnTo>
                  <a:pt x="276" y="51"/>
                </a:lnTo>
                <a:lnTo>
                  <a:pt x="276" y="51"/>
                </a:lnTo>
                <a:lnTo>
                  <a:pt x="292" y="31"/>
                </a:lnTo>
                <a:lnTo>
                  <a:pt x="292" y="31"/>
                </a:lnTo>
                <a:lnTo>
                  <a:pt x="271" y="37"/>
                </a:lnTo>
                <a:lnTo>
                  <a:pt x="250" y="43"/>
                </a:lnTo>
                <a:lnTo>
                  <a:pt x="230" y="51"/>
                </a:lnTo>
                <a:lnTo>
                  <a:pt x="211" y="60"/>
                </a:lnTo>
                <a:lnTo>
                  <a:pt x="211" y="60"/>
                </a:lnTo>
                <a:lnTo>
                  <a:pt x="192" y="69"/>
                </a:lnTo>
                <a:lnTo>
                  <a:pt x="173" y="79"/>
                </a:lnTo>
                <a:lnTo>
                  <a:pt x="155" y="90"/>
                </a:lnTo>
                <a:lnTo>
                  <a:pt x="137" y="102"/>
                </a:lnTo>
                <a:lnTo>
                  <a:pt x="137" y="102"/>
                </a:lnTo>
                <a:lnTo>
                  <a:pt x="120" y="115"/>
                </a:lnTo>
                <a:lnTo>
                  <a:pt x="104" y="129"/>
                </a:lnTo>
                <a:lnTo>
                  <a:pt x="88" y="144"/>
                </a:lnTo>
                <a:lnTo>
                  <a:pt x="74" y="161"/>
                </a:lnTo>
                <a:lnTo>
                  <a:pt x="74" y="161"/>
                </a:lnTo>
                <a:lnTo>
                  <a:pt x="60" y="178"/>
                </a:lnTo>
                <a:lnTo>
                  <a:pt x="48" y="196"/>
                </a:lnTo>
                <a:lnTo>
                  <a:pt x="38" y="214"/>
                </a:lnTo>
                <a:lnTo>
                  <a:pt x="29" y="233"/>
                </a:lnTo>
                <a:lnTo>
                  <a:pt x="29" y="233"/>
                </a:lnTo>
                <a:lnTo>
                  <a:pt x="22" y="252"/>
                </a:lnTo>
                <a:lnTo>
                  <a:pt x="17" y="270"/>
                </a:lnTo>
                <a:lnTo>
                  <a:pt x="15" y="287"/>
                </a:lnTo>
                <a:lnTo>
                  <a:pt x="14" y="304"/>
                </a:lnTo>
                <a:lnTo>
                  <a:pt x="14" y="304"/>
                </a:lnTo>
                <a:lnTo>
                  <a:pt x="15" y="313"/>
                </a:lnTo>
                <a:lnTo>
                  <a:pt x="17" y="322"/>
                </a:lnTo>
                <a:lnTo>
                  <a:pt x="20" y="329"/>
                </a:lnTo>
                <a:lnTo>
                  <a:pt x="24" y="336"/>
                </a:lnTo>
                <a:lnTo>
                  <a:pt x="29" y="342"/>
                </a:lnTo>
                <a:lnTo>
                  <a:pt x="34" y="347"/>
                </a:lnTo>
                <a:lnTo>
                  <a:pt x="41" y="352"/>
                </a:lnTo>
                <a:lnTo>
                  <a:pt x="48" y="356"/>
                </a:lnTo>
                <a:lnTo>
                  <a:pt x="48" y="356"/>
                </a:lnTo>
                <a:lnTo>
                  <a:pt x="50" y="357"/>
                </a:lnTo>
                <a:lnTo>
                  <a:pt x="52" y="360"/>
                </a:lnTo>
                <a:lnTo>
                  <a:pt x="52" y="360"/>
                </a:lnTo>
                <a:lnTo>
                  <a:pt x="52" y="362"/>
                </a:lnTo>
                <a:lnTo>
                  <a:pt x="52" y="365"/>
                </a:lnTo>
                <a:lnTo>
                  <a:pt x="52" y="365"/>
                </a:lnTo>
                <a:lnTo>
                  <a:pt x="50" y="367"/>
                </a:lnTo>
                <a:lnTo>
                  <a:pt x="48" y="369"/>
                </a:lnTo>
                <a:lnTo>
                  <a:pt x="48" y="369"/>
                </a:lnTo>
                <a:lnTo>
                  <a:pt x="45" y="370"/>
                </a:lnTo>
                <a:lnTo>
                  <a:pt x="42" y="369"/>
                </a:lnTo>
                <a:lnTo>
                  <a:pt x="42" y="369"/>
                </a:lnTo>
                <a:lnTo>
                  <a:pt x="33" y="365"/>
                </a:lnTo>
                <a:lnTo>
                  <a:pt x="25" y="359"/>
                </a:lnTo>
                <a:lnTo>
                  <a:pt x="18" y="352"/>
                </a:lnTo>
                <a:lnTo>
                  <a:pt x="12" y="345"/>
                </a:lnTo>
                <a:lnTo>
                  <a:pt x="7" y="336"/>
                </a:lnTo>
                <a:lnTo>
                  <a:pt x="3" y="327"/>
                </a:lnTo>
                <a:lnTo>
                  <a:pt x="1" y="316"/>
                </a:lnTo>
                <a:lnTo>
                  <a:pt x="0" y="305"/>
                </a:lnTo>
                <a:lnTo>
                  <a:pt x="0" y="305"/>
                </a:lnTo>
                <a:lnTo>
                  <a:pt x="0" y="296"/>
                </a:lnTo>
                <a:lnTo>
                  <a:pt x="0" y="286"/>
                </a:lnTo>
                <a:lnTo>
                  <a:pt x="3" y="267"/>
                </a:lnTo>
                <a:lnTo>
                  <a:pt x="8" y="248"/>
                </a:lnTo>
                <a:lnTo>
                  <a:pt x="15" y="227"/>
                </a:lnTo>
                <a:lnTo>
                  <a:pt x="15" y="227"/>
                </a:lnTo>
                <a:lnTo>
                  <a:pt x="25" y="207"/>
                </a:lnTo>
                <a:lnTo>
                  <a:pt x="36" y="188"/>
                </a:lnTo>
                <a:lnTo>
                  <a:pt x="48" y="170"/>
                </a:lnTo>
                <a:lnTo>
                  <a:pt x="62" y="152"/>
                </a:lnTo>
                <a:lnTo>
                  <a:pt x="62" y="152"/>
                </a:lnTo>
                <a:lnTo>
                  <a:pt x="78" y="135"/>
                </a:lnTo>
                <a:lnTo>
                  <a:pt x="93" y="119"/>
                </a:lnTo>
                <a:lnTo>
                  <a:pt x="110" y="105"/>
                </a:lnTo>
                <a:lnTo>
                  <a:pt x="128" y="91"/>
                </a:lnTo>
                <a:lnTo>
                  <a:pt x="128" y="91"/>
                </a:lnTo>
                <a:lnTo>
                  <a:pt x="146" y="79"/>
                </a:lnTo>
                <a:lnTo>
                  <a:pt x="165" y="67"/>
                </a:lnTo>
                <a:lnTo>
                  <a:pt x="184" y="57"/>
                </a:lnTo>
                <a:lnTo>
                  <a:pt x="204" y="47"/>
                </a:lnTo>
                <a:lnTo>
                  <a:pt x="204" y="47"/>
                </a:lnTo>
                <a:lnTo>
                  <a:pt x="224" y="38"/>
                </a:lnTo>
                <a:lnTo>
                  <a:pt x="244" y="30"/>
                </a:lnTo>
                <a:lnTo>
                  <a:pt x="265" y="23"/>
                </a:lnTo>
                <a:lnTo>
                  <a:pt x="286" y="17"/>
                </a:lnTo>
                <a:lnTo>
                  <a:pt x="286" y="17"/>
                </a:lnTo>
                <a:lnTo>
                  <a:pt x="274" y="16"/>
                </a:lnTo>
                <a:lnTo>
                  <a:pt x="259" y="15"/>
                </a:lnTo>
                <a:lnTo>
                  <a:pt x="259" y="15"/>
                </a:lnTo>
                <a:lnTo>
                  <a:pt x="224" y="15"/>
                </a:lnTo>
                <a:lnTo>
                  <a:pt x="212" y="15"/>
                </a:lnTo>
                <a:lnTo>
                  <a:pt x="203" y="17"/>
                </a:lnTo>
                <a:lnTo>
                  <a:pt x="203" y="17"/>
                </a:lnTo>
                <a:lnTo>
                  <a:pt x="200" y="17"/>
                </a:lnTo>
                <a:lnTo>
                  <a:pt x="198" y="16"/>
                </a:lnTo>
                <a:lnTo>
                  <a:pt x="198" y="16"/>
                </a:lnTo>
                <a:lnTo>
                  <a:pt x="196" y="14"/>
                </a:lnTo>
                <a:lnTo>
                  <a:pt x="194" y="12"/>
                </a:lnTo>
                <a:lnTo>
                  <a:pt x="194" y="12"/>
                </a:lnTo>
                <a:lnTo>
                  <a:pt x="194" y="9"/>
                </a:lnTo>
                <a:lnTo>
                  <a:pt x="195" y="6"/>
                </a:lnTo>
                <a:lnTo>
                  <a:pt x="195" y="6"/>
                </a:lnTo>
                <a:lnTo>
                  <a:pt x="197" y="4"/>
                </a:lnTo>
                <a:lnTo>
                  <a:pt x="200" y="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sz="2400" kern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B3F73C-D5AA-8850-A367-2DC038D727E7}"/>
              </a:ext>
            </a:extLst>
          </p:cNvPr>
          <p:cNvSpPr txBox="1"/>
          <p:nvPr/>
        </p:nvSpPr>
        <p:spPr>
          <a:xfrm>
            <a:off x="207257" y="1674674"/>
            <a:ext cx="1001196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图表分析可选择展开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endParaRPr lang="en-US" altLang="zh-CN" dirty="0">
              <a:solidFill>
                <a:schemeClr val="bg1"/>
              </a:solidFill>
            </a:endParaRPr>
          </a:p>
          <a:p>
            <a:pPr algn="ctr"/>
            <a:endParaRPr lang="en-US" altLang="zh-CN" dirty="0">
              <a:solidFill>
                <a:schemeClr val="bg1"/>
              </a:solidFill>
            </a:endParaRPr>
          </a:p>
          <a:p>
            <a:pPr algn="ctr"/>
            <a:endParaRPr lang="en-US" altLang="zh-CN" dirty="0">
              <a:solidFill>
                <a:schemeClr val="bg1"/>
              </a:solidFill>
            </a:endParaRPr>
          </a:p>
          <a:p>
            <a:pPr algn="ctr"/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自动呈现规律和异常值说明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01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19787-FFBA-18F0-FF23-20676FD62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A9C70E8D-1CFF-C744-9CB3-E170BCEBC374}"/>
              </a:ext>
            </a:extLst>
          </p:cNvPr>
          <p:cNvGrpSpPr/>
          <p:nvPr/>
        </p:nvGrpSpPr>
        <p:grpSpPr>
          <a:xfrm>
            <a:off x="-7021169" y="2158639"/>
            <a:ext cx="24285839" cy="4896713"/>
            <a:chOff x="-7692168" y="3430410"/>
            <a:chExt cx="24285839" cy="3710961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DA997D91-3021-87B5-DCDE-C3A87D6A5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8720490" y="-888409"/>
              <a:ext cx="3554361" cy="12192000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6A8E7416-58CC-DC9A-F15E-B6C50C06B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-3373349" y="-731809"/>
              <a:ext cx="3554361" cy="12192000"/>
            </a:xfrm>
            <a:prstGeom prst="rect">
              <a:avLst/>
            </a:prstGeom>
          </p:spPr>
        </p:pic>
      </p:grpSp>
      <p:sp>
        <p:nvSpPr>
          <p:cNvPr id="2" name="Rectangle 17">
            <a:extLst>
              <a:ext uri="{FF2B5EF4-FFF2-40B4-BE49-F238E27FC236}">
                <a16:creationId xmlns:a16="http://schemas.microsoft.com/office/drawing/2014/main" id="{99D4737C-E521-1809-119E-18581050F240}"/>
              </a:ext>
            </a:extLst>
          </p:cNvPr>
          <p:cNvSpPr/>
          <p:nvPr/>
        </p:nvSpPr>
        <p:spPr>
          <a:xfrm>
            <a:off x="128085" y="299384"/>
            <a:ext cx="11709855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技术三：交互式可视化设计</a:t>
            </a:r>
          </a:p>
        </p:txBody>
      </p:sp>
      <p:sp>
        <p:nvSpPr>
          <p:cNvPr id="11" name="Freeform 2591">
            <a:extLst>
              <a:ext uri="{FF2B5EF4-FFF2-40B4-BE49-F238E27FC236}">
                <a16:creationId xmlns:a16="http://schemas.microsoft.com/office/drawing/2014/main" id="{98A73EEF-BEC4-7AC3-EBCF-2F6646C7FE02}"/>
              </a:ext>
            </a:extLst>
          </p:cNvPr>
          <p:cNvSpPr/>
          <p:nvPr/>
        </p:nvSpPr>
        <p:spPr bwMode="auto">
          <a:xfrm rot="4308221">
            <a:off x="4675237" y="-266731"/>
            <a:ext cx="1311778" cy="3067215"/>
          </a:xfrm>
          <a:custGeom>
            <a:avLst/>
            <a:gdLst>
              <a:gd name="T0" fmla="*/ 209 w 313"/>
              <a:gd name="T1" fmla="*/ 1 h 370"/>
              <a:gd name="T2" fmla="*/ 260 w 313"/>
              <a:gd name="T3" fmla="*/ 0 h 370"/>
              <a:gd name="T4" fmla="*/ 294 w 313"/>
              <a:gd name="T5" fmla="*/ 3 h 370"/>
              <a:gd name="T6" fmla="*/ 306 w 313"/>
              <a:gd name="T7" fmla="*/ 8 h 370"/>
              <a:gd name="T8" fmla="*/ 312 w 313"/>
              <a:gd name="T9" fmla="*/ 13 h 370"/>
              <a:gd name="T10" fmla="*/ 313 w 313"/>
              <a:gd name="T11" fmla="*/ 20 h 370"/>
              <a:gd name="T12" fmla="*/ 303 w 313"/>
              <a:gd name="T13" fmla="*/ 39 h 370"/>
              <a:gd name="T14" fmla="*/ 259 w 313"/>
              <a:gd name="T15" fmla="*/ 98 h 370"/>
              <a:gd name="T16" fmla="*/ 254 w 313"/>
              <a:gd name="T17" fmla="*/ 102 h 370"/>
              <a:gd name="T18" fmla="*/ 249 w 313"/>
              <a:gd name="T19" fmla="*/ 101 h 370"/>
              <a:gd name="T20" fmla="*/ 245 w 313"/>
              <a:gd name="T21" fmla="*/ 97 h 370"/>
              <a:gd name="T22" fmla="*/ 246 w 313"/>
              <a:gd name="T23" fmla="*/ 92 h 370"/>
              <a:gd name="T24" fmla="*/ 276 w 313"/>
              <a:gd name="T25" fmla="*/ 51 h 370"/>
              <a:gd name="T26" fmla="*/ 292 w 313"/>
              <a:gd name="T27" fmla="*/ 31 h 370"/>
              <a:gd name="T28" fmla="*/ 230 w 313"/>
              <a:gd name="T29" fmla="*/ 51 h 370"/>
              <a:gd name="T30" fmla="*/ 192 w 313"/>
              <a:gd name="T31" fmla="*/ 69 h 370"/>
              <a:gd name="T32" fmla="*/ 137 w 313"/>
              <a:gd name="T33" fmla="*/ 102 h 370"/>
              <a:gd name="T34" fmla="*/ 104 w 313"/>
              <a:gd name="T35" fmla="*/ 129 h 370"/>
              <a:gd name="T36" fmla="*/ 74 w 313"/>
              <a:gd name="T37" fmla="*/ 161 h 370"/>
              <a:gd name="T38" fmla="*/ 38 w 313"/>
              <a:gd name="T39" fmla="*/ 214 h 370"/>
              <a:gd name="T40" fmla="*/ 22 w 313"/>
              <a:gd name="T41" fmla="*/ 252 h 370"/>
              <a:gd name="T42" fmla="*/ 14 w 313"/>
              <a:gd name="T43" fmla="*/ 304 h 370"/>
              <a:gd name="T44" fmla="*/ 17 w 313"/>
              <a:gd name="T45" fmla="*/ 322 h 370"/>
              <a:gd name="T46" fmla="*/ 29 w 313"/>
              <a:gd name="T47" fmla="*/ 342 h 370"/>
              <a:gd name="T48" fmla="*/ 48 w 313"/>
              <a:gd name="T49" fmla="*/ 356 h 370"/>
              <a:gd name="T50" fmla="*/ 52 w 313"/>
              <a:gd name="T51" fmla="*/ 360 h 370"/>
              <a:gd name="T52" fmla="*/ 52 w 313"/>
              <a:gd name="T53" fmla="*/ 365 h 370"/>
              <a:gd name="T54" fmla="*/ 48 w 313"/>
              <a:gd name="T55" fmla="*/ 369 h 370"/>
              <a:gd name="T56" fmla="*/ 42 w 313"/>
              <a:gd name="T57" fmla="*/ 369 h 370"/>
              <a:gd name="T58" fmla="*/ 25 w 313"/>
              <a:gd name="T59" fmla="*/ 359 h 370"/>
              <a:gd name="T60" fmla="*/ 7 w 313"/>
              <a:gd name="T61" fmla="*/ 336 h 370"/>
              <a:gd name="T62" fmla="*/ 0 w 313"/>
              <a:gd name="T63" fmla="*/ 305 h 370"/>
              <a:gd name="T64" fmla="*/ 0 w 313"/>
              <a:gd name="T65" fmla="*/ 286 h 370"/>
              <a:gd name="T66" fmla="*/ 15 w 313"/>
              <a:gd name="T67" fmla="*/ 227 h 370"/>
              <a:gd name="T68" fmla="*/ 36 w 313"/>
              <a:gd name="T69" fmla="*/ 188 h 370"/>
              <a:gd name="T70" fmla="*/ 62 w 313"/>
              <a:gd name="T71" fmla="*/ 152 h 370"/>
              <a:gd name="T72" fmla="*/ 110 w 313"/>
              <a:gd name="T73" fmla="*/ 105 h 370"/>
              <a:gd name="T74" fmla="*/ 146 w 313"/>
              <a:gd name="T75" fmla="*/ 79 h 370"/>
              <a:gd name="T76" fmla="*/ 204 w 313"/>
              <a:gd name="T77" fmla="*/ 47 h 370"/>
              <a:gd name="T78" fmla="*/ 244 w 313"/>
              <a:gd name="T79" fmla="*/ 30 h 370"/>
              <a:gd name="T80" fmla="*/ 286 w 313"/>
              <a:gd name="T81" fmla="*/ 17 h 370"/>
              <a:gd name="T82" fmla="*/ 259 w 313"/>
              <a:gd name="T83" fmla="*/ 15 h 370"/>
              <a:gd name="T84" fmla="*/ 203 w 313"/>
              <a:gd name="T85" fmla="*/ 17 h 370"/>
              <a:gd name="T86" fmla="*/ 198 w 313"/>
              <a:gd name="T87" fmla="*/ 16 h 370"/>
              <a:gd name="T88" fmla="*/ 194 w 313"/>
              <a:gd name="T89" fmla="*/ 12 h 370"/>
              <a:gd name="T90" fmla="*/ 195 w 313"/>
              <a:gd name="T91" fmla="*/ 6 h 370"/>
              <a:gd name="T92" fmla="*/ 200 w 313"/>
              <a:gd name="T93" fmla="*/ 3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13" h="370">
                <a:moveTo>
                  <a:pt x="200" y="3"/>
                </a:moveTo>
                <a:lnTo>
                  <a:pt x="200" y="3"/>
                </a:lnTo>
                <a:lnTo>
                  <a:pt x="209" y="1"/>
                </a:lnTo>
                <a:lnTo>
                  <a:pt x="222" y="0"/>
                </a:lnTo>
                <a:lnTo>
                  <a:pt x="239" y="0"/>
                </a:lnTo>
                <a:lnTo>
                  <a:pt x="260" y="0"/>
                </a:lnTo>
                <a:lnTo>
                  <a:pt x="260" y="0"/>
                </a:lnTo>
                <a:lnTo>
                  <a:pt x="279" y="1"/>
                </a:lnTo>
                <a:lnTo>
                  <a:pt x="294" y="3"/>
                </a:lnTo>
                <a:lnTo>
                  <a:pt x="294" y="3"/>
                </a:lnTo>
                <a:lnTo>
                  <a:pt x="301" y="5"/>
                </a:lnTo>
                <a:lnTo>
                  <a:pt x="306" y="8"/>
                </a:lnTo>
                <a:lnTo>
                  <a:pt x="306" y="8"/>
                </a:lnTo>
                <a:lnTo>
                  <a:pt x="310" y="10"/>
                </a:lnTo>
                <a:lnTo>
                  <a:pt x="312" y="13"/>
                </a:lnTo>
                <a:lnTo>
                  <a:pt x="313" y="17"/>
                </a:lnTo>
                <a:lnTo>
                  <a:pt x="313" y="20"/>
                </a:lnTo>
                <a:lnTo>
                  <a:pt x="313" y="20"/>
                </a:lnTo>
                <a:lnTo>
                  <a:pt x="310" y="28"/>
                </a:lnTo>
                <a:lnTo>
                  <a:pt x="303" y="39"/>
                </a:lnTo>
                <a:lnTo>
                  <a:pt x="303" y="39"/>
                </a:lnTo>
                <a:lnTo>
                  <a:pt x="287" y="60"/>
                </a:lnTo>
                <a:lnTo>
                  <a:pt x="287" y="60"/>
                </a:lnTo>
                <a:lnTo>
                  <a:pt x="259" y="98"/>
                </a:lnTo>
                <a:lnTo>
                  <a:pt x="259" y="98"/>
                </a:lnTo>
                <a:lnTo>
                  <a:pt x="257" y="101"/>
                </a:lnTo>
                <a:lnTo>
                  <a:pt x="254" y="102"/>
                </a:lnTo>
                <a:lnTo>
                  <a:pt x="254" y="102"/>
                </a:lnTo>
                <a:lnTo>
                  <a:pt x="251" y="102"/>
                </a:lnTo>
                <a:lnTo>
                  <a:pt x="249" y="101"/>
                </a:lnTo>
                <a:lnTo>
                  <a:pt x="249" y="101"/>
                </a:lnTo>
                <a:lnTo>
                  <a:pt x="247" y="99"/>
                </a:lnTo>
                <a:lnTo>
                  <a:pt x="245" y="97"/>
                </a:lnTo>
                <a:lnTo>
                  <a:pt x="245" y="97"/>
                </a:lnTo>
                <a:lnTo>
                  <a:pt x="245" y="94"/>
                </a:lnTo>
                <a:lnTo>
                  <a:pt x="246" y="92"/>
                </a:lnTo>
                <a:lnTo>
                  <a:pt x="246" y="92"/>
                </a:lnTo>
                <a:lnTo>
                  <a:pt x="255" y="78"/>
                </a:lnTo>
                <a:lnTo>
                  <a:pt x="276" y="51"/>
                </a:lnTo>
                <a:lnTo>
                  <a:pt x="276" y="51"/>
                </a:lnTo>
                <a:lnTo>
                  <a:pt x="292" y="31"/>
                </a:lnTo>
                <a:lnTo>
                  <a:pt x="292" y="31"/>
                </a:lnTo>
                <a:lnTo>
                  <a:pt x="271" y="37"/>
                </a:lnTo>
                <a:lnTo>
                  <a:pt x="250" y="43"/>
                </a:lnTo>
                <a:lnTo>
                  <a:pt x="230" y="51"/>
                </a:lnTo>
                <a:lnTo>
                  <a:pt x="211" y="60"/>
                </a:lnTo>
                <a:lnTo>
                  <a:pt x="211" y="60"/>
                </a:lnTo>
                <a:lnTo>
                  <a:pt x="192" y="69"/>
                </a:lnTo>
                <a:lnTo>
                  <a:pt x="173" y="79"/>
                </a:lnTo>
                <a:lnTo>
                  <a:pt x="155" y="90"/>
                </a:lnTo>
                <a:lnTo>
                  <a:pt x="137" y="102"/>
                </a:lnTo>
                <a:lnTo>
                  <a:pt x="137" y="102"/>
                </a:lnTo>
                <a:lnTo>
                  <a:pt x="120" y="115"/>
                </a:lnTo>
                <a:lnTo>
                  <a:pt x="104" y="129"/>
                </a:lnTo>
                <a:lnTo>
                  <a:pt x="88" y="144"/>
                </a:lnTo>
                <a:lnTo>
                  <a:pt x="74" y="161"/>
                </a:lnTo>
                <a:lnTo>
                  <a:pt x="74" y="161"/>
                </a:lnTo>
                <a:lnTo>
                  <a:pt x="60" y="178"/>
                </a:lnTo>
                <a:lnTo>
                  <a:pt x="48" y="196"/>
                </a:lnTo>
                <a:lnTo>
                  <a:pt x="38" y="214"/>
                </a:lnTo>
                <a:lnTo>
                  <a:pt x="29" y="233"/>
                </a:lnTo>
                <a:lnTo>
                  <a:pt x="29" y="233"/>
                </a:lnTo>
                <a:lnTo>
                  <a:pt x="22" y="252"/>
                </a:lnTo>
                <a:lnTo>
                  <a:pt x="17" y="270"/>
                </a:lnTo>
                <a:lnTo>
                  <a:pt x="15" y="287"/>
                </a:lnTo>
                <a:lnTo>
                  <a:pt x="14" y="304"/>
                </a:lnTo>
                <a:lnTo>
                  <a:pt x="14" y="304"/>
                </a:lnTo>
                <a:lnTo>
                  <a:pt x="15" y="313"/>
                </a:lnTo>
                <a:lnTo>
                  <a:pt x="17" y="322"/>
                </a:lnTo>
                <a:lnTo>
                  <a:pt x="20" y="329"/>
                </a:lnTo>
                <a:lnTo>
                  <a:pt x="24" y="336"/>
                </a:lnTo>
                <a:lnTo>
                  <a:pt x="29" y="342"/>
                </a:lnTo>
                <a:lnTo>
                  <a:pt x="34" y="347"/>
                </a:lnTo>
                <a:lnTo>
                  <a:pt x="41" y="352"/>
                </a:lnTo>
                <a:lnTo>
                  <a:pt x="48" y="356"/>
                </a:lnTo>
                <a:lnTo>
                  <a:pt x="48" y="356"/>
                </a:lnTo>
                <a:lnTo>
                  <a:pt x="50" y="357"/>
                </a:lnTo>
                <a:lnTo>
                  <a:pt x="52" y="360"/>
                </a:lnTo>
                <a:lnTo>
                  <a:pt x="52" y="360"/>
                </a:lnTo>
                <a:lnTo>
                  <a:pt x="52" y="362"/>
                </a:lnTo>
                <a:lnTo>
                  <a:pt x="52" y="365"/>
                </a:lnTo>
                <a:lnTo>
                  <a:pt x="52" y="365"/>
                </a:lnTo>
                <a:lnTo>
                  <a:pt x="50" y="367"/>
                </a:lnTo>
                <a:lnTo>
                  <a:pt x="48" y="369"/>
                </a:lnTo>
                <a:lnTo>
                  <a:pt x="48" y="369"/>
                </a:lnTo>
                <a:lnTo>
                  <a:pt x="45" y="370"/>
                </a:lnTo>
                <a:lnTo>
                  <a:pt x="42" y="369"/>
                </a:lnTo>
                <a:lnTo>
                  <a:pt x="42" y="369"/>
                </a:lnTo>
                <a:lnTo>
                  <a:pt x="33" y="365"/>
                </a:lnTo>
                <a:lnTo>
                  <a:pt x="25" y="359"/>
                </a:lnTo>
                <a:lnTo>
                  <a:pt x="18" y="352"/>
                </a:lnTo>
                <a:lnTo>
                  <a:pt x="12" y="345"/>
                </a:lnTo>
                <a:lnTo>
                  <a:pt x="7" y="336"/>
                </a:lnTo>
                <a:lnTo>
                  <a:pt x="3" y="327"/>
                </a:lnTo>
                <a:lnTo>
                  <a:pt x="1" y="316"/>
                </a:lnTo>
                <a:lnTo>
                  <a:pt x="0" y="305"/>
                </a:lnTo>
                <a:lnTo>
                  <a:pt x="0" y="305"/>
                </a:lnTo>
                <a:lnTo>
                  <a:pt x="0" y="296"/>
                </a:lnTo>
                <a:lnTo>
                  <a:pt x="0" y="286"/>
                </a:lnTo>
                <a:lnTo>
                  <a:pt x="3" y="267"/>
                </a:lnTo>
                <a:lnTo>
                  <a:pt x="8" y="248"/>
                </a:lnTo>
                <a:lnTo>
                  <a:pt x="15" y="227"/>
                </a:lnTo>
                <a:lnTo>
                  <a:pt x="15" y="227"/>
                </a:lnTo>
                <a:lnTo>
                  <a:pt x="25" y="207"/>
                </a:lnTo>
                <a:lnTo>
                  <a:pt x="36" y="188"/>
                </a:lnTo>
                <a:lnTo>
                  <a:pt x="48" y="170"/>
                </a:lnTo>
                <a:lnTo>
                  <a:pt x="62" y="152"/>
                </a:lnTo>
                <a:lnTo>
                  <a:pt x="62" y="152"/>
                </a:lnTo>
                <a:lnTo>
                  <a:pt x="78" y="135"/>
                </a:lnTo>
                <a:lnTo>
                  <a:pt x="93" y="119"/>
                </a:lnTo>
                <a:lnTo>
                  <a:pt x="110" y="105"/>
                </a:lnTo>
                <a:lnTo>
                  <a:pt x="128" y="91"/>
                </a:lnTo>
                <a:lnTo>
                  <a:pt x="128" y="91"/>
                </a:lnTo>
                <a:lnTo>
                  <a:pt x="146" y="79"/>
                </a:lnTo>
                <a:lnTo>
                  <a:pt x="165" y="67"/>
                </a:lnTo>
                <a:lnTo>
                  <a:pt x="184" y="57"/>
                </a:lnTo>
                <a:lnTo>
                  <a:pt x="204" y="47"/>
                </a:lnTo>
                <a:lnTo>
                  <a:pt x="204" y="47"/>
                </a:lnTo>
                <a:lnTo>
                  <a:pt x="224" y="38"/>
                </a:lnTo>
                <a:lnTo>
                  <a:pt x="244" y="30"/>
                </a:lnTo>
                <a:lnTo>
                  <a:pt x="265" y="23"/>
                </a:lnTo>
                <a:lnTo>
                  <a:pt x="286" y="17"/>
                </a:lnTo>
                <a:lnTo>
                  <a:pt x="286" y="17"/>
                </a:lnTo>
                <a:lnTo>
                  <a:pt x="274" y="16"/>
                </a:lnTo>
                <a:lnTo>
                  <a:pt x="259" y="15"/>
                </a:lnTo>
                <a:lnTo>
                  <a:pt x="259" y="15"/>
                </a:lnTo>
                <a:lnTo>
                  <a:pt x="224" y="15"/>
                </a:lnTo>
                <a:lnTo>
                  <a:pt x="212" y="15"/>
                </a:lnTo>
                <a:lnTo>
                  <a:pt x="203" y="17"/>
                </a:lnTo>
                <a:lnTo>
                  <a:pt x="203" y="17"/>
                </a:lnTo>
                <a:lnTo>
                  <a:pt x="200" y="17"/>
                </a:lnTo>
                <a:lnTo>
                  <a:pt x="198" y="16"/>
                </a:lnTo>
                <a:lnTo>
                  <a:pt x="198" y="16"/>
                </a:lnTo>
                <a:lnTo>
                  <a:pt x="196" y="14"/>
                </a:lnTo>
                <a:lnTo>
                  <a:pt x="194" y="12"/>
                </a:lnTo>
                <a:lnTo>
                  <a:pt x="194" y="12"/>
                </a:lnTo>
                <a:lnTo>
                  <a:pt x="194" y="9"/>
                </a:lnTo>
                <a:lnTo>
                  <a:pt x="195" y="6"/>
                </a:lnTo>
                <a:lnTo>
                  <a:pt x="195" y="6"/>
                </a:lnTo>
                <a:lnTo>
                  <a:pt x="197" y="4"/>
                </a:lnTo>
                <a:lnTo>
                  <a:pt x="200" y="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sz="2400" kern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1E0A4C-CC59-32F3-0221-06C172E25EC9}"/>
              </a:ext>
            </a:extLst>
          </p:cNvPr>
          <p:cNvSpPr txBox="1"/>
          <p:nvPr/>
        </p:nvSpPr>
        <p:spPr>
          <a:xfrm>
            <a:off x="293066" y="2704413"/>
            <a:ext cx="100119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右上按钮可全屏观看图像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优化视觉体验，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触屏显示数据功能保留</a:t>
            </a:r>
            <a:endParaRPr lang="en-US" altLang="zh-CN" dirty="0">
              <a:solidFill>
                <a:schemeClr val="bg1"/>
              </a:solidFill>
            </a:endParaRPr>
          </a:p>
        </p:txBody>
      </p:sp>
      <p:pic>
        <p:nvPicPr>
          <p:cNvPr id="17" name="图片 16" descr="图表, 雷达图&#10;&#10;AI 生成的内容可能不正确。">
            <a:extLst>
              <a:ext uri="{FF2B5EF4-FFF2-40B4-BE49-F238E27FC236}">
                <a16:creationId xmlns:a16="http://schemas.microsoft.com/office/drawing/2014/main" id="{63EC152D-90CC-B00F-2323-05CF52EA7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24" y="1728335"/>
            <a:ext cx="5594952" cy="3265562"/>
          </a:xfrm>
          <a:prstGeom prst="rect">
            <a:avLst/>
          </a:prstGeom>
        </p:spPr>
      </p:pic>
      <p:pic>
        <p:nvPicPr>
          <p:cNvPr id="19" name="图片 18" descr="图表, 雷达图&#10;&#10;AI 生成的内容可能不正确。">
            <a:extLst>
              <a:ext uri="{FF2B5EF4-FFF2-40B4-BE49-F238E27FC236}">
                <a16:creationId xmlns:a16="http://schemas.microsoft.com/office/drawing/2014/main" id="{5112CB22-C4B8-F74C-15F8-4E6957099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83" y="1440165"/>
            <a:ext cx="3709372" cy="437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9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10264-0331-F4D7-C74E-A330B16BF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9107EE58-FE34-FE15-A30D-82486CDE4708}"/>
              </a:ext>
            </a:extLst>
          </p:cNvPr>
          <p:cNvGrpSpPr/>
          <p:nvPr/>
        </p:nvGrpSpPr>
        <p:grpSpPr>
          <a:xfrm>
            <a:off x="-7692168" y="3430410"/>
            <a:ext cx="24285839" cy="3710961"/>
            <a:chOff x="-7692168" y="3430410"/>
            <a:chExt cx="24285839" cy="3710961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834E2C67-9300-01E4-6611-6F5BBCF3E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8720490" y="-888409"/>
              <a:ext cx="3554361" cy="1219200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C4BE5595-0F82-961A-6FC5-D3C0E23A6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-3373349" y="-731809"/>
              <a:ext cx="3554361" cy="12192000"/>
            </a:xfrm>
            <a:prstGeom prst="rect">
              <a:avLst/>
            </a:prstGeom>
          </p:spPr>
        </p:pic>
      </p:grpSp>
      <p:sp>
        <p:nvSpPr>
          <p:cNvPr id="2" name="Rectangle 17">
            <a:extLst>
              <a:ext uri="{FF2B5EF4-FFF2-40B4-BE49-F238E27FC236}">
                <a16:creationId xmlns:a16="http://schemas.microsoft.com/office/drawing/2014/main" id="{666AA2BF-2BD2-16E6-0EEA-C2C7CD7DE508}"/>
              </a:ext>
            </a:extLst>
          </p:cNvPr>
          <p:cNvSpPr/>
          <p:nvPr/>
        </p:nvSpPr>
        <p:spPr>
          <a:xfrm>
            <a:off x="128085" y="299384"/>
            <a:ext cx="11709855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技术三：交互式可视化设计</a:t>
            </a:r>
          </a:p>
        </p:txBody>
      </p:sp>
      <p:pic>
        <p:nvPicPr>
          <p:cNvPr id="6" name="图片 5" descr="图形用户界面, 应用程序, Teams&#10;&#10;AI 生成的内容可能不正确。">
            <a:extLst>
              <a:ext uri="{FF2B5EF4-FFF2-40B4-BE49-F238E27FC236}">
                <a16:creationId xmlns:a16="http://schemas.microsoft.com/office/drawing/2014/main" id="{E32CAB1D-6140-0645-EA46-FCF1D0659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65" y="1425887"/>
            <a:ext cx="3711139" cy="5079651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2A24C24F-EC62-7D6C-4829-41867F5325F3}"/>
              </a:ext>
            </a:extLst>
          </p:cNvPr>
          <p:cNvGrpSpPr/>
          <p:nvPr/>
        </p:nvGrpSpPr>
        <p:grpSpPr>
          <a:xfrm>
            <a:off x="4741569" y="817323"/>
            <a:ext cx="10872818" cy="5688215"/>
            <a:chOff x="4668682" y="870401"/>
            <a:chExt cx="10872818" cy="5688215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AC9B122-AA54-9453-9064-F932DD74799D}"/>
                </a:ext>
              </a:extLst>
            </p:cNvPr>
            <p:cNvSpPr txBox="1"/>
            <p:nvPr/>
          </p:nvSpPr>
          <p:spPr>
            <a:xfrm>
              <a:off x="5529537" y="1165898"/>
              <a:ext cx="1001196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支持手动选取目标指标，</a:t>
              </a:r>
              <a:endParaRPr lang="en-US" altLang="zh-CN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隐藏多余指标</a:t>
              </a:r>
              <a:endParaRPr lang="en-US" altLang="zh-CN" dirty="0">
                <a:solidFill>
                  <a:schemeClr val="bg1"/>
                </a:solidFill>
              </a:endParaRPr>
            </a:p>
          </p:txBody>
        </p:sp>
        <p:pic>
          <p:nvPicPr>
            <p:cNvPr id="9" name="图片 8" descr="图表, 折线图&#10;&#10;AI 生成的内容可能不正确。">
              <a:extLst>
                <a:ext uri="{FF2B5EF4-FFF2-40B4-BE49-F238E27FC236}">
                  <a16:creationId xmlns:a16="http://schemas.microsoft.com/office/drawing/2014/main" id="{15BB0DD6-3497-58F0-A62B-A92F12C16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59851" y="2734039"/>
              <a:ext cx="3320663" cy="3824577"/>
            </a:xfrm>
            <a:prstGeom prst="rect">
              <a:avLst/>
            </a:prstGeom>
          </p:spPr>
        </p:pic>
        <p:pic>
          <p:nvPicPr>
            <p:cNvPr id="11" name="图片 10" descr="图表&#10;&#10;AI 生成的内容可能不正确。">
              <a:extLst>
                <a:ext uri="{FF2B5EF4-FFF2-40B4-BE49-F238E27FC236}">
                  <a16:creationId xmlns:a16="http://schemas.microsoft.com/office/drawing/2014/main" id="{C005A99A-3194-877E-8B2F-2B10E1207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68682" y="870401"/>
              <a:ext cx="3404916" cy="3865275"/>
            </a:xfrm>
            <a:prstGeom prst="rect">
              <a:avLst/>
            </a:prstGeom>
          </p:spPr>
        </p:pic>
        <p:sp>
          <p:nvSpPr>
            <p:cNvPr id="12" name="Freeform 2591">
              <a:extLst>
                <a:ext uri="{FF2B5EF4-FFF2-40B4-BE49-F238E27FC236}">
                  <a16:creationId xmlns:a16="http://schemas.microsoft.com/office/drawing/2014/main" id="{02BBCC2E-2C20-3C4D-3304-4C6C20D8C9EE}"/>
                </a:ext>
              </a:extLst>
            </p:cNvPr>
            <p:cNvSpPr/>
            <p:nvPr/>
          </p:nvSpPr>
          <p:spPr bwMode="auto">
            <a:xfrm rot="5189303">
              <a:off x="8611813" y="1232957"/>
              <a:ext cx="1120856" cy="1838976"/>
            </a:xfrm>
            <a:custGeom>
              <a:avLst/>
              <a:gdLst>
                <a:gd name="T0" fmla="*/ 209 w 313"/>
                <a:gd name="T1" fmla="*/ 1 h 370"/>
                <a:gd name="T2" fmla="*/ 260 w 313"/>
                <a:gd name="T3" fmla="*/ 0 h 370"/>
                <a:gd name="T4" fmla="*/ 294 w 313"/>
                <a:gd name="T5" fmla="*/ 3 h 370"/>
                <a:gd name="T6" fmla="*/ 306 w 313"/>
                <a:gd name="T7" fmla="*/ 8 h 370"/>
                <a:gd name="T8" fmla="*/ 312 w 313"/>
                <a:gd name="T9" fmla="*/ 13 h 370"/>
                <a:gd name="T10" fmla="*/ 313 w 313"/>
                <a:gd name="T11" fmla="*/ 20 h 370"/>
                <a:gd name="T12" fmla="*/ 303 w 313"/>
                <a:gd name="T13" fmla="*/ 39 h 370"/>
                <a:gd name="T14" fmla="*/ 259 w 313"/>
                <a:gd name="T15" fmla="*/ 98 h 370"/>
                <a:gd name="T16" fmla="*/ 254 w 313"/>
                <a:gd name="T17" fmla="*/ 102 h 370"/>
                <a:gd name="T18" fmla="*/ 249 w 313"/>
                <a:gd name="T19" fmla="*/ 101 h 370"/>
                <a:gd name="T20" fmla="*/ 245 w 313"/>
                <a:gd name="T21" fmla="*/ 97 h 370"/>
                <a:gd name="T22" fmla="*/ 246 w 313"/>
                <a:gd name="T23" fmla="*/ 92 h 370"/>
                <a:gd name="T24" fmla="*/ 276 w 313"/>
                <a:gd name="T25" fmla="*/ 51 h 370"/>
                <a:gd name="T26" fmla="*/ 292 w 313"/>
                <a:gd name="T27" fmla="*/ 31 h 370"/>
                <a:gd name="T28" fmla="*/ 230 w 313"/>
                <a:gd name="T29" fmla="*/ 51 h 370"/>
                <a:gd name="T30" fmla="*/ 192 w 313"/>
                <a:gd name="T31" fmla="*/ 69 h 370"/>
                <a:gd name="T32" fmla="*/ 137 w 313"/>
                <a:gd name="T33" fmla="*/ 102 h 370"/>
                <a:gd name="T34" fmla="*/ 104 w 313"/>
                <a:gd name="T35" fmla="*/ 129 h 370"/>
                <a:gd name="T36" fmla="*/ 74 w 313"/>
                <a:gd name="T37" fmla="*/ 161 h 370"/>
                <a:gd name="T38" fmla="*/ 38 w 313"/>
                <a:gd name="T39" fmla="*/ 214 h 370"/>
                <a:gd name="T40" fmla="*/ 22 w 313"/>
                <a:gd name="T41" fmla="*/ 252 h 370"/>
                <a:gd name="T42" fmla="*/ 14 w 313"/>
                <a:gd name="T43" fmla="*/ 304 h 370"/>
                <a:gd name="T44" fmla="*/ 17 w 313"/>
                <a:gd name="T45" fmla="*/ 322 h 370"/>
                <a:gd name="T46" fmla="*/ 29 w 313"/>
                <a:gd name="T47" fmla="*/ 342 h 370"/>
                <a:gd name="T48" fmla="*/ 48 w 313"/>
                <a:gd name="T49" fmla="*/ 356 h 370"/>
                <a:gd name="T50" fmla="*/ 52 w 313"/>
                <a:gd name="T51" fmla="*/ 360 h 370"/>
                <a:gd name="T52" fmla="*/ 52 w 313"/>
                <a:gd name="T53" fmla="*/ 365 h 370"/>
                <a:gd name="T54" fmla="*/ 48 w 313"/>
                <a:gd name="T55" fmla="*/ 369 h 370"/>
                <a:gd name="T56" fmla="*/ 42 w 313"/>
                <a:gd name="T57" fmla="*/ 369 h 370"/>
                <a:gd name="T58" fmla="*/ 25 w 313"/>
                <a:gd name="T59" fmla="*/ 359 h 370"/>
                <a:gd name="T60" fmla="*/ 7 w 313"/>
                <a:gd name="T61" fmla="*/ 336 h 370"/>
                <a:gd name="T62" fmla="*/ 0 w 313"/>
                <a:gd name="T63" fmla="*/ 305 h 370"/>
                <a:gd name="T64" fmla="*/ 0 w 313"/>
                <a:gd name="T65" fmla="*/ 286 h 370"/>
                <a:gd name="T66" fmla="*/ 15 w 313"/>
                <a:gd name="T67" fmla="*/ 227 h 370"/>
                <a:gd name="T68" fmla="*/ 36 w 313"/>
                <a:gd name="T69" fmla="*/ 188 h 370"/>
                <a:gd name="T70" fmla="*/ 62 w 313"/>
                <a:gd name="T71" fmla="*/ 152 h 370"/>
                <a:gd name="T72" fmla="*/ 110 w 313"/>
                <a:gd name="T73" fmla="*/ 105 h 370"/>
                <a:gd name="T74" fmla="*/ 146 w 313"/>
                <a:gd name="T75" fmla="*/ 79 h 370"/>
                <a:gd name="T76" fmla="*/ 204 w 313"/>
                <a:gd name="T77" fmla="*/ 47 h 370"/>
                <a:gd name="T78" fmla="*/ 244 w 313"/>
                <a:gd name="T79" fmla="*/ 30 h 370"/>
                <a:gd name="T80" fmla="*/ 286 w 313"/>
                <a:gd name="T81" fmla="*/ 17 h 370"/>
                <a:gd name="T82" fmla="*/ 259 w 313"/>
                <a:gd name="T83" fmla="*/ 15 h 370"/>
                <a:gd name="T84" fmla="*/ 203 w 313"/>
                <a:gd name="T85" fmla="*/ 17 h 370"/>
                <a:gd name="T86" fmla="*/ 198 w 313"/>
                <a:gd name="T87" fmla="*/ 16 h 370"/>
                <a:gd name="T88" fmla="*/ 194 w 313"/>
                <a:gd name="T89" fmla="*/ 12 h 370"/>
                <a:gd name="T90" fmla="*/ 195 w 313"/>
                <a:gd name="T91" fmla="*/ 6 h 370"/>
                <a:gd name="T92" fmla="*/ 200 w 313"/>
                <a:gd name="T93" fmla="*/ 3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13" h="370">
                  <a:moveTo>
                    <a:pt x="200" y="3"/>
                  </a:moveTo>
                  <a:lnTo>
                    <a:pt x="200" y="3"/>
                  </a:lnTo>
                  <a:lnTo>
                    <a:pt x="209" y="1"/>
                  </a:lnTo>
                  <a:lnTo>
                    <a:pt x="222" y="0"/>
                  </a:lnTo>
                  <a:lnTo>
                    <a:pt x="239" y="0"/>
                  </a:lnTo>
                  <a:lnTo>
                    <a:pt x="260" y="0"/>
                  </a:lnTo>
                  <a:lnTo>
                    <a:pt x="260" y="0"/>
                  </a:lnTo>
                  <a:lnTo>
                    <a:pt x="279" y="1"/>
                  </a:lnTo>
                  <a:lnTo>
                    <a:pt x="294" y="3"/>
                  </a:lnTo>
                  <a:lnTo>
                    <a:pt x="294" y="3"/>
                  </a:lnTo>
                  <a:lnTo>
                    <a:pt x="301" y="5"/>
                  </a:lnTo>
                  <a:lnTo>
                    <a:pt x="306" y="8"/>
                  </a:lnTo>
                  <a:lnTo>
                    <a:pt x="306" y="8"/>
                  </a:lnTo>
                  <a:lnTo>
                    <a:pt x="310" y="10"/>
                  </a:lnTo>
                  <a:lnTo>
                    <a:pt x="312" y="13"/>
                  </a:lnTo>
                  <a:lnTo>
                    <a:pt x="313" y="17"/>
                  </a:lnTo>
                  <a:lnTo>
                    <a:pt x="313" y="20"/>
                  </a:lnTo>
                  <a:lnTo>
                    <a:pt x="313" y="20"/>
                  </a:lnTo>
                  <a:lnTo>
                    <a:pt x="310" y="28"/>
                  </a:lnTo>
                  <a:lnTo>
                    <a:pt x="303" y="39"/>
                  </a:lnTo>
                  <a:lnTo>
                    <a:pt x="303" y="39"/>
                  </a:lnTo>
                  <a:lnTo>
                    <a:pt x="287" y="60"/>
                  </a:lnTo>
                  <a:lnTo>
                    <a:pt x="287" y="60"/>
                  </a:lnTo>
                  <a:lnTo>
                    <a:pt x="259" y="98"/>
                  </a:lnTo>
                  <a:lnTo>
                    <a:pt x="259" y="98"/>
                  </a:lnTo>
                  <a:lnTo>
                    <a:pt x="257" y="101"/>
                  </a:lnTo>
                  <a:lnTo>
                    <a:pt x="254" y="102"/>
                  </a:lnTo>
                  <a:lnTo>
                    <a:pt x="254" y="102"/>
                  </a:lnTo>
                  <a:lnTo>
                    <a:pt x="251" y="102"/>
                  </a:lnTo>
                  <a:lnTo>
                    <a:pt x="249" y="101"/>
                  </a:lnTo>
                  <a:lnTo>
                    <a:pt x="249" y="101"/>
                  </a:lnTo>
                  <a:lnTo>
                    <a:pt x="247" y="99"/>
                  </a:lnTo>
                  <a:lnTo>
                    <a:pt x="245" y="97"/>
                  </a:lnTo>
                  <a:lnTo>
                    <a:pt x="245" y="97"/>
                  </a:lnTo>
                  <a:lnTo>
                    <a:pt x="245" y="94"/>
                  </a:lnTo>
                  <a:lnTo>
                    <a:pt x="246" y="92"/>
                  </a:lnTo>
                  <a:lnTo>
                    <a:pt x="246" y="92"/>
                  </a:lnTo>
                  <a:lnTo>
                    <a:pt x="255" y="78"/>
                  </a:lnTo>
                  <a:lnTo>
                    <a:pt x="276" y="51"/>
                  </a:lnTo>
                  <a:lnTo>
                    <a:pt x="276" y="51"/>
                  </a:lnTo>
                  <a:lnTo>
                    <a:pt x="292" y="31"/>
                  </a:lnTo>
                  <a:lnTo>
                    <a:pt x="292" y="31"/>
                  </a:lnTo>
                  <a:lnTo>
                    <a:pt x="271" y="37"/>
                  </a:lnTo>
                  <a:lnTo>
                    <a:pt x="250" y="43"/>
                  </a:lnTo>
                  <a:lnTo>
                    <a:pt x="230" y="51"/>
                  </a:lnTo>
                  <a:lnTo>
                    <a:pt x="211" y="60"/>
                  </a:lnTo>
                  <a:lnTo>
                    <a:pt x="211" y="60"/>
                  </a:lnTo>
                  <a:lnTo>
                    <a:pt x="192" y="69"/>
                  </a:lnTo>
                  <a:lnTo>
                    <a:pt x="173" y="79"/>
                  </a:lnTo>
                  <a:lnTo>
                    <a:pt x="155" y="90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20" y="115"/>
                  </a:lnTo>
                  <a:lnTo>
                    <a:pt x="104" y="129"/>
                  </a:lnTo>
                  <a:lnTo>
                    <a:pt x="88" y="144"/>
                  </a:lnTo>
                  <a:lnTo>
                    <a:pt x="74" y="161"/>
                  </a:lnTo>
                  <a:lnTo>
                    <a:pt x="74" y="161"/>
                  </a:lnTo>
                  <a:lnTo>
                    <a:pt x="60" y="178"/>
                  </a:lnTo>
                  <a:lnTo>
                    <a:pt x="48" y="196"/>
                  </a:lnTo>
                  <a:lnTo>
                    <a:pt x="38" y="214"/>
                  </a:lnTo>
                  <a:lnTo>
                    <a:pt x="29" y="233"/>
                  </a:lnTo>
                  <a:lnTo>
                    <a:pt x="29" y="233"/>
                  </a:lnTo>
                  <a:lnTo>
                    <a:pt x="22" y="252"/>
                  </a:lnTo>
                  <a:lnTo>
                    <a:pt x="17" y="270"/>
                  </a:lnTo>
                  <a:lnTo>
                    <a:pt x="15" y="287"/>
                  </a:lnTo>
                  <a:lnTo>
                    <a:pt x="14" y="304"/>
                  </a:lnTo>
                  <a:lnTo>
                    <a:pt x="14" y="304"/>
                  </a:lnTo>
                  <a:lnTo>
                    <a:pt x="15" y="313"/>
                  </a:lnTo>
                  <a:lnTo>
                    <a:pt x="17" y="322"/>
                  </a:lnTo>
                  <a:lnTo>
                    <a:pt x="20" y="329"/>
                  </a:lnTo>
                  <a:lnTo>
                    <a:pt x="24" y="336"/>
                  </a:lnTo>
                  <a:lnTo>
                    <a:pt x="29" y="342"/>
                  </a:lnTo>
                  <a:lnTo>
                    <a:pt x="34" y="347"/>
                  </a:lnTo>
                  <a:lnTo>
                    <a:pt x="41" y="352"/>
                  </a:lnTo>
                  <a:lnTo>
                    <a:pt x="48" y="356"/>
                  </a:lnTo>
                  <a:lnTo>
                    <a:pt x="48" y="356"/>
                  </a:lnTo>
                  <a:lnTo>
                    <a:pt x="50" y="357"/>
                  </a:lnTo>
                  <a:lnTo>
                    <a:pt x="52" y="360"/>
                  </a:lnTo>
                  <a:lnTo>
                    <a:pt x="52" y="360"/>
                  </a:lnTo>
                  <a:lnTo>
                    <a:pt x="52" y="362"/>
                  </a:lnTo>
                  <a:lnTo>
                    <a:pt x="52" y="365"/>
                  </a:lnTo>
                  <a:lnTo>
                    <a:pt x="52" y="365"/>
                  </a:lnTo>
                  <a:lnTo>
                    <a:pt x="50" y="367"/>
                  </a:lnTo>
                  <a:lnTo>
                    <a:pt x="48" y="369"/>
                  </a:lnTo>
                  <a:lnTo>
                    <a:pt x="48" y="369"/>
                  </a:lnTo>
                  <a:lnTo>
                    <a:pt x="45" y="370"/>
                  </a:lnTo>
                  <a:lnTo>
                    <a:pt x="42" y="369"/>
                  </a:lnTo>
                  <a:lnTo>
                    <a:pt x="42" y="369"/>
                  </a:lnTo>
                  <a:lnTo>
                    <a:pt x="33" y="365"/>
                  </a:lnTo>
                  <a:lnTo>
                    <a:pt x="25" y="359"/>
                  </a:lnTo>
                  <a:lnTo>
                    <a:pt x="18" y="352"/>
                  </a:lnTo>
                  <a:lnTo>
                    <a:pt x="12" y="345"/>
                  </a:lnTo>
                  <a:lnTo>
                    <a:pt x="7" y="336"/>
                  </a:lnTo>
                  <a:lnTo>
                    <a:pt x="3" y="327"/>
                  </a:lnTo>
                  <a:lnTo>
                    <a:pt x="1" y="316"/>
                  </a:lnTo>
                  <a:lnTo>
                    <a:pt x="0" y="305"/>
                  </a:lnTo>
                  <a:lnTo>
                    <a:pt x="0" y="305"/>
                  </a:lnTo>
                  <a:lnTo>
                    <a:pt x="0" y="296"/>
                  </a:lnTo>
                  <a:lnTo>
                    <a:pt x="0" y="286"/>
                  </a:lnTo>
                  <a:lnTo>
                    <a:pt x="3" y="267"/>
                  </a:lnTo>
                  <a:lnTo>
                    <a:pt x="8" y="248"/>
                  </a:lnTo>
                  <a:lnTo>
                    <a:pt x="15" y="227"/>
                  </a:lnTo>
                  <a:lnTo>
                    <a:pt x="15" y="227"/>
                  </a:lnTo>
                  <a:lnTo>
                    <a:pt x="25" y="207"/>
                  </a:lnTo>
                  <a:lnTo>
                    <a:pt x="36" y="188"/>
                  </a:lnTo>
                  <a:lnTo>
                    <a:pt x="48" y="170"/>
                  </a:lnTo>
                  <a:lnTo>
                    <a:pt x="62" y="152"/>
                  </a:lnTo>
                  <a:lnTo>
                    <a:pt x="62" y="152"/>
                  </a:lnTo>
                  <a:lnTo>
                    <a:pt x="78" y="135"/>
                  </a:lnTo>
                  <a:lnTo>
                    <a:pt x="93" y="119"/>
                  </a:lnTo>
                  <a:lnTo>
                    <a:pt x="110" y="105"/>
                  </a:lnTo>
                  <a:lnTo>
                    <a:pt x="128" y="91"/>
                  </a:lnTo>
                  <a:lnTo>
                    <a:pt x="128" y="91"/>
                  </a:lnTo>
                  <a:lnTo>
                    <a:pt x="146" y="79"/>
                  </a:lnTo>
                  <a:lnTo>
                    <a:pt x="165" y="67"/>
                  </a:lnTo>
                  <a:lnTo>
                    <a:pt x="184" y="57"/>
                  </a:lnTo>
                  <a:lnTo>
                    <a:pt x="204" y="47"/>
                  </a:lnTo>
                  <a:lnTo>
                    <a:pt x="204" y="47"/>
                  </a:lnTo>
                  <a:lnTo>
                    <a:pt x="224" y="38"/>
                  </a:lnTo>
                  <a:lnTo>
                    <a:pt x="244" y="30"/>
                  </a:lnTo>
                  <a:lnTo>
                    <a:pt x="265" y="23"/>
                  </a:lnTo>
                  <a:lnTo>
                    <a:pt x="286" y="17"/>
                  </a:lnTo>
                  <a:lnTo>
                    <a:pt x="286" y="17"/>
                  </a:lnTo>
                  <a:lnTo>
                    <a:pt x="274" y="16"/>
                  </a:lnTo>
                  <a:lnTo>
                    <a:pt x="259" y="15"/>
                  </a:lnTo>
                  <a:lnTo>
                    <a:pt x="259" y="15"/>
                  </a:lnTo>
                  <a:lnTo>
                    <a:pt x="224" y="15"/>
                  </a:lnTo>
                  <a:lnTo>
                    <a:pt x="212" y="15"/>
                  </a:lnTo>
                  <a:lnTo>
                    <a:pt x="203" y="17"/>
                  </a:lnTo>
                  <a:lnTo>
                    <a:pt x="203" y="17"/>
                  </a:lnTo>
                  <a:lnTo>
                    <a:pt x="200" y="17"/>
                  </a:lnTo>
                  <a:lnTo>
                    <a:pt x="198" y="16"/>
                  </a:lnTo>
                  <a:lnTo>
                    <a:pt x="198" y="16"/>
                  </a:lnTo>
                  <a:lnTo>
                    <a:pt x="196" y="14"/>
                  </a:lnTo>
                  <a:lnTo>
                    <a:pt x="194" y="12"/>
                  </a:lnTo>
                  <a:lnTo>
                    <a:pt x="194" y="12"/>
                  </a:lnTo>
                  <a:lnTo>
                    <a:pt x="194" y="9"/>
                  </a:lnTo>
                  <a:lnTo>
                    <a:pt x="195" y="6"/>
                  </a:lnTo>
                  <a:lnTo>
                    <a:pt x="195" y="6"/>
                  </a:lnTo>
                  <a:lnTo>
                    <a:pt x="197" y="4"/>
                  </a:lnTo>
                  <a:lnTo>
                    <a:pt x="200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sz="2400" kern="1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448BA6-65E4-32ED-B98A-24C272005C98}"/>
              </a:ext>
            </a:extLst>
          </p:cNvPr>
          <p:cNvSpPr txBox="1"/>
          <p:nvPr/>
        </p:nvSpPr>
        <p:spPr>
          <a:xfrm>
            <a:off x="-2637129" y="933289"/>
            <a:ext cx="10011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鼠标触碰时，呈现数据点对应的数值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856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E4C71-3697-CFD6-473D-828868F6F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7197B808-C8B7-93F8-A53F-49A5B795EC0F}"/>
              </a:ext>
            </a:extLst>
          </p:cNvPr>
          <p:cNvGrpSpPr/>
          <p:nvPr/>
        </p:nvGrpSpPr>
        <p:grpSpPr>
          <a:xfrm>
            <a:off x="-7692168" y="3430410"/>
            <a:ext cx="24285839" cy="3710961"/>
            <a:chOff x="-7692168" y="3430410"/>
            <a:chExt cx="24285839" cy="3710961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4C28366B-AC79-D5C4-FB46-C019C834F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8720490" y="-888409"/>
              <a:ext cx="3554361" cy="1219200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338B5F39-B287-4677-4AD3-6F434B6C2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-3373349" y="-731809"/>
              <a:ext cx="3554361" cy="12192000"/>
            </a:xfrm>
            <a:prstGeom prst="rect">
              <a:avLst/>
            </a:prstGeom>
          </p:spPr>
        </p:pic>
      </p:grpSp>
      <p:sp>
        <p:nvSpPr>
          <p:cNvPr id="2" name="Rectangle 17">
            <a:extLst>
              <a:ext uri="{FF2B5EF4-FFF2-40B4-BE49-F238E27FC236}">
                <a16:creationId xmlns:a16="http://schemas.microsoft.com/office/drawing/2014/main" id="{7C2EA9FD-3C9B-4F06-98E9-21E219E11B5F}"/>
              </a:ext>
            </a:extLst>
          </p:cNvPr>
          <p:cNvSpPr/>
          <p:nvPr/>
        </p:nvSpPr>
        <p:spPr>
          <a:xfrm>
            <a:off x="128085" y="299384"/>
            <a:ext cx="11709855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技术三：交互式可视化设计</a:t>
            </a:r>
          </a:p>
        </p:txBody>
      </p:sp>
      <p:pic>
        <p:nvPicPr>
          <p:cNvPr id="4" name="图片 3" descr="图片包含 图表&#10;&#10;AI 生成的内容可能不正确。">
            <a:extLst>
              <a:ext uri="{FF2B5EF4-FFF2-40B4-BE49-F238E27FC236}">
                <a16:creationId xmlns:a16="http://schemas.microsoft.com/office/drawing/2014/main" id="{BD230DDD-1559-ACE7-C0B4-6EF9B4987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98" y="2720825"/>
            <a:ext cx="3645275" cy="3956918"/>
          </a:xfrm>
          <a:prstGeom prst="rect">
            <a:avLst/>
          </a:prstGeom>
        </p:spPr>
      </p:pic>
      <p:pic>
        <p:nvPicPr>
          <p:cNvPr id="18" name="图片 17" descr="文本, 信件&#10;&#10;AI 生成的内容可能不正确。">
            <a:extLst>
              <a:ext uri="{FF2B5EF4-FFF2-40B4-BE49-F238E27FC236}">
                <a16:creationId xmlns:a16="http://schemas.microsoft.com/office/drawing/2014/main" id="{3F6E1ACA-1D25-70F7-B970-B4C35CC74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799" y="785429"/>
            <a:ext cx="3645274" cy="1452524"/>
          </a:xfrm>
          <a:prstGeom prst="rect">
            <a:avLst/>
          </a:prstGeom>
        </p:spPr>
      </p:pic>
      <p:pic>
        <p:nvPicPr>
          <p:cNvPr id="20" name="图片 19" descr="文本, 信件&#10;&#10;AI 生成的内容可能不正确。">
            <a:extLst>
              <a:ext uri="{FF2B5EF4-FFF2-40B4-BE49-F238E27FC236}">
                <a16:creationId xmlns:a16="http://schemas.microsoft.com/office/drawing/2014/main" id="{FFCA54E5-B438-482B-03D7-3786B1DC5A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1301" y="478238"/>
            <a:ext cx="3753189" cy="1581049"/>
          </a:xfrm>
          <a:prstGeom prst="rect">
            <a:avLst/>
          </a:prstGeom>
        </p:spPr>
      </p:pic>
      <p:sp>
        <p:nvSpPr>
          <p:cNvPr id="21" name="Freeform 2591">
            <a:extLst>
              <a:ext uri="{FF2B5EF4-FFF2-40B4-BE49-F238E27FC236}">
                <a16:creationId xmlns:a16="http://schemas.microsoft.com/office/drawing/2014/main" id="{8FF41000-DAEC-5B5E-B8F0-6AEB87E55E50}"/>
              </a:ext>
            </a:extLst>
          </p:cNvPr>
          <p:cNvSpPr/>
          <p:nvPr/>
        </p:nvSpPr>
        <p:spPr bwMode="auto">
          <a:xfrm rot="10214344">
            <a:off x="4251550" y="1828914"/>
            <a:ext cx="362167" cy="1739989"/>
          </a:xfrm>
          <a:custGeom>
            <a:avLst/>
            <a:gdLst>
              <a:gd name="T0" fmla="*/ 209 w 313"/>
              <a:gd name="T1" fmla="*/ 1 h 370"/>
              <a:gd name="T2" fmla="*/ 260 w 313"/>
              <a:gd name="T3" fmla="*/ 0 h 370"/>
              <a:gd name="T4" fmla="*/ 294 w 313"/>
              <a:gd name="T5" fmla="*/ 3 h 370"/>
              <a:gd name="T6" fmla="*/ 306 w 313"/>
              <a:gd name="T7" fmla="*/ 8 h 370"/>
              <a:gd name="T8" fmla="*/ 312 w 313"/>
              <a:gd name="T9" fmla="*/ 13 h 370"/>
              <a:gd name="T10" fmla="*/ 313 w 313"/>
              <a:gd name="T11" fmla="*/ 20 h 370"/>
              <a:gd name="T12" fmla="*/ 303 w 313"/>
              <a:gd name="T13" fmla="*/ 39 h 370"/>
              <a:gd name="T14" fmla="*/ 259 w 313"/>
              <a:gd name="T15" fmla="*/ 98 h 370"/>
              <a:gd name="T16" fmla="*/ 254 w 313"/>
              <a:gd name="T17" fmla="*/ 102 h 370"/>
              <a:gd name="T18" fmla="*/ 249 w 313"/>
              <a:gd name="T19" fmla="*/ 101 h 370"/>
              <a:gd name="T20" fmla="*/ 245 w 313"/>
              <a:gd name="T21" fmla="*/ 97 h 370"/>
              <a:gd name="T22" fmla="*/ 246 w 313"/>
              <a:gd name="T23" fmla="*/ 92 h 370"/>
              <a:gd name="T24" fmla="*/ 276 w 313"/>
              <a:gd name="T25" fmla="*/ 51 h 370"/>
              <a:gd name="T26" fmla="*/ 292 w 313"/>
              <a:gd name="T27" fmla="*/ 31 h 370"/>
              <a:gd name="T28" fmla="*/ 230 w 313"/>
              <a:gd name="T29" fmla="*/ 51 h 370"/>
              <a:gd name="T30" fmla="*/ 192 w 313"/>
              <a:gd name="T31" fmla="*/ 69 h 370"/>
              <a:gd name="T32" fmla="*/ 137 w 313"/>
              <a:gd name="T33" fmla="*/ 102 h 370"/>
              <a:gd name="T34" fmla="*/ 104 w 313"/>
              <a:gd name="T35" fmla="*/ 129 h 370"/>
              <a:gd name="T36" fmla="*/ 74 w 313"/>
              <a:gd name="T37" fmla="*/ 161 h 370"/>
              <a:gd name="T38" fmla="*/ 38 w 313"/>
              <a:gd name="T39" fmla="*/ 214 h 370"/>
              <a:gd name="T40" fmla="*/ 22 w 313"/>
              <a:gd name="T41" fmla="*/ 252 h 370"/>
              <a:gd name="T42" fmla="*/ 14 w 313"/>
              <a:gd name="T43" fmla="*/ 304 h 370"/>
              <a:gd name="T44" fmla="*/ 17 w 313"/>
              <a:gd name="T45" fmla="*/ 322 h 370"/>
              <a:gd name="T46" fmla="*/ 29 w 313"/>
              <a:gd name="T47" fmla="*/ 342 h 370"/>
              <a:gd name="T48" fmla="*/ 48 w 313"/>
              <a:gd name="T49" fmla="*/ 356 h 370"/>
              <a:gd name="T50" fmla="*/ 52 w 313"/>
              <a:gd name="T51" fmla="*/ 360 h 370"/>
              <a:gd name="T52" fmla="*/ 52 w 313"/>
              <a:gd name="T53" fmla="*/ 365 h 370"/>
              <a:gd name="T54" fmla="*/ 48 w 313"/>
              <a:gd name="T55" fmla="*/ 369 h 370"/>
              <a:gd name="T56" fmla="*/ 42 w 313"/>
              <a:gd name="T57" fmla="*/ 369 h 370"/>
              <a:gd name="T58" fmla="*/ 25 w 313"/>
              <a:gd name="T59" fmla="*/ 359 h 370"/>
              <a:gd name="T60" fmla="*/ 7 w 313"/>
              <a:gd name="T61" fmla="*/ 336 h 370"/>
              <a:gd name="T62" fmla="*/ 0 w 313"/>
              <a:gd name="T63" fmla="*/ 305 h 370"/>
              <a:gd name="T64" fmla="*/ 0 w 313"/>
              <a:gd name="T65" fmla="*/ 286 h 370"/>
              <a:gd name="T66" fmla="*/ 15 w 313"/>
              <a:gd name="T67" fmla="*/ 227 h 370"/>
              <a:gd name="T68" fmla="*/ 36 w 313"/>
              <a:gd name="T69" fmla="*/ 188 h 370"/>
              <a:gd name="T70" fmla="*/ 62 w 313"/>
              <a:gd name="T71" fmla="*/ 152 h 370"/>
              <a:gd name="T72" fmla="*/ 110 w 313"/>
              <a:gd name="T73" fmla="*/ 105 h 370"/>
              <a:gd name="T74" fmla="*/ 146 w 313"/>
              <a:gd name="T75" fmla="*/ 79 h 370"/>
              <a:gd name="T76" fmla="*/ 204 w 313"/>
              <a:gd name="T77" fmla="*/ 47 h 370"/>
              <a:gd name="T78" fmla="*/ 244 w 313"/>
              <a:gd name="T79" fmla="*/ 30 h 370"/>
              <a:gd name="T80" fmla="*/ 286 w 313"/>
              <a:gd name="T81" fmla="*/ 17 h 370"/>
              <a:gd name="T82" fmla="*/ 259 w 313"/>
              <a:gd name="T83" fmla="*/ 15 h 370"/>
              <a:gd name="T84" fmla="*/ 203 w 313"/>
              <a:gd name="T85" fmla="*/ 17 h 370"/>
              <a:gd name="T86" fmla="*/ 198 w 313"/>
              <a:gd name="T87" fmla="*/ 16 h 370"/>
              <a:gd name="T88" fmla="*/ 194 w 313"/>
              <a:gd name="T89" fmla="*/ 12 h 370"/>
              <a:gd name="T90" fmla="*/ 195 w 313"/>
              <a:gd name="T91" fmla="*/ 6 h 370"/>
              <a:gd name="T92" fmla="*/ 200 w 313"/>
              <a:gd name="T93" fmla="*/ 3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13" h="370">
                <a:moveTo>
                  <a:pt x="200" y="3"/>
                </a:moveTo>
                <a:lnTo>
                  <a:pt x="200" y="3"/>
                </a:lnTo>
                <a:lnTo>
                  <a:pt x="209" y="1"/>
                </a:lnTo>
                <a:lnTo>
                  <a:pt x="222" y="0"/>
                </a:lnTo>
                <a:lnTo>
                  <a:pt x="239" y="0"/>
                </a:lnTo>
                <a:lnTo>
                  <a:pt x="260" y="0"/>
                </a:lnTo>
                <a:lnTo>
                  <a:pt x="260" y="0"/>
                </a:lnTo>
                <a:lnTo>
                  <a:pt x="279" y="1"/>
                </a:lnTo>
                <a:lnTo>
                  <a:pt x="294" y="3"/>
                </a:lnTo>
                <a:lnTo>
                  <a:pt x="294" y="3"/>
                </a:lnTo>
                <a:lnTo>
                  <a:pt x="301" y="5"/>
                </a:lnTo>
                <a:lnTo>
                  <a:pt x="306" y="8"/>
                </a:lnTo>
                <a:lnTo>
                  <a:pt x="306" y="8"/>
                </a:lnTo>
                <a:lnTo>
                  <a:pt x="310" y="10"/>
                </a:lnTo>
                <a:lnTo>
                  <a:pt x="312" y="13"/>
                </a:lnTo>
                <a:lnTo>
                  <a:pt x="313" y="17"/>
                </a:lnTo>
                <a:lnTo>
                  <a:pt x="313" y="20"/>
                </a:lnTo>
                <a:lnTo>
                  <a:pt x="313" y="20"/>
                </a:lnTo>
                <a:lnTo>
                  <a:pt x="310" y="28"/>
                </a:lnTo>
                <a:lnTo>
                  <a:pt x="303" y="39"/>
                </a:lnTo>
                <a:lnTo>
                  <a:pt x="303" y="39"/>
                </a:lnTo>
                <a:lnTo>
                  <a:pt x="287" y="60"/>
                </a:lnTo>
                <a:lnTo>
                  <a:pt x="287" y="60"/>
                </a:lnTo>
                <a:lnTo>
                  <a:pt x="259" y="98"/>
                </a:lnTo>
                <a:lnTo>
                  <a:pt x="259" y="98"/>
                </a:lnTo>
                <a:lnTo>
                  <a:pt x="257" y="101"/>
                </a:lnTo>
                <a:lnTo>
                  <a:pt x="254" y="102"/>
                </a:lnTo>
                <a:lnTo>
                  <a:pt x="254" y="102"/>
                </a:lnTo>
                <a:lnTo>
                  <a:pt x="251" y="102"/>
                </a:lnTo>
                <a:lnTo>
                  <a:pt x="249" y="101"/>
                </a:lnTo>
                <a:lnTo>
                  <a:pt x="249" y="101"/>
                </a:lnTo>
                <a:lnTo>
                  <a:pt x="247" y="99"/>
                </a:lnTo>
                <a:lnTo>
                  <a:pt x="245" y="97"/>
                </a:lnTo>
                <a:lnTo>
                  <a:pt x="245" y="97"/>
                </a:lnTo>
                <a:lnTo>
                  <a:pt x="245" y="94"/>
                </a:lnTo>
                <a:lnTo>
                  <a:pt x="246" y="92"/>
                </a:lnTo>
                <a:lnTo>
                  <a:pt x="246" y="92"/>
                </a:lnTo>
                <a:lnTo>
                  <a:pt x="255" y="78"/>
                </a:lnTo>
                <a:lnTo>
                  <a:pt x="276" y="51"/>
                </a:lnTo>
                <a:lnTo>
                  <a:pt x="276" y="51"/>
                </a:lnTo>
                <a:lnTo>
                  <a:pt x="292" y="31"/>
                </a:lnTo>
                <a:lnTo>
                  <a:pt x="292" y="31"/>
                </a:lnTo>
                <a:lnTo>
                  <a:pt x="271" y="37"/>
                </a:lnTo>
                <a:lnTo>
                  <a:pt x="250" y="43"/>
                </a:lnTo>
                <a:lnTo>
                  <a:pt x="230" y="51"/>
                </a:lnTo>
                <a:lnTo>
                  <a:pt x="211" y="60"/>
                </a:lnTo>
                <a:lnTo>
                  <a:pt x="211" y="60"/>
                </a:lnTo>
                <a:lnTo>
                  <a:pt x="192" y="69"/>
                </a:lnTo>
                <a:lnTo>
                  <a:pt x="173" y="79"/>
                </a:lnTo>
                <a:lnTo>
                  <a:pt x="155" y="90"/>
                </a:lnTo>
                <a:lnTo>
                  <a:pt x="137" y="102"/>
                </a:lnTo>
                <a:lnTo>
                  <a:pt x="137" y="102"/>
                </a:lnTo>
                <a:lnTo>
                  <a:pt x="120" y="115"/>
                </a:lnTo>
                <a:lnTo>
                  <a:pt x="104" y="129"/>
                </a:lnTo>
                <a:lnTo>
                  <a:pt x="88" y="144"/>
                </a:lnTo>
                <a:lnTo>
                  <a:pt x="74" y="161"/>
                </a:lnTo>
                <a:lnTo>
                  <a:pt x="74" y="161"/>
                </a:lnTo>
                <a:lnTo>
                  <a:pt x="60" y="178"/>
                </a:lnTo>
                <a:lnTo>
                  <a:pt x="48" y="196"/>
                </a:lnTo>
                <a:lnTo>
                  <a:pt x="38" y="214"/>
                </a:lnTo>
                <a:lnTo>
                  <a:pt x="29" y="233"/>
                </a:lnTo>
                <a:lnTo>
                  <a:pt x="29" y="233"/>
                </a:lnTo>
                <a:lnTo>
                  <a:pt x="22" y="252"/>
                </a:lnTo>
                <a:lnTo>
                  <a:pt x="17" y="270"/>
                </a:lnTo>
                <a:lnTo>
                  <a:pt x="15" y="287"/>
                </a:lnTo>
                <a:lnTo>
                  <a:pt x="14" y="304"/>
                </a:lnTo>
                <a:lnTo>
                  <a:pt x="14" y="304"/>
                </a:lnTo>
                <a:lnTo>
                  <a:pt x="15" y="313"/>
                </a:lnTo>
                <a:lnTo>
                  <a:pt x="17" y="322"/>
                </a:lnTo>
                <a:lnTo>
                  <a:pt x="20" y="329"/>
                </a:lnTo>
                <a:lnTo>
                  <a:pt x="24" y="336"/>
                </a:lnTo>
                <a:lnTo>
                  <a:pt x="29" y="342"/>
                </a:lnTo>
                <a:lnTo>
                  <a:pt x="34" y="347"/>
                </a:lnTo>
                <a:lnTo>
                  <a:pt x="41" y="352"/>
                </a:lnTo>
                <a:lnTo>
                  <a:pt x="48" y="356"/>
                </a:lnTo>
                <a:lnTo>
                  <a:pt x="48" y="356"/>
                </a:lnTo>
                <a:lnTo>
                  <a:pt x="50" y="357"/>
                </a:lnTo>
                <a:lnTo>
                  <a:pt x="52" y="360"/>
                </a:lnTo>
                <a:lnTo>
                  <a:pt x="52" y="360"/>
                </a:lnTo>
                <a:lnTo>
                  <a:pt x="52" y="362"/>
                </a:lnTo>
                <a:lnTo>
                  <a:pt x="52" y="365"/>
                </a:lnTo>
                <a:lnTo>
                  <a:pt x="52" y="365"/>
                </a:lnTo>
                <a:lnTo>
                  <a:pt x="50" y="367"/>
                </a:lnTo>
                <a:lnTo>
                  <a:pt x="48" y="369"/>
                </a:lnTo>
                <a:lnTo>
                  <a:pt x="48" y="369"/>
                </a:lnTo>
                <a:lnTo>
                  <a:pt x="45" y="370"/>
                </a:lnTo>
                <a:lnTo>
                  <a:pt x="42" y="369"/>
                </a:lnTo>
                <a:lnTo>
                  <a:pt x="42" y="369"/>
                </a:lnTo>
                <a:lnTo>
                  <a:pt x="33" y="365"/>
                </a:lnTo>
                <a:lnTo>
                  <a:pt x="25" y="359"/>
                </a:lnTo>
                <a:lnTo>
                  <a:pt x="18" y="352"/>
                </a:lnTo>
                <a:lnTo>
                  <a:pt x="12" y="345"/>
                </a:lnTo>
                <a:lnTo>
                  <a:pt x="7" y="336"/>
                </a:lnTo>
                <a:lnTo>
                  <a:pt x="3" y="327"/>
                </a:lnTo>
                <a:lnTo>
                  <a:pt x="1" y="316"/>
                </a:lnTo>
                <a:lnTo>
                  <a:pt x="0" y="305"/>
                </a:lnTo>
                <a:lnTo>
                  <a:pt x="0" y="305"/>
                </a:lnTo>
                <a:lnTo>
                  <a:pt x="0" y="296"/>
                </a:lnTo>
                <a:lnTo>
                  <a:pt x="0" y="286"/>
                </a:lnTo>
                <a:lnTo>
                  <a:pt x="3" y="267"/>
                </a:lnTo>
                <a:lnTo>
                  <a:pt x="8" y="248"/>
                </a:lnTo>
                <a:lnTo>
                  <a:pt x="15" y="227"/>
                </a:lnTo>
                <a:lnTo>
                  <a:pt x="15" y="227"/>
                </a:lnTo>
                <a:lnTo>
                  <a:pt x="25" y="207"/>
                </a:lnTo>
                <a:lnTo>
                  <a:pt x="36" y="188"/>
                </a:lnTo>
                <a:lnTo>
                  <a:pt x="48" y="170"/>
                </a:lnTo>
                <a:lnTo>
                  <a:pt x="62" y="152"/>
                </a:lnTo>
                <a:lnTo>
                  <a:pt x="62" y="152"/>
                </a:lnTo>
                <a:lnTo>
                  <a:pt x="78" y="135"/>
                </a:lnTo>
                <a:lnTo>
                  <a:pt x="93" y="119"/>
                </a:lnTo>
                <a:lnTo>
                  <a:pt x="110" y="105"/>
                </a:lnTo>
                <a:lnTo>
                  <a:pt x="128" y="91"/>
                </a:lnTo>
                <a:lnTo>
                  <a:pt x="128" y="91"/>
                </a:lnTo>
                <a:lnTo>
                  <a:pt x="146" y="79"/>
                </a:lnTo>
                <a:lnTo>
                  <a:pt x="165" y="67"/>
                </a:lnTo>
                <a:lnTo>
                  <a:pt x="184" y="57"/>
                </a:lnTo>
                <a:lnTo>
                  <a:pt x="204" y="47"/>
                </a:lnTo>
                <a:lnTo>
                  <a:pt x="204" y="47"/>
                </a:lnTo>
                <a:lnTo>
                  <a:pt x="224" y="38"/>
                </a:lnTo>
                <a:lnTo>
                  <a:pt x="244" y="30"/>
                </a:lnTo>
                <a:lnTo>
                  <a:pt x="265" y="23"/>
                </a:lnTo>
                <a:lnTo>
                  <a:pt x="286" y="17"/>
                </a:lnTo>
                <a:lnTo>
                  <a:pt x="286" y="17"/>
                </a:lnTo>
                <a:lnTo>
                  <a:pt x="274" y="16"/>
                </a:lnTo>
                <a:lnTo>
                  <a:pt x="259" y="15"/>
                </a:lnTo>
                <a:lnTo>
                  <a:pt x="259" y="15"/>
                </a:lnTo>
                <a:lnTo>
                  <a:pt x="224" y="15"/>
                </a:lnTo>
                <a:lnTo>
                  <a:pt x="212" y="15"/>
                </a:lnTo>
                <a:lnTo>
                  <a:pt x="203" y="17"/>
                </a:lnTo>
                <a:lnTo>
                  <a:pt x="203" y="17"/>
                </a:lnTo>
                <a:lnTo>
                  <a:pt x="200" y="17"/>
                </a:lnTo>
                <a:lnTo>
                  <a:pt x="198" y="16"/>
                </a:lnTo>
                <a:lnTo>
                  <a:pt x="198" y="16"/>
                </a:lnTo>
                <a:lnTo>
                  <a:pt x="196" y="14"/>
                </a:lnTo>
                <a:lnTo>
                  <a:pt x="194" y="12"/>
                </a:lnTo>
                <a:lnTo>
                  <a:pt x="194" y="12"/>
                </a:lnTo>
                <a:lnTo>
                  <a:pt x="194" y="9"/>
                </a:lnTo>
                <a:lnTo>
                  <a:pt x="195" y="6"/>
                </a:lnTo>
                <a:lnTo>
                  <a:pt x="195" y="6"/>
                </a:lnTo>
                <a:lnTo>
                  <a:pt x="197" y="4"/>
                </a:lnTo>
                <a:lnTo>
                  <a:pt x="200" y="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sz="2400" kern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2" name="Freeform 2591">
            <a:extLst>
              <a:ext uri="{FF2B5EF4-FFF2-40B4-BE49-F238E27FC236}">
                <a16:creationId xmlns:a16="http://schemas.microsoft.com/office/drawing/2014/main" id="{8890F189-9A53-CB2F-BEC2-1D8937B8813F}"/>
              </a:ext>
            </a:extLst>
          </p:cNvPr>
          <p:cNvSpPr/>
          <p:nvPr/>
        </p:nvSpPr>
        <p:spPr bwMode="auto">
          <a:xfrm rot="11355786" flipH="1">
            <a:off x="7045633" y="1868275"/>
            <a:ext cx="489389" cy="1739989"/>
          </a:xfrm>
          <a:custGeom>
            <a:avLst/>
            <a:gdLst>
              <a:gd name="T0" fmla="*/ 209 w 313"/>
              <a:gd name="T1" fmla="*/ 1 h 370"/>
              <a:gd name="T2" fmla="*/ 260 w 313"/>
              <a:gd name="T3" fmla="*/ 0 h 370"/>
              <a:gd name="T4" fmla="*/ 294 w 313"/>
              <a:gd name="T5" fmla="*/ 3 h 370"/>
              <a:gd name="T6" fmla="*/ 306 w 313"/>
              <a:gd name="T7" fmla="*/ 8 h 370"/>
              <a:gd name="T8" fmla="*/ 312 w 313"/>
              <a:gd name="T9" fmla="*/ 13 h 370"/>
              <a:gd name="T10" fmla="*/ 313 w 313"/>
              <a:gd name="T11" fmla="*/ 20 h 370"/>
              <a:gd name="T12" fmla="*/ 303 w 313"/>
              <a:gd name="T13" fmla="*/ 39 h 370"/>
              <a:gd name="T14" fmla="*/ 259 w 313"/>
              <a:gd name="T15" fmla="*/ 98 h 370"/>
              <a:gd name="T16" fmla="*/ 254 w 313"/>
              <a:gd name="T17" fmla="*/ 102 h 370"/>
              <a:gd name="T18" fmla="*/ 249 w 313"/>
              <a:gd name="T19" fmla="*/ 101 h 370"/>
              <a:gd name="T20" fmla="*/ 245 w 313"/>
              <a:gd name="T21" fmla="*/ 97 h 370"/>
              <a:gd name="T22" fmla="*/ 246 w 313"/>
              <a:gd name="T23" fmla="*/ 92 h 370"/>
              <a:gd name="T24" fmla="*/ 276 w 313"/>
              <a:gd name="T25" fmla="*/ 51 h 370"/>
              <a:gd name="T26" fmla="*/ 292 w 313"/>
              <a:gd name="T27" fmla="*/ 31 h 370"/>
              <a:gd name="T28" fmla="*/ 230 w 313"/>
              <a:gd name="T29" fmla="*/ 51 h 370"/>
              <a:gd name="T30" fmla="*/ 192 w 313"/>
              <a:gd name="T31" fmla="*/ 69 h 370"/>
              <a:gd name="T32" fmla="*/ 137 w 313"/>
              <a:gd name="T33" fmla="*/ 102 h 370"/>
              <a:gd name="T34" fmla="*/ 104 w 313"/>
              <a:gd name="T35" fmla="*/ 129 h 370"/>
              <a:gd name="T36" fmla="*/ 74 w 313"/>
              <a:gd name="T37" fmla="*/ 161 h 370"/>
              <a:gd name="T38" fmla="*/ 38 w 313"/>
              <a:gd name="T39" fmla="*/ 214 h 370"/>
              <a:gd name="T40" fmla="*/ 22 w 313"/>
              <a:gd name="T41" fmla="*/ 252 h 370"/>
              <a:gd name="T42" fmla="*/ 14 w 313"/>
              <a:gd name="T43" fmla="*/ 304 h 370"/>
              <a:gd name="T44" fmla="*/ 17 w 313"/>
              <a:gd name="T45" fmla="*/ 322 h 370"/>
              <a:gd name="T46" fmla="*/ 29 w 313"/>
              <a:gd name="T47" fmla="*/ 342 h 370"/>
              <a:gd name="T48" fmla="*/ 48 w 313"/>
              <a:gd name="T49" fmla="*/ 356 h 370"/>
              <a:gd name="T50" fmla="*/ 52 w 313"/>
              <a:gd name="T51" fmla="*/ 360 h 370"/>
              <a:gd name="T52" fmla="*/ 52 w 313"/>
              <a:gd name="T53" fmla="*/ 365 h 370"/>
              <a:gd name="T54" fmla="*/ 48 w 313"/>
              <a:gd name="T55" fmla="*/ 369 h 370"/>
              <a:gd name="T56" fmla="*/ 42 w 313"/>
              <a:gd name="T57" fmla="*/ 369 h 370"/>
              <a:gd name="T58" fmla="*/ 25 w 313"/>
              <a:gd name="T59" fmla="*/ 359 h 370"/>
              <a:gd name="T60" fmla="*/ 7 w 313"/>
              <a:gd name="T61" fmla="*/ 336 h 370"/>
              <a:gd name="T62" fmla="*/ 0 w 313"/>
              <a:gd name="T63" fmla="*/ 305 h 370"/>
              <a:gd name="T64" fmla="*/ 0 w 313"/>
              <a:gd name="T65" fmla="*/ 286 h 370"/>
              <a:gd name="T66" fmla="*/ 15 w 313"/>
              <a:gd name="T67" fmla="*/ 227 h 370"/>
              <a:gd name="T68" fmla="*/ 36 w 313"/>
              <a:gd name="T69" fmla="*/ 188 h 370"/>
              <a:gd name="T70" fmla="*/ 62 w 313"/>
              <a:gd name="T71" fmla="*/ 152 h 370"/>
              <a:gd name="T72" fmla="*/ 110 w 313"/>
              <a:gd name="T73" fmla="*/ 105 h 370"/>
              <a:gd name="T74" fmla="*/ 146 w 313"/>
              <a:gd name="T75" fmla="*/ 79 h 370"/>
              <a:gd name="T76" fmla="*/ 204 w 313"/>
              <a:gd name="T77" fmla="*/ 47 h 370"/>
              <a:gd name="T78" fmla="*/ 244 w 313"/>
              <a:gd name="T79" fmla="*/ 30 h 370"/>
              <a:gd name="T80" fmla="*/ 286 w 313"/>
              <a:gd name="T81" fmla="*/ 17 h 370"/>
              <a:gd name="T82" fmla="*/ 259 w 313"/>
              <a:gd name="T83" fmla="*/ 15 h 370"/>
              <a:gd name="T84" fmla="*/ 203 w 313"/>
              <a:gd name="T85" fmla="*/ 17 h 370"/>
              <a:gd name="T86" fmla="*/ 198 w 313"/>
              <a:gd name="T87" fmla="*/ 16 h 370"/>
              <a:gd name="T88" fmla="*/ 194 w 313"/>
              <a:gd name="T89" fmla="*/ 12 h 370"/>
              <a:gd name="T90" fmla="*/ 195 w 313"/>
              <a:gd name="T91" fmla="*/ 6 h 370"/>
              <a:gd name="T92" fmla="*/ 200 w 313"/>
              <a:gd name="T93" fmla="*/ 3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13" h="370">
                <a:moveTo>
                  <a:pt x="200" y="3"/>
                </a:moveTo>
                <a:lnTo>
                  <a:pt x="200" y="3"/>
                </a:lnTo>
                <a:lnTo>
                  <a:pt x="209" y="1"/>
                </a:lnTo>
                <a:lnTo>
                  <a:pt x="222" y="0"/>
                </a:lnTo>
                <a:lnTo>
                  <a:pt x="239" y="0"/>
                </a:lnTo>
                <a:lnTo>
                  <a:pt x="260" y="0"/>
                </a:lnTo>
                <a:lnTo>
                  <a:pt x="260" y="0"/>
                </a:lnTo>
                <a:lnTo>
                  <a:pt x="279" y="1"/>
                </a:lnTo>
                <a:lnTo>
                  <a:pt x="294" y="3"/>
                </a:lnTo>
                <a:lnTo>
                  <a:pt x="294" y="3"/>
                </a:lnTo>
                <a:lnTo>
                  <a:pt x="301" y="5"/>
                </a:lnTo>
                <a:lnTo>
                  <a:pt x="306" y="8"/>
                </a:lnTo>
                <a:lnTo>
                  <a:pt x="306" y="8"/>
                </a:lnTo>
                <a:lnTo>
                  <a:pt x="310" y="10"/>
                </a:lnTo>
                <a:lnTo>
                  <a:pt x="312" y="13"/>
                </a:lnTo>
                <a:lnTo>
                  <a:pt x="313" y="17"/>
                </a:lnTo>
                <a:lnTo>
                  <a:pt x="313" y="20"/>
                </a:lnTo>
                <a:lnTo>
                  <a:pt x="313" y="20"/>
                </a:lnTo>
                <a:lnTo>
                  <a:pt x="310" y="28"/>
                </a:lnTo>
                <a:lnTo>
                  <a:pt x="303" y="39"/>
                </a:lnTo>
                <a:lnTo>
                  <a:pt x="303" y="39"/>
                </a:lnTo>
                <a:lnTo>
                  <a:pt x="287" y="60"/>
                </a:lnTo>
                <a:lnTo>
                  <a:pt x="287" y="60"/>
                </a:lnTo>
                <a:lnTo>
                  <a:pt x="259" y="98"/>
                </a:lnTo>
                <a:lnTo>
                  <a:pt x="259" y="98"/>
                </a:lnTo>
                <a:lnTo>
                  <a:pt x="257" y="101"/>
                </a:lnTo>
                <a:lnTo>
                  <a:pt x="254" y="102"/>
                </a:lnTo>
                <a:lnTo>
                  <a:pt x="254" y="102"/>
                </a:lnTo>
                <a:lnTo>
                  <a:pt x="251" y="102"/>
                </a:lnTo>
                <a:lnTo>
                  <a:pt x="249" y="101"/>
                </a:lnTo>
                <a:lnTo>
                  <a:pt x="249" y="101"/>
                </a:lnTo>
                <a:lnTo>
                  <a:pt x="247" y="99"/>
                </a:lnTo>
                <a:lnTo>
                  <a:pt x="245" y="97"/>
                </a:lnTo>
                <a:lnTo>
                  <a:pt x="245" y="97"/>
                </a:lnTo>
                <a:lnTo>
                  <a:pt x="245" y="94"/>
                </a:lnTo>
                <a:lnTo>
                  <a:pt x="246" y="92"/>
                </a:lnTo>
                <a:lnTo>
                  <a:pt x="246" y="92"/>
                </a:lnTo>
                <a:lnTo>
                  <a:pt x="255" y="78"/>
                </a:lnTo>
                <a:lnTo>
                  <a:pt x="276" y="51"/>
                </a:lnTo>
                <a:lnTo>
                  <a:pt x="276" y="51"/>
                </a:lnTo>
                <a:lnTo>
                  <a:pt x="292" y="31"/>
                </a:lnTo>
                <a:lnTo>
                  <a:pt x="292" y="31"/>
                </a:lnTo>
                <a:lnTo>
                  <a:pt x="271" y="37"/>
                </a:lnTo>
                <a:lnTo>
                  <a:pt x="250" y="43"/>
                </a:lnTo>
                <a:lnTo>
                  <a:pt x="230" y="51"/>
                </a:lnTo>
                <a:lnTo>
                  <a:pt x="211" y="60"/>
                </a:lnTo>
                <a:lnTo>
                  <a:pt x="211" y="60"/>
                </a:lnTo>
                <a:lnTo>
                  <a:pt x="192" y="69"/>
                </a:lnTo>
                <a:lnTo>
                  <a:pt x="173" y="79"/>
                </a:lnTo>
                <a:lnTo>
                  <a:pt x="155" y="90"/>
                </a:lnTo>
                <a:lnTo>
                  <a:pt x="137" y="102"/>
                </a:lnTo>
                <a:lnTo>
                  <a:pt x="137" y="102"/>
                </a:lnTo>
                <a:lnTo>
                  <a:pt x="120" y="115"/>
                </a:lnTo>
                <a:lnTo>
                  <a:pt x="104" y="129"/>
                </a:lnTo>
                <a:lnTo>
                  <a:pt x="88" y="144"/>
                </a:lnTo>
                <a:lnTo>
                  <a:pt x="74" y="161"/>
                </a:lnTo>
                <a:lnTo>
                  <a:pt x="74" y="161"/>
                </a:lnTo>
                <a:lnTo>
                  <a:pt x="60" y="178"/>
                </a:lnTo>
                <a:lnTo>
                  <a:pt x="48" y="196"/>
                </a:lnTo>
                <a:lnTo>
                  <a:pt x="38" y="214"/>
                </a:lnTo>
                <a:lnTo>
                  <a:pt x="29" y="233"/>
                </a:lnTo>
                <a:lnTo>
                  <a:pt x="29" y="233"/>
                </a:lnTo>
                <a:lnTo>
                  <a:pt x="22" y="252"/>
                </a:lnTo>
                <a:lnTo>
                  <a:pt x="17" y="270"/>
                </a:lnTo>
                <a:lnTo>
                  <a:pt x="15" y="287"/>
                </a:lnTo>
                <a:lnTo>
                  <a:pt x="14" y="304"/>
                </a:lnTo>
                <a:lnTo>
                  <a:pt x="14" y="304"/>
                </a:lnTo>
                <a:lnTo>
                  <a:pt x="15" y="313"/>
                </a:lnTo>
                <a:lnTo>
                  <a:pt x="17" y="322"/>
                </a:lnTo>
                <a:lnTo>
                  <a:pt x="20" y="329"/>
                </a:lnTo>
                <a:lnTo>
                  <a:pt x="24" y="336"/>
                </a:lnTo>
                <a:lnTo>
                  <a:pt x="29" y="342"/>
                </a:lnTo>
                <a:lnTo>
                  <a:pt x="34" y="347"/>
                </a:lnTo>
                <a:lnTo>
                  <a:pt x="41" y="352"/>
                </a:lnTo>
                <a:lnTo>
                  <a:pt x="48" y="356"/>
                </a:lnTo>
                <a:lnTo>
                  <a:pt x="48" y="356"/>
                </a:lnTo>
                <a:lnTo>
                  <a:pt x="50" y="357"/>
                </a:lnTo>
                <a:lnTo>
                  <a:pt x="52" y="360"/>
                </a:lnTo>
                <a:lnTo>
                  <a:pt x="52" y="360"/>
                </a:lnTo>
                <a:lnTo>
                  <a:pt x="52" y="362"/>
                </a:lnTo>
                <a:lnTo>
                  <a:pt x="52" y="365"/>
                </a:lnTo>
                <a:lnTo>
                  <a:pt x="52" y="365"/>
                </a:lnTo>
                <a:lnTo>
                  <a:pt x="50" y="367"/>
                </a:lnTo>
                <a:lnTo>
                  <a:pt x="48" y="369"/>
                </a:lnTo>
                <a:lnTo>
                  <a:pt x="48" y="369"/>
                </a:lnTo>
                <a:lnTo>
                  <a:pt x="45" y="370"/>
                </a:lnTo>
                <a:lnTo>
                  <a:pt x="42" y="369"/>
                </a:lnTo>
                <a:lnTo>
                  <a:pt x="42" y="369"/>
                </a:lnTo>
                <a:lnTo>
                  <a:pt x="33" y="365"/>
                </a:lnTo>
                <a:lnTo>
                  <a:pt x="25" y="359"/>
                </a:lnTo>
                <a:lnTo>
                  <a:pt x="18" y="352"/>
                </a:lnTo>
                <a:lnTo>
                  <a:pt x="12" y="345"/>
                </a:lnTo>
                <a:lnTo>
                  <a:pt x="7" y="336"/>
                </a:lnTo>
                <a:lnTo>
                  <a:pt x="3" y="327"/>
                </a:lnTo>
                <a:lnTo>
                  <a:pt x="1" y="316"/>
                </a:lnTo>
                <a:lnTo>
                  <a:pt x="0" y="305"/>
                </a:lnTo>
                <a:lnTo>
                  <a:pt x="0" y="305"/>
                </a:lnTo>
                <a:lnTo>
                  <a:pt x="0" y="296"/>
                </a:lnTo>
                <a:lnTo>
                  <a:pt x="0" y="286"/>
                </a:lnTo>
                <a:lnTo>
                  <a:pt x="3" y="267"/>
                </a:lnTo>
                <a:lnTo>
                  <a:pt x="8" y="248"/>
                </a:lnTo>
                <a:lnTo>
                  <a:pt x="15" y="227"/>
                </a:lnTo>
                <a:lnTo>
                  <a:pt x="15" y="227"/>
                </a:lnTo>
                <a:lnTo>
                  <a:pt x="25" y="207"/>
                </a:lnTo>
                <a:lnTo>
                  <a:pt x="36" y="188"/>
                </a:lnTo>
                <a:lnTo>
                  <a:pt x="48" y="170"/>
                </a:lnTo>
                <a:lnTo>
                  <a:pt x="62" y="152"/>
                </a:lnTo>
                <a:lnTo>
                  <a:pt x="62" y="152"/>
                </a:lnTo>
                <a:lnTo>
                  <a:pt x="78" y="135"/>
                </a:lnTo>
                <a:lnTo>
                  <a:pt x="93" y="119"/>
                </a:lnTo>
                <a:lnTo>
                  <a:pt x="110" y="105"/>
                </a:lnTo>
                <a:lnTo>
                  <a:pt x="128" y="91"/>
                </a:lnTo>
                <a:lnTo>
                  <a:pt x="128" y="91"/>
                </a:lnTo>
                <a:lnTo>
                  <a:pt x="146" y="79"/>
                </a:lnTo>
                <a:lnTo>
                  <a:pt x="165" y="67"/>
                </a:lnTo>
                <a:lnTo>
                  <a:pt x="184" y="57"/>
                </a:lnTo>
                <a:lnTo>
                  <a:pt x="204" y="47"/>
                </a:lnTo>
                <a:lnTo>
                  <a:pt x="204" y="47"/>
                </a:lnTo>
                <a:lnTo>
                  <a:pt x="224" y="38"/>
                </a:lnTo>
                <a:lnTo>
                  <a:pt x="244" y="30"/>
                </a:lnTo>
                <a:lnTo>
                  <a:pt x="265" y="23"/>
                </a:lnTo>
                <a:lnTo>
                  <a:pt x="286" y="17"/>
                </a:lnTo>
                <a:lnTo>
                  <a:pt x="286" y="17"/>
                </a:lnTo>
                <a:lnTo>
                  <a:pt x="274" y="16"/>
                </a:lnTo>
                <a:lnTo>
                  <a:pt x="259" y="15"/>
                </a:lnTo>
                <a:lnTo>
                  <a:pt x="259" y="15"/>
                </a:lnTo>
                <a:lnTo>
                  <a:pt x="224" y="15"/>
                </a:lnTo>
                <a:lnTo>
                  <a:pt x="212" y="15"/>
                </a:lnTo>
                <a:lnTo>
                  <a:pt x="203" y="17"/>
                </a:lnTo>
                <a:lnTo>
                  <a:pt x="203" y="17"/>
                </a:lnTo>
                <a:lnTo>
                  <a:pt x="200" y="17"/>
                </a:lnTo>
                <a:lnTo>
                  <a:pt x="198" y="16"/>
                </a:lnTo>
                <a:lnTo>
                  <a:pt x="198" y="16"/>
                </a:lnTo>
                <a:lnTo>
                  <a:pt x="196" y="14"/>
                </a:lnTo>
                <a:lnTo>
                  <a:pt x="194" y="12"/>
                </a:lnTo>
                <a:lnTo>
                  <a:pt x="194" y="12"/>
                </a:lnTo>
                <a:lnTo>
                  <a:pt x="194" y="9"/>
                </a:lnTo>
                <a:lnTo>
                  <a:pt x="195" y="6"/>
                </a:lnTo>
                <a:lnTo>
                  <a:pt x="195" y="6"/>
                </a:lnTo>
                <a:lnTo>
                  <a:pt x="197" y="4"/>
                </a:lnTo>
                <a:lnTo>
                  <a:pt x="200" y="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sz="2400" kern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1B5B2EF-EBC2-9AFE-A15D-8AB927281AC6}"/>
              </a:ext>
            </a:extLst>
          </p:cNvPr>
          <p:cNvSpPr txBox="1"/>
          <p:nvPr/>
        </p:nvSpPr>
        <p:spPr>
          <a:xfrm>
            <a:off x="3429392" y="2457807"/>
            <a:ext cx="49888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网络图的呈现优化：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聚焦不同技术栈和社区</a:t>
            </a:r>
            <a:endParaRPr lang="en-US" altLang="zh-CN" dirty="0">
              <a:solidFill>
                <a:schemeClr val="bg1"/>
              </a:solidFill>
            </a:endParaRPr>
          </a:p>
        </p:txBody>
      </p:sp>
      <p:pic>
        <p:nvPicPr>
          <p:cNvPr id="25" name="图片 24" descr="图表, 雷达图&#10;&#10;AI 生成的内容可能不正确。">
            <a:extLst>
              <a:ext uri="{FF2B5EF4-FFF2-40B4-BE49-F238E27FC236}">
                <a16:creationId xmlns:a16="http://schemas.microsoft.com/office/drawing/2014/main" id="{862BB3C6-8594-A471-50DB-427E7378F7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624" y="2720825"/>
            <a:ext cx="3753189" cy="403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07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DC22E-7F51-8048-2425-1B8A9712E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3C01B005-134D-96FA-B883-FD2E1A8373DF}"/>
              </a:ext>
            </a:extLst>
          </p:cNvPr>
          <p:cNvGrpSpPr/>
          <p:nvPr/>
        </p:nvGrpSpPr>
        <p:grpSpPr>
          <a:xfrm>
            <a:off x="-7665664" y="3264758"/>
            <a:ext cx="24285839" cy="3710961"/>
            <a:chOff x="-7692168" y="3430410"/>
            <a:chExt cx="24285839" cy="3710961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708FA3F-7616-D278-88FF-EB867A0E4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8720490" y="-888409"/>
              <a:ext cx="3554361" cy="12192000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8BFDBAF7-A25D-0A38-59BA-84740E4A4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-3373349" y="-731809"/>
              <a:ext cx="3554361" cy="12192000"/>
            </a:xfrm>
            <a:prstGeom prst="rect">
              <a:avLst/>
            </a:prstGeom>
          </p:spPr>
        </p:pic>
      </p:grpSp>
      <p:sp>
        <p:nvSpPr>
          <p:cNvPr id="2" name="Rectangle 17">
            <a:extLst>
              <a:ext uri="{FF2B5EF4-FFF2-40B4-BE49-F238E27FC236}">
                <a16:creationId xmlns:a16="http://schemas.microsoft.com/office/drawing/2014/main" id="{BCD18819-2FA5-461A-5256-C1EF8E7D2B7C}"/>
              </a:ext>
            </a:extLst>
          </p:cNvPr>
          <p:cNvSpPr/>
          <p:nvPr/>
        </p:nvSpPr>
        <p:spPr>
          <a:xfrm>
            <a:off x="128085" y="299384"/>
            <a:ext cx="11709855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技术三：交互式可视化设计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DD48E8-89D7-077E-2649-A335EA4968C5}"/>
              </a:ext>
            </a:extLst>
          </p:cNvPr>
          <p:cNvSpPr txBox="1"/>
          <p:nvPr/>
        </p:nvSpPr>
        <p:spPr>
          <a:xfrm>
            <a:off x="977029" y="1062610"/>
            <a:ext cx="10011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时间轴互动，直观呈现数据的时序演化</a:t>
            </a:r>
            <a:endParaRPr lang="en-US" altLang="zh-CN" dirty="0">
              <a:solidFill>
                <a:schemeClr val="bg1"/>
              </a:solidFill>
            </a:endParaRPr>
          </a:p>
        </p:txBody>
      </p:sp>
      <p:pic>
        <p:nvPicPr>
          <p:cNvPr id="9" name="图片 8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580B354B-BCFB-EF17-ED4F-D19705D24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85" y="1926114"/>
            <a:ext cx="5706971" cy="4096651"/>
          </a:xfrm>
          <a:prstGeom prst="rect">
            <a:avLst/>
          </a:prstGeom>
        </p:spPr>
      </p:pic>
      <p:pic>
        <p:nvPicPr>
          <p:cNvPr id="13" name="图片 1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28834D61-6907-C1A3-A73A-4371DE3CA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919770"/>
            <a:ext cx="5967915" cy="4133162"/>
          </a:xfrm>
          <a:prstGeom prst="rect">
            <a:avLst/>
          </a:prstGeom>
        </p:spPr>
      </p:pic>
      <p:sp>
        <p:nvSpPr>
          <p:cNvPr id="15" name="Freeform 2591">
            <a:extLst>
              <a:ext uri="{FF2B5EF4-FFF2-40B4-BE49-F238E27FC236}">
                <a16:creationId xmlns:a16="http://schemas.microsoft.com/office/drawing/2014/main" id="{09AC365E-2037-FB64-8DE2-4435ECC1237D}"/>
              </a:ext>
            </a:extLst>
          </p:cNvPr>
          <p:cNvSpPr/>
          <p:nvPr/>
        </p:nvSpPr>
        <p:spPr bwMode="auto">
          <a:xfrm rot="3956325">
            <a:off x="5817696" y="1515059"/>
            <a:ext cx="330630" cy="630462"/>
          </a:xfrm>
          <a:custGeom>
            <a:avLst/>
            <a:gdLst>
              <a:gd name="T0" fmla="*/ 209 w 313"/>
              <a:gd name="T1" fmla="*/ 1 h 370"/>
              <a:gd name="T2" fmla="*/ 260 w 313"/>
              <a:gd name="T3" fmla="*/ 0 h 370"/>
              <a:gd name="T4" fmla="*/ 294 w 313"/>
              <a:gd name="T5" fmla="*/ 3 h 370"/>
              <a:gd name="T6" fmla="*/ 306 w 313"/>
              <a:gd name="T7" fmla="*/ 8 h 370"/>
              <a:gd name="T8" fmla="*/ 312 w 313"/>
              <a:gd name="T9" fmla="*/ 13 h 370"/>
              <a:gd name="T10" fmla="*/ 313 w 313"/>
              <a:gd name="T11" fmla="*/ 20 h 370"/>
              <a:gd name="T12" fmla="*/ 303 w 313"/>
              <a:gd name="T13" fmla="*/ 39 h 370"/>
              <a:gd name="T14" fmla="*/ 259 w 313"/>
              <a:gd name="T15" fmla="*/ 98 h 370"/>
              <a:gd name="T16" fmla="*/ 254 w 313"/>
              <a:gd name="T17" fmla="*/ 102 h 370"/>
              <a:gd name="T18" fmla="*/ 249 w 313"/>
              <a:gd name="T19" fmla="*/ 101 h 370"/>
              <a:gd name="T20" fmla="*/ 245 w 313"/>
              <a:gd name="T21" fmla="*/ 97 h 370"/>
              <a:gd name="T22" fmla="*/ 246 w 313"/>
              <a:gd name="T23" fmla="*/ 92 h 370"/>
              <a:gd name="T24" fmla="*/ 276 w 313"/>
              <a:gd name="T25" fmla="*/ 51 h 370"/>
              <a:gd name="T26" fmla="*/ 292 w 313"/>
              <a:gd name="T27" fmla="*/ 31 h 370"/>
              <a:gd name="T28" fmla="*/ 230 w 313"/>
              <a:gd name="T29" fmla="*/ 51 h 370"/>
              <a:gd name="T30" fmla="*/ 192 w 313"/>
              <a:gd name="T31" fmla="*/ 69 h 370"/>
              <a:gd name="T32" fmla="*/ 137 w 313"/>
              <a:gd name="T33" fmla="*/ 102 h 370"/>
              <a:gd name="T34" fmla="*/ 104 w 313"/>
              <a:gd name="T35" fmla="*/ 129 h 370"/>
              <a:gd name="T36" fmla="*/ 74 w 313"/>
              <a:gd name="T37" fmla="*/ 161 h 370"/>
              <a:gd name="T38" fmla="*/ 38 w 313"/>
              <a:gd name="T39" fmla="*/ 214 h 370"/>
              <a:gd name="T40" fmla="*/ 22 w 313"/>
              <a:gd name="T41" fmla="*/ 252 h 370"/>
              <a:gd name="T42" fmla="*/ 14 w 313"/>
              <a:gd name="T43" fmla="*/ 304 h 370"/>
              <a:gd name="T44" fmla="*/ 17 w 313"/>
              <a:gd name="T45" fmla="*/ 322 h 370"/>
              <a:gd name="T46" fmla="*/ 29 w 313"/>
              <a:gd name="T47" fmla="*/ 342 h 370"/>
              <a:gd name="T48" fmla="*/ 48 w 313"/>
              <a:gd name="T49" fmla="*/ 356 h 370"/>
              <a:gd name="T50" fmla="*/ 52 w 313"/>
              <a:gd name="T51" fmla="*/ 360 h 370"/>
              <a:gd name="T52" fmla="*/ 52 w 313"/>
              <a:gd name="T53" fmla="*/ 365 h 370"/>
              <a:gd name="T54" fmla="*/ 48 w 313"/>
              <a:gd name="T55" fmla="*/ 369 h 370"/>
              <a:gd name="T56" fmla="*/ 42 w 313"/>
              <a:gd name="T57" fmla="*/ 369 h 370"/>
              <a:gd name="T58" fmla="*/ 25 w 313"/>
              <a:gd name="T59" fmla="*/ 359 h 370"/>
              <a:gd name="T60" fmla="*/ 7 w 313"/>
              <a:gd name="T61" fmla="*/ 336 h 370"/>
              <a:gd name="T62" fmla="*/ 0 w 313"/>
              <a:gd name="T63" fmla="*/ 305 h 370"/>
              <a:gd name="T64" fmla="*/ 0 w 313"/>
              <a:gd name="T65" fmla="*/ 286 h 370"/>
              <a:gd name="T66" fmla="*/ 15 w 313"/>
              <a:gd name="T67" fmla="*/ 227 h 370"/>
              <a:gd name="T68" fmla="*/ 36 w 313"/>
              <a:gd name="T69" fmla="*/ 188 h 370"/>
              <a:gd name="T70" fmla="*/ 62 w 313"/>
              <a:gd name="T71" fmla="*/ 152 h 370"/>
              <a:gd name="T72" fmla="*/ 110 w 313"/>
              <a:gd name="T73" fmla="*/ 105 h 370"/>
              <a:gd name="T74" fmla="*/ 146 w 313"/>
              <a:gd name="T75" fmla="*/ 79 h 370"/>
              <a:gd name="T76" fmla="*/ 204 w 313"/>
              <a:gd name="T77" fmla="*/ 47 h 370"/>
              <a:gd name="T78" fmla="*/ 244 w 313"/>
              <a:gd name="T79" fmla="*/ 30 h 370"/>
              <a:gd name="T80" fmla="*/ 286 w 313"/>
              <a:gd name="T81" fmla="*/ 17 h 370"/>
              <a:gd name="T82" fmla="*/ 259 w 313"/>
              <a:gd name="T83" fmla="*/ 15 h 370"/>
              <a:gd name="T84" fmla="*/ 203 w 313"/>
              <a:gd name="T85" fmla="*/ 17 h 370"/>
              <a:gd name="T86" fmla="*/ 198 w 313"/>
              <a:gd name="T87" fmla="*/ 16 h 370"/>
              <a:gd name="T88" fmla="*/ 194 w 313"/>
              <a:gd name="T89" fmla="*/ 12 h 370"/>
              <a:gd name="T90" fmla="*/ 195 w 313"/>
              <a:gd name="T91" fmla="*/ 6 h 370"/>
              <a:gd name="T92" fmla="*/ 200 w 313"/>
              <a:gd name="T93" fmla="*/ 3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13" h="370">
                <a:moveTo>
                  <a:pt x="200" y="3"/>
                </a:moveTo>
                <a:lnTo>
                  <a:pt x="200" y="3"/>
                </a:lnTo>
                <a:lnTo>
                  <a:pt x="209" y="1"/>
                </a:lnTo>
                <a:lnTo>
                  <a:pt x="222" y="0"/>
                </a:lnTo>
                <a:lnTo>
                  <a:pt x="239" y="0"/>
                </a:lnTo>
                <a:lnTo>
                  <a:pt x="260" y="0"/>
                </a:lnTo>
                <a:lnTo>
                  <a:pt x="260" y="0"/>
                </a:lnTo>
                <a:lnTo>
                  <a:pt x="279" y="1"/>
                </a:lnTo>
                <a:lnTo>
                  <a:pt x="294" y="3"/>
                </a:lnTo>
                <a:lnTo>
                  <a:pt x="294" y="3"/>
                </a:lnTo>
                <a:lnTo>
                  <a:pt x="301" y="5"/>
                </a:lnTo>
                <a:lnTo>
                  <a:pt x="306" y="8"/>
                </a:lnTo>
                <a:lnTo>
                  <a:pt x="306" y="8"/>
                </a:lnTo>
                <a:lnTo>
                  <a:pt x="310" y="10"/>
                </a:lnTo>
                <a:lnTo>
                  <a:pt x="312" y="13"/>
                </a:lnTo>
                <a:lnTo>
                  <a:pt x="313" y="17"/>
                </a:lnTo>
                <a:lnTo>
                  <a:pt x="313" y="20"/>
                </a:lnTo>
                <a:lnTo>
                  <a:pt x="313" y="20"/>
                </a:lnTo>
                <a:lnTo>
                  <a:pt x="310" y="28"/>
                </a:lnTo>
                <a:lnTo>
                  <a:pt x="303" y="39"/>
                </a:lnTo>
                <a:lnTo>
                  <a:pt x="303" y="39"/>
                </a:lnTo>
                <a:lnTo>
                  <a:pt x="287" y="60"/>
                </a:lnTo>
                <a:lnTo>
                  <a:pt x="287" y="60"/>
                </a:lnTo>
                <a:lnTo>
                  <a:pt x="259" y="98"/>
                </a:lnTo>
                <a:lnTo>
                  <a:pt x="259" y="98"/>
                </a:lnTo>
                <a:lnTo>
                  <a:pt x="257" y="101"/>
                </a:lnTo>
                <a:lnTo>
                  <a:pt x="254" y="102"/>
                </a:lnTo>
                <a:lnTo>
                  <a:pt x="254" y="102"/>
                </a:lnTo>
                <a:lnTo>
                  <a:pt x="251" y="102"/>
                </a:lnTo>
                <a:lnTo>
                  <a:pt x="249" y="101"/>
                </a:lnTo>
                <a:lnTo>
                  <a:pt x="249" y="101"/>
                </a:lnTo>
                <a:lnTo>
                  <a:pt x="247" y="99"/>
                </a:lnTo>
                <a:lnTo>
                  <a:pt x="245" y="97"/>
                </a:lnTo>
                <a:lnTo>
                  <a:pt x="245" y="97"/>
                </a:lnTo>
                <a:lnTo>
                  <a:pt x="245" y="94"/>
                </a:lnTo>
                <a:lnTo>
                  <a:pt x="246" y="92"/>
                </a:lnTo>
                <a:lnTo>
                  <a:pt x="246" y="92"/>
                </a:lnTo>
                <a:lnTo>
                  <a:pt x="255" y="78"/>
                </a:lnTo>
                <a:lnTo>
                  <a:pt x="276" y="51"/>
                </a:lnTo>
                <a:lnTo>
                  <a:pt x="276" y="51"/>
                </a:lnTo>
                <a:lnTo>
                  <a:pt x="292" y="31"/>
                </a:lnTo>
                <a:lnTo>
                  <a:pt x="292" y="31"/>
                </a:lnTo>
                <a:lnTo>
                  <a:pt x="271" y="37"/>
                </a:lnTo>
                <a:lnTo>
                  <a:pt x="250" y="43"/>
                </a:lnTo>
                <a:lnTo>
                  <a:pt x="230" y="51"/>
                </a:lnTo>
                <a:lnTo>
                  <a:pt x="211" y="60"/>
                </a:lnTo>
                <a:lnTo>
                  <a:pt x="211" y="60"/>
                </a:lnTo>
                <a:lnTo>
                  <a:pt x="192" y="69"/>
                </a:lnTo>
                <a:lnTo>
                  <a:pt x="173" y="79"/>
                </a:lnTo>
                <a:lnTo>
                  <a:pt x="155" y="90"/>
                </a:lnTo>
                <a:lnTo>
                  <a:pt x="137" y="102"/>
                </a:lnTo>
                <a:lnTo>
                  <a:pt x="137" y="102"/>
                </a:lnTo>
                <a:lnTo>
                  <a:pt x="120" y="115"/>
                </a:lnTo>
                <a:lnTo>
                  <a:pt x="104" y="129"/>
                </a:lnTo>
                <a:lnTo>
                  <a:pt x="88" y="144"/>
                </a:lnTo>
                <a:lnTo>
                  <a:pt x="74" y="161"/>
                </a:lnTo>
                <a:lnTo>
                  <a:pt x="74" y="161"/>
                </a:lnTo>
                <a:lnTo>
                  <a:pt x="60" y="178"/>
                </a:lnTo>
                <a:lnTo>
                  <a:pt x="48" y="196"/>
                </a:lnTo>
                <a:lnTo>
                  <a:pt x="38" y="214"/>
                </a:lnTo>
                <a:lnTo>
                  <a:pt x="29" y="233"/>
                </a:lnTo>
                <a:lnTo>
                  <a:pt x="29" y="233"/>
                </a:lnTo>
                <a:lnTo>
                  <a:pt x="22" y="252"/>
                </a:lnTo>
                <a:lnTo>
                  <a:pt x="17" y="270"/>
                </a:lnTo>
                <a:lnTo>
                  <a:pt x="15" y="287"/>
                </a:lnTo>
                <a:lnTo>
                  <a:pt x="14" y="304"/>
                </a:lnTo>
                <a:lnTo>
                  <a:pt x="14" y="304"/>
                </a:lnTo>
                <a:lnTo>
                  <a:pt x="15" y="313"/>
                </a:lnTo>
                <a:lnTo>
                  <a:pt x="17" y="322"/>
                </a:lnTo>
                <a:lnTo>
                  <a:pt x="20" y="329"/>
                </a:lnTo>
                <a:lnTo>
                  <a:pt x="24" y="336"/>
                </a:lnTo>
                <a:lnTo>
                  <a:pt x="29" y="342"/>
                </a:lnTo>
                <a:lnTo>
                  <a:pt x="34" y="347"/>
                </a:lnTo>
                <a:lnTo>
                  <a:pt x="41" y="352"/>
                </a:lnTo>
                <a:lnTo>
                  <a:pt x="48" y="356"/>
                </a:lnTo>
                <a:lnTo>
                  <a:pt x="48" y="356"/>
                </a:lnTo>
                <a:lnTo>
                  <a:pt x="50" y="357"/>
                </a:lnTo>
                <a:lnTo>
                  <a:pt x="52" y="360"/>
                </a:lnTo>
                <a:lnTo>
                  <a:pt x="52" y="360"/>
                </a:lnTo>
                <a:lnTo>
                  <a:pt x="52" y="362"/>
                </a:lnTo>
                <a:lnTo>
                  <a:pt x="52" y="365"/>
                </a:lnTo>
                <a:lnTo>
                  <a:pt x="52" y="365"/>
                </a:lnTo>
                <a:lnTo>
                  <a:pt x="50" y="367"/>
                </a:lnTo>
                <a:lnTo>
                  <a:pt x="48" y="369"/>
                </a:lnTo>
                <a:lnTo>
                  <a:pt x="48" y="369"/>
                </a:lnTo>
                <a:lnTo>
                  <a:pt x="45" y="370"/>
                </a:lnTo>
                <a:lnTo>
                  <a:pt x="42" y="369"/>
                </a:lnTo>
                <a:lnTo>
                  <a:pt x="42" y="369"/>
                </a:lnTo>
                <a:lnTo>
                  <a:pt x="33" y="365"/>
                </a:lnTo>
                <a:lnTo>
                  <a:pt x="25" y="359"/>
                </a:lnTo>
                <a:lnTo>
                  <a:pt x="18" y="352"/>
                </a:lnTo>
                <a:lnTo>
                  <a:pt x="12" y="345"/>
                </a:lnTo>
                <a:lnTo>
                  <a:pt x="7" y="336"/>
                </a:lnTo>
                <a:lnTo>
                  <a:pt x="3" y="327"/>
                </a:lnTo>
                <a:lnTo>
                  <a:pt x="1" y="316"/>
                </a:lnTo>
                <a:lnTo>
                  <a:pt x="0" y="305"/>
                </a:lnTo>
                <a:lnTo>
                  <a:pt x="0" y="305"/>
                </a:lnTo>
                <a:lnTo>
                  <a:pt x="0" y="296"/>
                </a:lnTo>
                <a:lnTo>
                  <a:pt x="0" y="286"/>
                </a:lnTo>
                <a:lnTo>
                  <a:pt x="3" y="267"/>
                </a:lnTo>
                <a:lnTo>
                  <a:pt x="8" y="248"/>
                </a:lnTo>
                <a:lnTo>
                  <a:pt x="15" y="227"/>
                </a:lnTo>
                <a:lnTo>
                  <a:pt x="15" y="227"/>
                </a:lnTo>
                <a:lnTo>
                  <a:pt x="25" y="207"/>
                </a:lnTo>
                <a:lnTo>
                  <a:pt x="36" y="188"/>
                </a:lnTo>
                <a:lnTo>
                  <a:pt x="48" y="170"/>
                </a:lnTo>
                <a:lnTo>
                  <a:pt x="62" y="152"/>
                </a:lnTo>
                <a:lnTo>
                  <a:pt x="62" y="152"/>
                </a:lnTo>
                <a:lnTo>
                  <a:pt x="78" y="135"/>
                </a:lnTo>
                <a:lnTo>
                  <a:pt x="93" y="119"/>
                </a:lnTo>
                <a:lnTo>
                  <a:pt x="110" y="105"/>
                </a:lnTo>
                <a:lnTo>
                  <a:pt x="128" y="91"/>
                </a:lnTo>
                <a:lnTo>
                  <a:pt x="128" y="91"/>
                </a:lnTo>
                <a:lnTo>
                  <a:pt x="146" y="79"/>
                </a:lnTo>
                <a:lnTo>
                  <a:pt x="165" y="67"/>
                </a:lnTo>
                <a:lnTo>
                  <a:pt x="184" y="57"/>
                </a:lnTo>
                <a:lnTo>
                  <a:pt x="204" y="47"/>
                </a:lnTo>
                <a:lnTo>
                  <a:pt x="204" y="47"/>
                </a:lnTo>
                <a:lnTo>
                  <a:pt x="224" y="38"/>
                </a:lnTo>
                <a:lnTo>
                  <a:pt x="244" y="30"/>
                </a:lnTo>
                <a:lnTo>
                  <a:pt x="265" y="23"/>
                </a:lnTo>
                <a:lnTo>
                  <a:pt x="286" y="17"/>
                </a:lnTo>
                <a:lnTo>
                  <a:pt x="286" y="17"/>
                </a:lnTo>
                <a:lnTo>
                  <a:pt x="274" y="16"/>
                </a:lnTo>
                <a:lnTo>
                  <a:pt x="259" y="15"/>
                </a:lnTo>
                <a:lnTo>
                  <a:pt x="259" y="15"/>
                </a:lnTo>
                <a:lnTo>
                  <a:pt x="224" y="15"/>
                </a:lnTo>
                <a:lnTo>
                  <a:pt x="212" y="15"/>
                </a:lnTo>
                <a:lnTo>
                  <a:pt x="203" y="17"/>
                </a:lnTo>
                <a:lnTo>
                  <a:pt x="203" y="17"/>
                </a:lnTo>
                <a:lnTo>
                  <a:pt x="200" y="17"/>
                </a:lnTo>
                <a:lnTo>
                  <a:pt x="198" y="16"/>
                </a:lnTo>
                <a:lnTo>
                  <a:pt x="198" y="16"/>
                </a:lnTo>
                <a:lnTo>
                  <a:pt x="196" y="14"/>
                </a:lnTo>
                <a:lnTo>
                  <a:pt x="194" y="12"/>
                </a:lnTo>
                <a:lnTo>
                  <a:pt x="194" y="12"/>
                </a:lnTo>
                <a:lnTo>
                  <a:pt x="194" y="9"/>
                </a:lnTo>
                <a:lnTo>
                  <a:pt x="195" y="6"/>
                </a:lnTo>
                <a:lnTo>
                  <a:pt x="195" y="6"/>
                </a:lnTo>
                <a:lnTo>
                  <a:pt x="197" y="4"/>
                </a:lnTo>
                <a:lnTo>
                  <a:pt x="200" y="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sz="2400" kern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1286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7A0A1-C3B1-9EC8-B1C4-9DAADBF66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6943CD5E-B0CB-5154-3B54-6EA94C98303E}"/>
              </a:ext>
            </a:extLst>
          </p:cNvPr>
          <p:cNvGrpSpPr/>
          <p:nvPr/>
        </p:nvGrpSpPr>
        <p:grpSpPr>
          <a:xfrm rot="16200000" flipH="1">
            <a:off x="6156063" y="-3125999"/>
            <a:ext cx="3419009" cy="12595326"/>
            <a:chOff x="7122607" y="-4944730"/>
            <a:chExt cx="6733275" cy="12595326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834353CD-D301-639E-69EC-7B7ADE0299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195164" y="-4906223"/>
              <a:ext cx="3660718" cy="12556819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71F014CE-CE46-51EA-6C5A-C29A97DD5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7122607" y="-4944730"/>
              <a:ext cx="3660717" cy="12556819"/>
            </a:xfrm>
            <a:prstGeom prst="rect">
              <a:avLst/>
            </a:prstGeom>
          </p:spPr>
        </p:pic>
      </p:grpSp>
      <p:sp>
        <p:nvSpPr>
          <p:cNvPr id="2" name="Rectangle 17">
            <a:extLst>
              <a:ext uri="{FF2B5EF4-FFF2-40B4-BE49-F238E27FC236}">
                <a16:creationId xmlns:a16="http://schemas.microsoft.com/office/drawing/2014/main" id="{1C7BDF1F-D96A-E0B0-717E-66D10E0817FF}"/>
              </a:ext>
            </a:extLst>
          </p:cNvPr>
          <p:cNvSpPr/>
          <p:nvPr/>
        </p:nvSpPr>
        <p:spPr>
          <a:xfrm>
            <a:off x="241072" y="306010"/>
            <a:ext cx="11709855" cy="324485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技术四：灵活的指标处理</a:t>
            </a:r>
          </a:p>
        </p:txBody>
      </p:sp>
      <p:pic>
        <p:nvPicPr>
          <p:cNvPr id="6" name="图片 5" descr="图表, 雷达图&#10;&#10;AI 生成的内容可能不正确。">
            <a:extLst>
              <a:ext uri="{FF2B5EF4-FFF2-40B4-BE49-F238E27FC236}">
                <a16:creationId xmlns:a16="http://schemas.microsoft.com/office/drawing/2014/main" id="{5E308537-C97D-B2C1-21DE-0474FC622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69" y="910346"/>
            <a:ext cx="3673331" cy="50373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3E74FC4-12EC-6FAE-6F67-5C612A3395B8}"/>
              </a:ext>
            </a:extLst>
          </p:cNvPr>
          <p:cNvSpPr txBox="1"/>
          <p:nvPr/>
        </p:nvSpPr>
        <p:spPr>
          <a:xfrm>
            <a:off x="4426226" y="912918"/>
            <a:ext cx="31076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为了更好地呈现整体形势，将部分指标进行缩放，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鼠标触碰时显示真实值</a:t>
            </a:r>
            <a:endParaRPr lang="en-US" altLang="zh-CN" dirty="0">
              <a:solidFill>
                <a:schemeClr val="bg1"/>
              </a:solidFill>
            </a:endParaRPr>
          </a:p>
        </p:txBody>
      </p:sp>
      <p:pic>
        <p:nvPicPr>
          <p:cNvPr id="9" name="图片 8" descr="图表, 饼图&#10;&#10;AI 生成的内容可能不正确。">
            <a:extLst>
              <a:ext uri="{FF2B5EF4-FFF2-40B4-BE49-F238E27FC236}">
                <a16:creationId xmlns:a16="http://schemas.microsoft.com/office/drawing/2014/main" id="{83078484-4845-0000-4C83-9D97B540C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6780" y="910346"/>
            <a:ext cx="3711085" cy="512960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F7B374E-AF71-E6A2-49D4-7D3F239C09C1}"/>
              </a:ext>
            </a:extLst>
          </p:cNvPr>
          <p:cNvSpPr txBox="1"/>
          <p:nvPr/>
        </p:nvSpPr>
        <p:spPr>
          <a:xfrm>
            <a:off x="4426225" y="4507079"/>
            <a:ext cx="31076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将已经计算好的指标再按照一定要求分组安排，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得到全新意义的时序图像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1" name="Freeform 2591">
            <a:extLst>
              <a:ext uri="{FF2B5EF4-FFF2-40B4-BE49-F238E27FC236}">
                <a16:creationId xmlns:a16="http://schemas.microsoft.com/office/drawing/2014/main" id="{AF2D5A86-F9F6-ED62-EF55-F4F7F7ACA405}"/>
              </a:ext>
            </a:extLst>
          </p:cNvPr>
          <p:cNvSpPr/>
          <p:nvPr/>
        </p:nvSpPr>
        <p:spPr bwMode="auto">
          <a:xfrm rot="13502061">
            <a:off x="4645789" y="1658088"/>
            <a:ext cx="406515" cy="789173"/>
          </a:xfrm>
          <a:custGeom>
            <a:avLst/>
            <a:gdLst>
              <a:gd name="T0" fmla="*/ 209 w 313"/>
              <a:gd name="T1" fmla="*/ 1 h 370"/>
              <a:gd name="T2" fmla="*/ 260 w 313"/>
              <a:gd name="T3" fmla="*/ 0 h 370"/>
              <a:gd name="T4" fmla="*/ 294 w 313"/>
              <a:gd name="T5" fmla="*/ 3 h 370"/>
              <a:gd name="T6" fmla="*/ 306 w 313"/>
              <a:gd name="T7" fmla="*/ 8 h 370"/>
              <a:gd name="T8" fmla="*/ 312 w 313"/>
              <a:gd name="T9" fmla="*/ 13 h 370"/>
              <a:gd name="T10" fmla="*/ 313 w 313"/>
              <a:gd name="T11" fmla="*/ 20 h 370"/>
              <a:gd name="T12" fmla="*/ 303 w 313"/>
              <a:gd name="T13" fmla="*/ 39 h 370"/>
              <a:gd name="T14" fmla="*/ 259 w 313"/>
              <a:gd name="T15" fmla="*/ 98 h 370"/>
              <a:gd name="T16" fmla="*/ 254 w 313"/>
              <a:gd name="T17" fmla="*/ 102 h 370"/>
              <a:gd name="T18" fmla="*/ 249 w 313"/>
              <a:gd name="T19" fmla="*/ 101 h 370"/>
              <a:gd name="T20" fmla="*/ 245 w 313"/>
              <a:gd name="T21" fmla="*/ 97 h 370"/>
              <a:gd name="T22" fmla="*/ 246 w 313"/>
              <a:gd name="T23" fmla="*/ 92 h 370"/>
              <a:gd name="T24" fmla="*/ 276 w 313"/>
              <a:gd name="T25" fmla="*/ 51 h 370"/>
              <a:gd name="T26" fmla="*/ 292 w 313"/>
              <a:gd name="T27" fmla="*/ 31 h 370"/>
              <a:gd name="T28" fmla="*/ 230 w 313"/>
              <a:gd name="T29" fmla="*/ 51 h 370"/>
              <a:gd name="T30" fmla="*/ 192 w 313"/>
              <a:gd name="T31" fmla="*/ 69 h 370"/>
              <a:gd name="T32" fmla="*/ 137 w 313"/>
              <a:gd name="T33" fmla="*/ 102 h 370"/>
              <a:gd name="T34" fmla="*/ 104 w 313"/>
              <a:gd name="T35" fmla="*/ 129 h 370"/>
              <a:gd name="T36" fmla="*/ 74 w 313"/>
              <a:gd name="T37" fmla="*/ 161 h 370"/>
              <a:gd name="T38" fmla="*/ 38 w 313"/>
              <a:gd name="T39" fmla="*/ 214 h 370"/>
              <a:gd name="T40" fmla="*/ 22 w 313"/>
              <a:gd name="T41" fmla="*/ 252 h 370"/>
              <a:gd name="T42" fmla="*/ 14 w 313"/>
              <a:gd name="T43" fmla="*/ 304 h 370"/>
              <a:gd name="T44" fmla="*/ 17 w 313"/>
              <a:gd name="T45" fmla="*/ 322 h 370"/>
              <a:gd name="T46" fmla="*/ 29 w 313"/>
              <a:gd name="T47" fmla="*/ 342 h 370"/>
              <a:gd name="T48" fmla="*/ 48 w 313"/>
              <a:gd name="T49" fmla="*/ 356 h 370"/>
              <a:gd name="T50" fmla="*/ 52 w 313"/>
              <a:gd name="T51" fmla="*/ 360 h 370"/>
              <a:gd name="T52" fmla="*/ 52 w 313"/>
              <a:gd name="T53" fmla="*/ 365 h 370"/>
              <a:gd name="T54" fmla="*/ 48 w 313"/>
              <a:gd name="T55" fmla="*/ 369 h 370"/>
              <a:gd name="T56" fmla="*/ 42 w 313"/>
              <a:gd name="T57" fmla="*/ 369 h 370"/>
              <a:gd name="T58" fmla="*/ 25 w 313"/>
              <a:gd name="T59" fmla="*/ 359 h 370"/>
              <a:gd name="T60" fmla="*/ 7 w 313"/>
              <a:gd name="T61" fmla="*/ 336 h 370"/>
              <a:gd name="T62" fmla="*/ 0 w 313"/>
              <a:gd name="T63" fmla="*/ 305 h 370"/>
              <a:gd name="T64" fmla="*/ 0 w 313"/>
              <a:gd name="T65" fmla="*/ 286 h 370"/>
              <a:gd name="T66" fmla="*/ 15 w 313"/>
              <a:gd name="T67" fmla="*/ 227 h 370"/>
              <a:gd name="T68" fmla="*/ 36 w 313"/>
              <a:gd name="T69" fmla="*/ 188 h 370"/>
              <a:gd name="T70" fmla="*/ 62 w 313"/>
              <a:gd name="T71" fmla="*/ 152 h 370"/>
              <a:gd name="T72" fmla="*/ 110 w 313"/>
              <a:gd name="T73" fmla="*/ 105 h 370"/>
              <a:gd name="T74" fmla="*/ 146 w 313"/>
              <a:gd name="T75" fmla="*/ 79 h 370"/>
              <a:gd name="T76" fmla="*/ 204 w 313"/>
              <a:gd name="T77" fmla="*/ 47 h 370"/>
              <a:gd name="T78" fmla="*/ 244 w 313"/>
              <a:gd name="T79" fmla="*/ 30 h 370"/>
              <a:gd name="T80" fmla="*/ 286 w 313"/>
              <a:gd name="T81" fmla="*/ 17 h 370"/>
              <a:gd name="T82" fmla="*/ 259 w 313"/>
              <a:gd name="T83" fmla="*/ 15 h 370"/>
              <a:gd name="T84" fmla="*/ 203 w 313"/>
              <a:gd name="T85" fmla="*/ 17 h 370"/>
              <a:gd name="T86" fmla="*/ 198 w 313"/>
              <a:gd name="T87" fmla="*/ 16 h 370"/>
              <a:gd name="T88" fmla="*/ 194 w 313"/>
              <a:gd name="T89" fmla="*/ 12 h 370"/>
              <a:gd name="T90" fmla="*/ 195 w 313"/>
              <a:gd name="T91" fmla="*/ 6 h 370"/>
              <a:gd name="T92" fmla="*/ 200 w 313"/>
              <a:gd name="T93" fmla="*/ 3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13" h="370">
                <a:moveTo>
                  <a:pt x="200" y="3"/>
                </a:moveTo>
                <a:lnTo>
                  <a:pt x="200" y="3"/>
                </a:lnTo>
                <a:lnTo>
                  <a:pt x="209" y="1"/>
                </a:lnTo>
                <a:lnTo>
                  <a:pt x="222" y="0"/>
                </a:lnTo>
                <a:lnTo>
                  <a:pt x="239" y="0"/>
                </a:lnTo>
                <a:lnTo>
                  <a:pt x="260" y="0"/>
                </a:lnTo>
                <a:lnTo>
                  <a:pt x="260" y="0"/>
                </a:lnTo>
                <a:lnTo>
                  <a:pt x="279" y="1"/>
                </a:lnTo>
                <a:lnTo>
                  <a:pt x="294" y="3"/>
                </a:lnTo>
                <a:lnTo>
                  <a:pt x="294" y="3"/>
                </a:lnTo>
                <a:lnTo>
                  <a:pt x="301" y="5"/>
                </a:lnTo>
                <a:lnTo>
                  <a:pt x="306" y="8"/>
                </a:lnTo>
                <a:lnTo>
                  <a:pt x="306" y="8"/>
                </a:lnTo>
                <a:lnTo>
                  <a:pt x="310" y="10"/>
                </a:lnTo>
                <a:lnTo>
                  <a:pt x="312" y="13"/>
                </a:lnTo>
                <a:lnTo>
                  <a:pt x="313" y="17"/>
                </a:lnTo>
                <a:lnTo>
                  <a:pt x="313" y="20"/>
                </a:lnTo>
                <a:lnTo>
                  <a:pt x="313" y="20"/>
                </a:lnTo>
                <a:lnTo>
                  <a:pt x="310" y="28"/>
                </a:lnTo>
                <a:lnTo>
                  <a:pt x="303" y="39"/>
                </a:lnTo>
                <a:lnTo>
                  <a:pt x="303" y="39"/>
                </a:lnTo>
                <a:lnTo>
                  <a:pt x="287" y="60"/>
                </a:lnTo>
                <a:lnTo>
                  <a:pt x="287" y="60"/>
                </a:lnTo>
                <a:lnTo>
                  <a:pt x="259" y="98"/>
                </a:lnTo>
                <a:lnTo>
                  <a:pt x="259" y="98"/>
                </a:lnTo>
                <a:lnTo>
                  <a:pt x="257" y="101"/>
                </a:lnTo>
                <a:lnTo>
                  <a:pt x="254" y="102"/>
                </a:lnTo>
                <a:lnTo>
                  <a:pt x="254" y="102"/>
                </a:lnTo>
                <a:lnTo>
                  <a:pt x="251" y="102"/>
                </a:lnTo>
                <a:lnTo>
                  <a:pt x="249" y="101"/>
                </a:lnTo>
                <a:lnTo>
                  <a:pt x="249" y="101"/>
                </a:lnTo>
                <a:lnTo>
                  <a:pt x="247" y="99"/>
                </a:lnTo>
                <a:lnTo>
                  <a:pt x="245" y="97"/>
                </a:lnTo>
                <a:lnTo>
                  <a:pt x="245" y="97"/>
                </a:lnTo>
                <a:lnTo>
                  <a:pt x="245" y="94"/>
                </a:lnTo>
                <a:lnTo>
                  <a:pt x="246" y="92"/>
                </a:lnTo>
                <a:lnTo>
                  <a:pt x="246" y="92"/>
                </a:lnTo>
                <a:lnTo>
                  <a:pt x="255" y="78"/>
                </a:lnTo>
                <a:lnTo>
                  <a:pt x="276" y="51"/>
                </a:lnTo>
                <a:lnTo>
                  <a:pt x="276" y="51"/>
                </a:lnTo>
                <a:lnTo>
                  <a:pt x="292" y="31"/>
                </a:lnTo>
                <a:lnTo>
                  <a:pt x="292" y="31"/>
                </a:lnTo>
                <a:lnTo>
                  <a:pt x="271" y="37"/>
                </a:lnTo>
                <a:lnTo>
                  <a:pt x="250" y="43"/>
                </a:lnTo>
                <a:lnTo>
                  <a:pt x="230" y="51"/>
                </a:lnTo>
                <a:lnTo>
                  <a:pt x="211" y="60"/>
                </a:lnTo>
                <a:lnTo>
                  <a:pt x="211" y="60"/>
                </a:lnTo>
                <a:lnTo>
                  <a:pt x="192" y="69"/>
                </a:lnTo>
                <a:lnTo>
                  <a:pt x="173" y="79"/>
                </a:lnTo>
                <a:lnTo>
                  <a:pt x="155" y="90"/>
                </a:lnTo>
                <a:lnTo>
                  <a:pt x="137" y="102"/>
                </a:lnTo>
                <a:lnTo>
                  <a:pt x="137" y="102"/>
                </a:lnTo>
                <a:lnTo>
                  <a:pt x="120" y="115"/>
                </a:lnTo>
                <a:lnTo>
                  <a:pt x="104" y="129"/>
                </a:lnTo>
                <a:lnTo>
                  <a:pt x="88" y="144"/>
                </a:lnTo>
                <a:lnTo>
                  <a:pt x="74" y="161"/>
                </a:lnTo>
                <a:lnTo>
                  <a:pt x="74" y="161"/>
                </a:lnTo>
                <a:lnTo>
                  <a:pt x="60" y="178"/>
                </a:lnTo>
                <a:lnTo>
                  <a:pt x="48" y="196"/>
                </a:lnTo>
                <a:lnTo>
                  <a:pt x="38" y="214"/>
                </a:lnTo>
                <a:lnTo>
                  <a:pt x="29" y="233"/>
                </a:lnTo>
                <a:lnTo>
                  <a:pt x="29" y="233"/>
                </a:lnTo>
                <a:lnTo>
                  <a:pt x="22" y="252"/>
                </a:lnTo>
                <a:lnTo>
                  <a:pt x="17" y="270"/>
                </a:lnTo>
                <a:lnTo>
                  <a:pt x="15" y="287"/>
                </a:lnTo>
                <a:lnTo>
                  <a:pt x="14" y="304"/>
                </a:lnTo>
                <a:lnTo>
                  <a:pt x="14" y="304"/>
                </a:lnTo>
                <a:lnTo>
                  <a:pt x="15" y="313"/>
                </a:lnTo>
                <a:lnTo>
                  <a:pt x="17" y="322"/>
                </a:lnTo>
                <a:lnTo>
                  <a:pt x="20" y="329"/>
                </a:lnTo>
                <a:lnTo>
                  <a:pt x="24" y="336"/>
                </a:lnTo>
                <a:lnTo>
                  <a:pt x="29" y="342"/>
                </a:lnTo>
                <a:lnTo>
                  <a:pt x="34" y="347"/>
                </a:lnTo>
                <a:lnTo>
                  <a:pt x="41" y="352"/>
                </a:lnTo>
                <a:lnTo>
                  <a:pt x="48" y="356"/>
                </a:lnTo>
                <a:lnTo>
                  <a:pt x="48" y="356"/>
                </a:lnTo>
                <a:lnTo>
                  <a:pt x="50" y="357"/>
                </a:lnTo>
                <a:lnTo>
                  <a:pt x="52" y="360"/>
                </a:lnTo>
                <a:lnTo>
                  <a:pt x="52" y="360"/>
                </a:lnTo>
                <a:lnTo>
                  <a:pt x="52" y="362"/>
                </a:lnTo>
                <a:lnTo>
                  <a:pt x="52" y="365"/>
                </a:lnTo>
                <a:lnTo>
                  <a:pt x="52" y="365"/>
                </a:lnTo>
                <a:lnTo>
                  <a:pt x="50" y="367"/>
                </a:lnTo>
                <a:lnTo>
                  <a:pt x="48" y="369"/>
                </a:lnTo>
                <a:lnTo>
                  <a:pt x="48" y="369"/>
                </a:lnTo>
                <a:lnTo>
                  <a:pt x="45" y="370"/>
                </a:lnTo>
                <a:lnTo>
                  <a:pt x="42" y="369"/>
                </a:lnTo>
                <a:lnTo>
                  <a:pt x="42" y="369"/>
                </a:lnTo>
                <a:lnTo>
                  <a:pt x="33" y="365"/>
                </a:lnTo>
                <a:lnTo>
                  <a:pt x="25" y="359"/>
                </a:lnTo>
                <a:lnTo>
                  <a:pt x="18" y="352"/>
                </a:lnTo>
                <a:lnTo>
                  <a:pt x="12" y="345"/>
                </a:lnTo>
                <a:lnTo>
                  <a:pt x="7" y="336"/>
                </a:lnTo>
                <a:lnTo>
                  <a:pt x="3" y="327"/>
                </a:lnTo>
                <a:lnTo>
                  <a:pt x="1" y="316"/>
                </a:lnTo>
                <a:lnTo>
                  <a:pt x="0" y="305"/>
                </a:lnTo>
                <a:lnTo>
                  <a:pt x="0" y="305"/>
                </a:lnTo>
                <a:lnTo>
                  <a:pt x="0" y="296"/>
                </a:lnTo>
                <a:lnTo>
                  <a:pt x="0" y="286"/>
                </a:lnTo>
                <a:lnTo>
                  <a:pt x="3" y="267"/>
                </a:lnTo>
                <a:lnTo>
                  <a:pt x="8" y="248"/>
                </a:lnTo>
                <a:lnTo>
                  <a:pt x="15" y="227"/>
                </a:lnTo>
                <a:lnTo>
                  <a:pt x="15" y="227"/>
                </a:lnTo>
                <a:lnTo>
                  <a:pt x="25" y="207"/>
                </a:lnTo>
                <a:lnTo>
                  <a:pt x="36" y="188"/>
                </a:lnTo>
                <a:lnTo>
                  <a:pt x="48" y="170"/>
                </a:lnTo>
                <a:lnTo>
                  <a:pt x="62" y="152"/>
                </a:lnTo>
                <a:lnTo>
                  <a:pt x="62" y="152"/>
                </a:lnTo>
                <a:lnTo>
                  <a:pt x="78" y="135"/>
                </a:lnTo>
                <a:lnTo>
                  <a:pt x="93" y="119"/>
                </a:lnTo>
                <a:lnTo>
                  <a:pt x="110" y="105"/>
                </a:lnTo>
                <a:lnTo>
                  <a:pt x="128" y="91"/>
                </a:lnTo>
                <a:lnTo>
                  <a:pt x="128" y="91"/>
                </a:lnTo>
                <a:lnTo>
                  <a:pt x="146" y="79"/>
                </a:lnTo>
                <a:lnTo>
                  <a:pt x="165" y="67"/>
                </a:lnTo>
                <a:lnTo>
                  <a:pt x="184" y="57"/>
                </a:lnTo>
                <a:lnTo>
                  <a:pt x="204" y="47"/>
                </a:lnTo>
                <a:lnTo>
                  <a:pt x="204" y="47"/>
                </a:lnTo>
                <a:lnTo>
                  <a:pt x="224" y="38"/>
                </a:lnTo>
                <a:lnTo>
                  <a:pt x="244" y="30"/>
                </a:lnTo>
                <a:lnTo>
                  <a:pt x="265" y="23"/>
                </a:lnTo>
                <a:lnTo>
                  <a:pt x="286" y="17"/>
                </a:lnTo>
                <a:lnTo>
                  <a:pt x="286" y="17"/>
                </a:lnTo>
                <a:lnTo>
                  <a:pt x="274" y="16"/>
                </a:lnTo>
                <a:lnTo>
                  <a:pt x="259" y="15"/>
                </a:lnTo>
                <a:lnTo>
                  <a:pt x="259" y="15"/>
                </a:lnTo>
                <a:lnTo>
                  <a:pt x="224" y="15"/>
                </a:lnTo>
                <a:lnTo>
                  <a:pt x="212" y="15"/>
                </a:lnTo>
                <a:lnTo>
                  <a:pt x="203" y="17"/>
                </a:lnTo>
                <a:lnTo>
                  <a:pt x="203" y="17"/>
                </a:lnTo>
                <a:lnTo>
                  <a:pt x="200" y="17"/>
                </a:lnTo>
                <a:lnTo>
                  <a:pt x="198" y="16"/>
                </a:lnTo>
                <a:lnTo>
                  <a:pt x="198" y="16"/>
                </a:lnTo>
                <a:lnTo>
                  <a:pt x="196" y="14"/>
                </a:lnTo>
                <a:lnTo>
                  <a:pt x="194" y="12"/>
                </a:lnTo>
                <a:lnTo>
                  <a:pt x="194" y="12"/>
                </a:lnTo>
                <a:lnTo>
                  <a:pt x="194" y="9"/>
                </a:lnTo>
                <a:lnTo>
                  <a:pt x="195" y="6"/>
                </a:lnTo>
                <a:lnTo>
                  <a:pt x="195" y="6"/>
                </a:lnTo>
                <a:lnTo>
                  <a:pt x="197" y="4"/>
                </a:lnTo>
                <a:lnTo>
                  <a:pt x="200" y="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sz="2400" kern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Freeform 2591">
            <a:extLst>
              <a:ext uri="{FF2B5EF4-FFF2-40B4-BE49-F238E27FC236}">
                <a16:creationId xmlns:a16="http://schemas.microsoft.com/office/drawing/2014/main" id="{7D85B07A-E510-3F15-C738-321CB31F0EEA}"/>
              </a:ext>
            </a:extLst>
          </p:cNvPr>
          <p:cNvSpPr/>
          <p:nvPr/>
        </p:nvSpPr>
        <p:spPr bwMode="auto">
          <a:xfrm rot="2856161">
            <a:off x="7037300" y="3831444"/>
            <a:ext cx="406515" cy="789173"/>
          </a:xfrm>
          <a:custGeom>
            <a:avLst/>
            <a:gdLst>
              <a:gd name="T0" fmla="*/ 209 w 313"/>
              <a:gd name="T1" fmla="*/ 1 h 370"/>
              <a:gd name="T2" fmla="*/ 260 w 313"/>
              <a:gd name="T3" fmla="*/ 0 h 370"/>
              <a:gd name="T4" fmla="*/ 294 w 313"/>
              <a:gd name="T5" fmla="*/ 3 h 370"/>
              <a:gd name="T6" fmla="*/ 306 w 313"/>
              <a:gd name="T7" fmla="*/ 8 h 370"/>
              <a:gd name="T8" fmla="*/ 312 w 313"/>
              <a:gd name="T9" fmla="*/ 13 h 370"/>
              <a:gd name="T10" fmla="*/ 313 w 313"/>
              <a:gd name="T11" fmla="*/ 20 h 370"/>
              <a:gd name="T12" fmla="*/ 303 w 313"/>
              <a:gd name="T13" fmla="*/ 39 h 370"/>
              <a:gd name="T14" fmla="*/ 259 w 313"/>
              <a:gd name="T15" fmla="*/ 98 h 370"/>
              <a:gd name="T16" fmla="*/ 254 w 313"/>
              <a:gd name="T17" fmla="*/ 102 h 370"/>
              <a:gd name="T18" fmla="*/ 249 w 313"/>
              <a:gd name="T19" fmla="*/ 101 h 370"/>
              <a:gd name="T20" fmla="*/ 245 w 313"/>
              <a:gd name="T21" fmla="*/ 97 h 370"/>
              <a:gd name="T22" fmla="*/ 246 w 313"/>
              <a:gd name="T23" fmla="*/ 92 h 370"/>
              <a:gd name="T24" fmla="*/ 276 w 313"/>
              <a:gd name="T25" fmla="*/ 51 h 370"/>
              <a:gd name="T26" fmla="*/ 292 w 313"/>
              <a:gd name="T27" fmla="*/ 31 h 370"/>
              <a:gd name="T28" fmla="*/ 230 w 313"/>
              <a:gd name="T29" fmla="*/ 51 h 370"/>
              <a:gd name="T30" fmla="*/ 192 w 313"/>
              <a:gd name="T31" fmla="*/ 69 h 370"/>
              <a:gd name="T32" fmla="*/ 137 w 313"/>
              <a:gd name="T33" fmla="*/ 102 h 370"/>
              <a:gd name="T34" fmla="*/ 104 w 313"/>
              <a:gd name="T35" fmla="*/ 129 h 370"/>
              <a:gd name="T36" fmla="*/ 74 w 313"/>
              <a:gd name="T37" fmla="*/ 161 h 370"/>
              <a:gd name="T38" fmla="*/ 38 w 313"/>
              <a:gd name="T39" fmla="*/ 214 h 370"/>
              <a:gd name="T40" fmla="*/ 22 w 313"/>
              <a:gd name="T41" fmla="*/ 252 h 370"/>
              <a:gd name="T42" fmla="*/ 14 w 313"/>
              <a:gd name="T43" fmla="*/ 304 h 370"/>
              <a:gd name="T44" fmla="*/ 17 w 313"/>
              <a:gd name="T45" fmla="*/ 322 h 370"/>
              <a:gd name="T46" fmla="*/ 29 w 313"/>
              <a:gd name="T47" fmla="*/ 342 h 370"/>
              <a:gd name="T48" fmla="*/ 48 w 313"/>
              <a:gd name="T49" fmla="*/ 356 h 370"/>
              <a:gd name="T50" fmla="*/ 52 w 313"/>
              <a:gd name="T51" fmla="*/ 360 h 370"/>
              <a:gd name="T52" fmla="*/ 52 w 313"/>
              <a:gd name="T53" fmla="*/ 365 h 370"/>
              <a:gd name="T54" fmla="*/ 48 w 313"/>
              <a:gd name="T55" fmla="*/ 369 h 370"/>
              <a:gd name="T56" fmla="*/ 42 w 313"/>
              <a:gd name="T57" fmla="*/ 369 h 370"/>
              <a:gd name="T58" fmla="*/ 25 w 313"/>
              <a:gd name="T59" fmla="*/ 359 h 370"/>
              <a:gd name="T60" fmla="*/ 7 w 313"/>
              <a:gd name="T61" fmla="*/ 336 h 370"/>
              <a:gd name="T62" fmla="*/ 0 w 313"/>
              <a:gd name="T63" fmla="*/ 305 h 370"/>
              <a:gd name="T64" fmla="*/ 0 w 313"/>
              <a:gd name="T65" fmla="*/ 286 h 370"/>
              <a:gd name="T66" fmla="*/ 15 w 313"/>
              <a:gd name="T67" fmla="*/ 227 h 370"/>
              <a:gd name="T68" fmla="*/ 36 w 313"/>
              <a:gd name="T69" fmla="*/ 188 h 370"/>
              <a:gd name="T70" fmla="*/ 62 w 313"/>
              <a:gd name="T71" fmla="*/ 152 h 370"/>
              <a:gd name="T72" fmla="*/ 110 w 313"/>
              <a:gd name="T73" fmla="*/ 105 h 370"/>
              <a:gd name="T74" fmla="*/ 146 w 313"/>
              <a:gd name="T75" fmla="*/ 79 h 370"/>
              <a:gd name="T76" fmla="*/ 204 w 313"/>
              <a:gd name="T77" fmla="*/ 47 h 370"/>
              <a:gd name="T78" fmla="*/ 244 w 313"/>
              <a:gd name="T79" fmla="*/ 30 h 370"/>
              <a:gd name="T80" fmla="*/ 286 w 313"/>
              <a:gd name="T81" fmla="*/ 17 h 370"/>
              <a:gd name="T82" fmla="*/ 259 w 313"/>
              <a:gd name="T83" fmla="*/ 15 h 370"/>
              <a:gd name="T84" fmla="*/ 203 w 313"/>
              <a:gd name="T85" fmla="*/ 17 h 370"/>
              <a:gd name="T86" fmla="*/ 198 w 313"/>
              <a:gd name="T87" fmla="*/ 16 h 370"/>
              <a:gd name="T88" fmla="*/ 194 w 313"/>
              <a:gd name="T89" fmla="*/ 12 h 370"/>
              <a:gd name="T90" fmla="*/ 195 w 313"/>
              <a:gd name="T91" fmla="*/ 6 h 370"/>
              <a:gd name="T92" fmla="*/ 200 w 313"/>
              <a:gd name="T93" fmla="*/ 3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13" h="370">
                <a:moveTo>
                  <a:pt x="200" y="3"/>
                </a:moveTo>
                <a:lnTo>
                  <a:pt x="200" y="3"/>
                </a:lnTo>
                <a:lnTo>
                  <a:pt x="209" y="1"/>
                </a:lnTo>
                <a:lnTo>
                  <a:pt x="222" y="0"/>
                </a:lnTo>
                <a:lnTo>
                  <a:pt x="239" y="0"/>
                </a:lnTo>
                <a:lnTo>
                  <a:pt x="260" y="0"/>
                </a:lnTo>
                <a:lnTo>
                  <a:pt x="260" y="0"/>
                </a:lnTo>
                <a:lnTo>
                  <a:pt x="279" y="1"/>
                </a:lnTo>
                <a:lnTo>
                  <a:pt x="294" y="3"/>
                </a:lnTo>
                <a:lnTo>
                  <a:pt x="294" y="3"/>
                </a:lnTo>
                <a:lnTo>
                  <a:pt x="301" y="5"/>
                </a:lnTo>
                <a:lnTo>
                  <a:pt x="306" y="8"/>
                </a:lnTo>
                <a:lnTo>
                  <a:pt x="306" y="8"/>
                </a:lnTo>
                <a:lnTo>
                  <a:pt x="310" y="10"/>
                </a:lnTo>
                <a:lnTo>
                  <a:pt x="312" y="13"/>
                </a:lnTo>
                <a:lnTo>
                  <a:pt x="313" y="17"/>
                </a:lnTo>
                <a:lnTo>
                  <a:pt x="313" y="20"/>
                </a:lnTo>
                <a:lnTo>
                  <a:pt x="313" y="20"/>
                </a:lnTo>
                <a:lnTo>
                  <a:pt x="310" y="28"/>
                </a:lnTo>
                <a:lnTo>
                  <a:pt x="303" y="39"/>
                </a:lnTo>
                <a:lnTo>
                  <a:pt x="303" y="39"/>
                </a:lnTo>
                <a:lnTo>
                  <a:pt x="287" y="60"/>
                </a:lnTo>
                <a:lnTo>
                  <a:pt x="287" y="60"/>
                </a:lnTo>
                <a:lnTo>
                  <a:pt x="259" y="98"/>
                </a:lnTo>
                <a:lnTo>
                  <a:pt x="259" y="98"/>
                </a:lnTo>
                <a:lnTo>
                  <a:pt x="257" y="101"/>
                </a:lnTo>
                <a:lnTo>
                  <a:pt x="254" y="102"/>
                </a:lnTo>
                <a:lnTo>
                  <a:pt x="254" y="102"/>
                </a:lnTo>
                <a:lnTo>
                  <a:pt x="251" y="102"/>
                </a:lnTo>
                <a:lnTo>
                  <a:pt x="249" y="101"/>
                </a:lnTo>
                <a:lnTo>
                  <a:pt x="249" y="101"/>
                </a:lnTo>
                <a:lnTo>
                  <a:pt x="247" y="99"/>
                </a:lnTo>
                <a:lnTo>
                  <a:pt x="245" y="97"/>
                </a:lnTo>
                <a:lnTo>
                  <a:pt x="245" y="97"/>
                </a:lnTo>
                <a:lnTo>
                  <a:pt x="245" y="94"/>
                </a:lnTo>
                <a:lnTo>
                  <a:pt x="246" y="92"/>
                </a:lnTo>
                <a:lnTo>
                  <a:pt x="246" y="92"/>
                </a:lnTo>
                <a:lnTo>
                  <a:pt x="255" y="78"/>
                </a:lnTo>
                <a:lnTo>
                  <a:pt x="276" y="51"/>
                </a:lnTo>
                <a:lnTo>
                  <a:pt x="276" y="51"/>
                </a:lnTo>
                <a:lnTo>
                  <a:pt x="292" y="31"/>
                </a:lnTo>
                <a:lnTo>
                  <a:pt x="292" y="31"/>
                </a:lnTo>
                <a:lnTo>
                  <a:pt x="271" y="37"/>
                </a:lnTo>
                <a:lnTo>
                  <a:pt x="250" y="43"/>
                </a:lnTo>
                <a:lnTo>
                  <a:pt x="230" y="51"/>
                </a:lnTo>
                <a:lnTo>
                  <a:pt x="211" y="60"/>
                </a:lnTo>
                <a:lnTo>
                  <a:pt x="211" y="60"/>
                </a:lnTo>
                <a:lnTo>
                  <a:pt x="192" y="69"/>
                </a:lnTo>
                <a:lnTo>
                  <a:pt x="173" y="79"/>
                </a:lnTo>
                <a:lnTo>
                  <a:pt x="155" y="90"/>
                </a:lnTo>
                <a:lnTo>
                  <a:pt x="137" y="102"/>
                </a:lnTo>
                <a:lnTo>
                  <a:pt x="137" y="102"/>
                </a:lnTo>
                <a:lnTo>
                  <a:pt x="120" y="115"/>
                </a:lnTo>
                <a:lnTo>
                  <a:pt x="104" y="129"/>
                </a:lnTo>
                <a:lnTo>
                  <a:pt x="88" y="144"/>
                </a:lnTo>
                <a:lnTo>
                  <a:pt x="74" y="161"/>
                </a:lnTo>
                <a:lnTo>
                  <a:pt x="74" y="161"/>
                </a:lnTo>
                <a:lnTo>
                  <a:pt x="60" y="178"/>
                </a:lnTo>
                <a:lnTo>
                  <a:pt x="48" y="196"/>
                </a:lnTo>
                <a:lnTo>
                  <a:pt x="38" y="214"/>
                </a:lnTo>
                <a:lnTo>
                  <a:pt x="29" y="233"/>
                </a:lnTo>
                <a:lnTo>
                  <a:pt x="29" y="233"/>
                </a:lnTo>
                <a:lnTo>
                  <a:pt x="22" y="252"/>
                </a:lnTo>
                <a:lnTo>
                  <a:pt x="17" y="270"/>
                </a:lnTo>
                <a:lnTo>
                  <a:pt x="15" y="287"/>
                </a:lnTo>
                <a:lnTo>
                  <a:pt x="14" y="304"/>
                </a:lnTo>
                <a:lnTo>
                  <a:pt x="14" y="304"/>
                </a:lnTo>
                <a:lnTo>
                  <a:pt x="15" y="313"/>
                </a:lnTo>
                <a:lnTo>
                  <a:pt x="17" y="322"/>
                </a:lnTo>
                <a:lnTo>
                  <a:pt x="20" y="329"/>
                </a:lnTo>
                <a:lnTo>
                  <a:pt x="24" y="336"/>
                </a:lnTo>
                <a:lnTo>
                  <a:pt x="29" y="342"/>
                </a:lnTo>
                <a:lnTo>
                  <a:pt x="34" y="347"/>
                </a:lnTo>
                <a:lnTo>
                  <a:pt x="41" y="352"/>
                </a:lnTo>
                <a:lnTo>
                  <a:pt x="48" y="356"/>
                </a:lnTo>
                <a:lnTo>
                  <a:pt x="48" y="356"/>
                </a:lnTo>
                <a:lnTo>
                  <a:pt x="50" y="357"/>
                </a:lnTo>
                <a:lnTo>
                  <a:pt x="52" y="360"/>
                </a:lnTo>
                <a:lnTo>
                  <a:pt x="52" y="360"/>
                </a:lnTo>
                <a:lnTo>
                  <a:pt x="52" y="362"/>
                </a:lnTo>
                <a:lnTo>
                  <a:pt x="52" y="365"/>
                </a:lnTo>
                <a:lnTo>
                  <a:pt x="52" y="365"/>
                </a:lnTo>
                <a:lnTo>
                  <a:pt x="50" y="367"/>
                </a:lnTo>
                <a:lnTo>
                  <a:pt x="48" y="369"/>
                </a:lnTo>
                <a:lnTo>
                  <a:pt x="48" y="369"/>
                </a:lnTo>
                <a:lnTo>
                  <a:pt x="45" y="370"/>
                </a:lnTo>
                <a:lnTo>
                  <a:pt x="42" y="369"/>
                </a:lnTo>
                <a:lnTo>
                  <a:pt x="42" y="369"/>
                </a:lnTo>
                <a:lnTo>
                  <a:pt x="33" y="365"/>
                </a:lnTo>
                <a:lnTo>
                  <a:pt x="25" y="359"/>
                </a:lnTo>
                <a:lnTo>
                  <a:pt x="18" y="352"/>
                </a:lnTo>
                <a:lnTo>
                  <a:pt x="12" y="345"/>
                </a:lnTo>
                <a:lnTo>
                  <a:pt x="7" y="336"/>
                </a:lnTo>
                <a:lnTo>
                  <a:pt x="3" y="327"/>
                </a:lnTo>
                <a:lnTo>
                  <a:pt x="1" y="316"/>
                </a:lnTo>
                <a:lnTo>
                  <a:pt x="0" y="305"/>
                </a:lnTo>
                <a:lnTo>
                  <a:pt x="0" y="305"/>
                </a:lnTo>
                <a:lnTo>
                  <a:pt x="0" y="296"/>
                </a:lnTo>
                <a:lnTo>
                  <a:pt x="0" y="286"/>
                </a:lnTo>
                <a:lnTo>
                  <a:pt x="3" y="267"/>
                </a:lnTo>
                <a:lnTo>
                  <a:pt x="8" y="248"/>
                </a:lnTo>
                <a:lnTo>
                  <a:pt x="15" y="227"/>
                </a:lnTo>
                <a:lnTo>
                  <a:pt x="15" y="227"/>
                </a:lnTo>
                <a:lnTo>
                  <a:pt x="25" y="207"/>
                </a:lnTo>
                <a:lnTo>
                  <a:pt x="36" y="188"/>
                </a:lnTo>
                <a:lnTo>
                  <a:pt x="48" y="170"/>
                </a:lnTo>
                <a:lnTo>
                  <a:pt x="62" y="152"/>
                </a:lnTo>
                <a:lnTo>
                  <a:pt x="62" y="152"/>
                </a:lnTo>
                <a:lnTo>
                  <a:pt x="78" y="135"/>
                </a:lnTo>
                <a:lnTo>
                  <a:pt x="93" y="119"/>
                </a:lnTo>
                <a:lnTo>
                  <a:pt x="110" y="105"/>
                </a:lnTo>
                <a:lnTo>
                  <a:pt x="128" y="91"/>
                </a:lnTo>
                <a:lnTo>
                  <a:pt x="128" y="91"/>
                </a:lnTo>
                <a:lnTo>
                  <a:pt x="146" y="79"/>
                </a:lnTo>
                <a:lnTo>
                  <a:pt x="165" y="67"/>
                </a:lnTo>
                <a:lnTo>
                  <a:pt x="184" y="57"/>
                </a:lnTo>
                <a:lnTo>
                  <a:pt x="204" y="47"/>
                </a:lnTo>
                <a:lnTo>
                  <a:pt x="204" y="47"/>
                </a:lnTo>
                <a:lnTo>
                  <a:pt x="224" y="38"/>
                </a:lnTo>
                <a:lnTo>
                  <a:pt x="244" y="30"/>
                </a:lnTo>
                <a:lnTo>
                  <a:pt x="265" y="23"/>
                </a:lnTo>
                <a:lnTo>
                  <a:pt x="286" y="17"/>
                </a:lnTo>
                <a:lnTo>
                  <a:pt x="286" y="17"/>
                </a:lnTo>
                <a:lnTo>
                  <a:pt x="274" y="16"/>
                </a:lnTo>
                <a:lnTo>
                  <a:pt x="259" y="15"/>
                </a:lnTo>
                <a:lnTo>
                  <a:pt x="259" y="15"/>
                </a:lnTo>
                <a:lnTo>
                  <a:pt x="224" y="15"/>
                </a:lnTo>
                <a:lnTo>
                  <a:pt x="212" y="15"/>
                </a:lnTo>
                <a:lnTo>
                  <a:pt x="203" y="17"/>
                </a:lnTo>
                <a:lnTo>
                  <a:pt x="203" y="17"/>
                </a:lnTo>
                <a:lnTo>
                  <a:pt x="200" y="17"/>
                </a:lnTo>
                <a:lnTo>
                  <a:pt x="198" y="16"/>
                </a:lnTo>
                <a:lnTo>
                  <a:pt x="198" y="16"/>
                </a:lnTo>
                <a:lnTo>
                  <a:pt x="196" y="14"/>
                </a:lnTo>
                <a:lnTo>
                  <a:pt x="194" y="12"/>
                </a:lnTo>
                <a:lnTo>
                  <a:pt x="194" y="12"/>
                </a:lnTo>
                <a:lnTo>
                  <a:pt x="194" y="9"/>
                </a:lnTo>
                <a:lnTo>
                  <a:pt x="195" y="6"/>
                </a:lnTo>
                <a:lnTo>
                  <a:pt x="195" y="6"/>
                </a:lnTo>
                <a:lnTo>
                  <a:pt x="197" y="4"/>
                </a:lnTo>
                <a:lnTo>
                  <a:pt x="200" y="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sz="2400" kern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70521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30674-D1A4-F5B2-CC36-D08CF896F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1291C53-5547-6E99-DA20-B338FE613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318819" y="-1015180"/>
            <a:ext cx="3554361" cy="12192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0316C7A-340B-F04F-109E-F3376215E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 flipV="1">
            <a:off x="4381500" y="-4381500"/>
            <a:ext cx="3429000" cy="12192000"/>
          </a:xfrm>
          <a:prstGeom prst="rect">
            <a:avLst/>
          </a:prstGeom>
        </p:spPr>
      </p:pic>
      <p:sp>
        <p:nvSpPr>
          <p:cNvPr id="10" name="箭头: V 形 9">
            <a:extLst>
              <a:ext uri="{FF2B5EF4-FFF2-40B4-BE49-F238E27FC236}">
                <a16:creationId xmlns:a16="http://schemas.microsoft.com/office/drawing/2014/main" id="{4A13CC01-2ACB-9F3F-EDE8-EB909C98C2A3}"/>
              </a:ext>
            </a:extLst>
          </p:cNvPr>
          <p:cNvSpPr/>
          <p:nvPr/>
        </p:nvSpPr>
        <p:spPr>
          <a:xfrm rot="5400000">
            <a:off x="5980133" y="6005258"/>
            <a:ext cx="231732" cy="538620"/>
          </a:xfrm>
          <a:prstGeom prst="chevron">
            <a:avLst>
              <a:gd name="adj" fmla="val 768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DE7859F-D67D-B50A-C5A2-950586384251}"/>
              </a:ext>
            </a:extLst>
          </p:cNvPr>
          <p:cNvSpPr txBox="1"/>
          <p:nvPr/>
        </p:nvSpPr>
        <p:spPr>
          <a:xfrm>
            <a:off x="2521214" y="2235481"/>
            <a:ext cx="40233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gradFill>
                  <a:gsLst>
                    <a:gs pos="0">
                      <a:srgbClr val="E1EDFB"/>
                    </a:gs>
                    <a:gs pos="100000">
                      <a:srgbClr val="F0F6FD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Part 04</a:t>
            </a:r>
            <a:endParaRPr lang="zh-CN" altLang="en-US" sz="13800" dirty="0">
              <a:gradFill>
                <a:gsLst>
                  <a:gs pos="0">
                    <a:srgbClr val="E1EDFB"/>
                  </a:gs>
                  <a:gs pos="100000">
                    <a:srgbClr val="F0F6FD"/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0268B47-CA55-4692-778D-19449566C1B6}"/>
              </a:ext>
            </a:extLst>
          </p:cNvPr>
          <p:cNvSpPr txBox="1"/>
          <p:nvPr/>
        </p:nvSpPr>
        <p:spPr>
          <a:xfrm>
            <a:off x="5418361" y="2472642"/>
            <a:ext cx="48913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ln w="3175">
                  <a:noFill/>
                </a:ln>
                <a:solidFill>
                  <a:srgbClr val="F8FBFE"/>
                </a:solidFill>
                <a:cs typeface="+mn-ea"/>
                <a:sym typeface="+mn-lt"/>
              </a:rPr>
              <a:t>成果与展望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D149F802-C05F-3AF4-207B-4851212F3741}"/>
              </a:ext>
            </a:extLst>
          </p:cNvPr>
          <p:cNvSpPr/>
          <p:nvPr/>
        </p:nvSpPr>
        <p:spPr>
          <a:xfrm>
            <a:off x="6338814" y="3206462"/>
            <a:ext cx="30504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Glimpse</a:t>
            </a:r>
          </a:p>
        </p:txBody>
      </p:sp>
    </p:spTree>
    <p:extLst>
      <p:ext uri="{BB962C8B-B14F-4D97-AF65-F5344CB8AC3E}">
        <p14:creationId xmlns:p14="http://schemas.microsoft.com/office/powerpoint/2010/main" val="90388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dir="in"/>
      </p:transition>
    </mc:Choice>
    <mc:Fallback xmlns:p15="http://schemas.microsoft.com/office/powerpoint/2012/main" xmlns="">
      <p:transition spd="slow">
        <p:split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3" grpId="0"/>
      <p:bldP spid="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420BC-EABC-DA44-DDB9-B266D8387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, Teams&#10;&#10;AI 生成的内容可能不正确。">
            <a:extLst>
              <a:ext uri="{FF2B5EF4-FFF2-40B4-BE49-F238E27FC236}">
                <a16:creationId xmlns:a16="http://schemas.microsoft.com/office/drawing/2014/main" id="{7A782CDD-203A-C972-C190-BC15282F5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74" y="0"/>
            <a:ext cx="5724286" cy="6858000"/>
          </a:xfrm>
          <a:prstGeom prst="rect">
            <a:avLst/>
          </a:prstGeom>
        </p:spPr>
      </p:pic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69ED42B8-0A3F-12E2-E2AB-B3C02EA6C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8419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216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67D9B-4156-94A2-3A38-5F6DC755F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0EE13E35-9AD8-20C0-EA4E-A9B4E3ADD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67" y="0"/>
            <a:ext cx="5105688" cy="6858000"/>
          </a:xfrm>
          <a:prstGeom prst="rect">
            <a:avLst/>
          </a:prstGeom>
        </p:spPr>
      </p:pic>
      <p:pic>
        <p:nvPicPr>
          <p:cNvPr id="6" name="图片 5" descr="图形用户界面, 图表, 应用程序&#10;&#10;AI 生成的内容可能不正确。">
            <a:extLst>
              <a:ext uri="{FF2B5EF4-FFF2-40B4-BE49-F238E27FC236}">
                <a16:creationId xmlns:a16="http://schemas.microsoft.com/office/drawing/2014/main" id="{834F5F27-F764-53B6-4DCC-B68A6D8FE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476" y="0"/>
            <a:ext cx="58950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14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0C9C9-DD0F-8A65-4D35-690790E82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形用户界面, 图表, 应用程序&#10;&#10;AI 生成的内容可能不正确。">
            <a:extLst>
              <a:ext uri="{FF2B5EF4-FFF2-40B4-BE49-F238E27FC236}">
                <a16:creationId xmlns:a16="http://schemas.microsoft.com/office/drawing/2014/main" id="{86113C45-0336-935C-F102-C5C660EB4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95036" cy="6858000"/>
          </a:xfrm>
          <a:prstGeom prst="rect">
            <a:avLst/>
          </a:prstGeom>
        </p:spPr>
      </p:pic>
      <p:pic>
        <p:nvPicPr>
          <p:cNvPr id="13" name="图片 1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163A8DD4-CAC5-2E98-D86E-869BC1421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194" y="-46049"/>
            <a:ext cx="47579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40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E5A81-3B2C-4C33-2D71-37AA520C6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, 表格, Excel&#10;&#10;AI 生成的内容可能不正确。">
            <a:extLst>
              <a:ext uri="{FF2B5EF4-FFF2-40B4-BE49-F238E27FC236}">
                <a16:creationId xmlns:a16="http://schemas.microsoft.com/office/drawing/2014/main" id="{E548FCA3-824C-5F99-EEB4-C3844E811C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-78" b="48681"/>
          <a:stretch>
            <a:fillRect/>
          </a:stretch>
        </p:blipFill>
        <p:spPr>
          <a:xfrm>
            <a:off x="480041" y="-36473"/>
            <a:ext cx="5236604" cy="6894473"/>
          </a:xfrm>
          <a:prstGeom prst="rect">
            <a:avLst/>
          </a:prstGeom>
        </p:spPr>
      </p:pic>
      <p:pic>
        <p:nvPicPr>
          <p:cNvPr id="5" name="图片 4" descr="图形用户界面, 应用程序, 表格, Excel&#10;&#10;AI 生成的内容可能不正确。">
            <a:extLst>
              <a:ext uri="{FF2B5EF4-FFF2-40B4-BE49-F238E27FC236}">
                <a16:creationId xmlns:a16="http://schemas.microsoft.com/office/drawing/2014/main" id="{B34CDE5A-6A39-EF16-15EA-59F570A1BB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51127" r="-78"/>
          <a:stretch>
            <a:fillRect/>
          </a:stretch>
        </p:blipFill>
        <p:spPr>
          <a:xfrm>
            <a:off x="6161783" y="0"/>
            <a:ext cx="54695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096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5B2EC-E0F4-A071-DE54-95C2AE2EB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3047DBA4-D959-E3C5-A06F-573A8018BDBD}"/>
              </a:ext>
            </a:extLst>
          </p:cNvPr>
          <p:cNvGrpSpPr/>
          <p:nvPr/>
        </p:nvGrpSpPr>
        <p:grpSpPr>
          <a:xfrm>
            <a:off x="0" y="-80578"/>
            <a:ext cx="12192001" cy="6865604"/>
            <a:chOff x="0" y="-64953"/>
            <a:chExt cx="12192001" cy="6865604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D50F50A2-E7FA-64B4-CA1D-7919BA521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4318820" y="-1072529"/>
              <a:ext cx="3554361" cy="12192000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BFA99C8D-9D30-42D8-484A-7E404E546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 flipH="1" flipV="1">
              <a:off x="4381500" y="-4446453"/>
              <a:ext cx="3429000" cy="12192000"/>
            </a:xfrm>
            <a:prstGeom prst="rect">
              <a:avLst/>
            </a:prstGeom>
          </p:spPr>
        </p:pic>
      </p:grpSp>
      <p:sp>
        <p:nvSpPr>
          <p:cNvPr id="2" name="Google Shape;86;p19">
            <a:extLst>
              <a:ext uri="{FF2B5EF4-FFF2-40B4-BE49-F238E27FC236}">
                <a16:creationId xmlns:a16="http://schemas.microsoft.com/office/drawing/2014/main" id="{2F0058BF-570E-A449-EF0D-A7A862568B72}"/>
              </a:ext>
            </a:extLst>
          </p:cNvPr>
          <p:cNvSpPr txBox="1"/>
          <p:nvPr/>
        </p:nvSpPr>
        <p:spPr>
          <a:xfrm>
            <a:off x="542368" y="3074095"/>
            <a:ext cx="2432522" cy="686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zh-CN" altLang="en-US" sz="4000" b="1" dirty="0">
                <a:solidFill>
                  <a:schemeClr val="bg1">
                    <a:lumMod val="95000"/>
                  </a:schemeClr>
                </a:solidFill>
              </a:rPr>
              <a:t>应用场景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0AECF9-80AE-FBA9-FAAF-5BB4699E5BB6}"/>
              </a:ext>
            </a:extLst>
          </p:cNvPr>
          <p:cNvSpPr txBox="1"/>
          <p:nvPr/>
        </p:nvSpPr>
        <p:spPr>
          <a:xfrm>
            <a:off x="5212299" y="1862111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开源社区管理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  洞察社区结构与演化趋势</a:t>
            </a:r>
          </a:p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 制定社区发展策略</a:t>
            </a:r>
          </a:p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 监测社区健康状况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60CFC6-06A6-28CD-AB34-88D27FD24B66}"/>
              </a:ext>
            </a:extLst>
          </p:cNvPr>
          <p:cNvSpPr txBox="1"/>
          <p:nvPr/>
        </p:nvSpPr>
        <p:spPr>
          <a:xfrm>
            <a:off x="3136260" y="3626547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贡献者分析</a:t>
            </a:r>
            <a:r>
              <a:rPr lang="zh-CN" altLang="en-US" sz="2000" dirty="0">
                <a:solidFill>
                  <a:schemeClr val="bg1"/>
                </a:solidFill>
              </a:rPr>
              <a:t>   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识别核心贡献者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追踪贡献者成长路径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展示开发者贡献价值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6639DA5-2051-E0C1-06A6-8E44EBBF1A93}"/>
              </a:ext>
            </a:extLst>
          </p:cNvPr>
          <p:cNvSpPr txBox="1"/>
          <p:nvPr/>
        </p:nvSpPr>
        <p:spPr>
          <a:xfrm>
            <a:off x="7074364" y="3856146"/>
            <a:ext cx="6302122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buNone/>
            </a:pPr>
            <a:r>
              <a:rPr lang="zh-CN" altLang="en-US" sz="2000" b="1" dirty="0">
                <a:solidFill>
                  <a:schemeClr val="bg1"/>
                </a:solidFill>
                <a:effectLst/>
                <a:latin typeface="JetBrains Mono"/>
              </a:rPr>
              <a:t>协作优化</a:t>
            </a:r>
            <a:endParaRPr lang="en-US" altLang="zh-CN" sz="2000" b="1" dirty="0">
              <a:solidFill>
                <a:schemeClr val="bg1"/>
              </a:solidFill>
              <a:effectLst/>
              <a:latin typeface="JetBrains Mono"/>
            </a:endParaRPr>
          </a:p>
          <a:p>
            <a:pPr algn="ctr">
              <a:lnSpc>
                <a:spcPts val="1650"/>
              </a:lnSpc>
              <a:buNone/>
            </a:pPr>
            <a:r>
              <a:rPr lang="zh-CN" altLang="en-US" sz="2000" b="0" dirty="0">
                <a:solidFill>
                  <a:schemeClr val="bg1"/>
                </a:solidFill>
                <a:effectLst/>
                <a:latin typeface="JetBrains Mono"/>
              </a:rPr>
              <a:t>揭示协作瓶颈</a:t>
            </a:r>
          </a:p>
          <a:p>
            <a:pPr algn="ctr">
              <a:lnSpc>
                <a:spcPts val="1650"/>
              </a:lnSpc>
              <a:buNone/>
            </a:pPr>
            <a:r>
              <a:rPr lang="zh-CN" altLang="en-US" sz="2000" b="0" dirty="0">
                <a:solidFill>
                  <a:schemeClr val="bg1"/>
                </a:solidFill>
                <a:effectLst/>
                <a:latin typeface="JetBrains Mono"/>
              </a:rPr>
              <a:t>促进跨领域高效合作</a:t>
            </a:r>
          </a:p>
          <a:p>
            <a:pPr algn="ctr">
              <a:lnSpc>
                <a:spcPts val="1650"/>
              </a:lnSpc>
              <a:buNone/>
            </a:pPr>
            <a:r>
              <a:rPr lang="zh-CN" altLang="en-US" sz="2000" b="0" dirty="0">
                <a:solidFill>
                  <a:schemeClr val="bg1"/>
                </a:solidFill>
                <a:effectLst/>
                <a:latin typeface="JetBrains Mono"/>
              </a:rPr>
              <a:t>发现关键连接点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03C6C51-773F-705F-73DF-C036FE4315E6}"/>
              </a:ext>
            </a:extLst>
          </p:cNvPr>
          <p:cNvSpPr/>
          <p:nvPr/>
        </p:nvSpPr>
        <p:spPr>
          <a:xfrm>
            <a:off x="-1191790" y="1745422"/>
            <a:ext cx="9143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8000" b="1" spc="300" dirty="0" err="1">
                <a:solidFill>
                  <a:schemeClr val="bg1"/>
                </a:solidFill>
                <a:cs typeface="+mn-ea"/>
                <a:sym typeface="+mn-lt"/>
              </a:rPr>
              <a:t>OpenSaga</a:t>
            </a:r>
            <a:endParaRPr lang="zh-CN" altLang="en-US" sz="8000" b="1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8061F614-3B81-778C-2B4B-002091EF7086}"/>
              </a:ext>
            </a:extLst>
          </p:cNvPr>
          <p:cNvSpPr>
            <a:spLocks noEditPoints="1"/>
          </p:cNvSpPr>
          <p:nvPr/>
        </p:nvSpPr>
        <p:spPr bwMode="auto">
          <a:xfrm>
            <a:off x="7584915" y="3377518"/>
            <a:ext cx="1247594" cy="1264089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255" y="135"/>
              </a:cxn>
              <a:cxn ang="0">
                <a:pos x="277" y="122"/>
              </a:cxn>
              <a:cxn ang="0">
                <a:pos x="303" y="116"/>
              </a:cxn>
              <a:cxn ang="0">
                <a:pos x="296" y="105"/>
              </a:cxn>
              <a:cxn ang="0">
                <a:pos x="278" y="89"/>
              </a:cxn>
              <a:cxn ang="0">
                <a:pos x="265" y="90"/>
              </a:cxn>
              <a:cxn ang="0">
                <a:pos x="256" y="82"/>
              </a:cxn>
              <a:cxn ang="0">
                <a:pos x="231" y="73"/>
              </a:cxn>
              <a:cxn ang="0">
                <a:pos x="234" y="98"/>
              </a:cxn>
              <a:cxn ang="0">
                <a:pos x="224" y="118"/>
              </a:cxn>
              <a:cxn ang="0">
                <a:pos x="205" y="103"/>
              </a:cxn>
              <a:cxn ang="0">
                <a:pos x="175" y="89"/>
              </a:cxn>
              <a:cxn ang="0">
                <a:pos x="183" y="68"/>
              </a:cxn>
              <a:cxn ang="0">
                <a:pos x="212" y="58"/>
              </a:cxn>
              <a:cxn ang="0">
                <a:pos x="207" y="47"/>
              </a:cxn>
              <a:cxn ang="0">
                <a:pos x="188" y="50"/>
              </a:cxn>
              <a:cxn ang="0">
                <a:pos x="168" y="37"/>
              </a:cxn>
              <a:cxn ang="0">
                <a:pos x="171" y="52"/>
              </a:cxn>
              <a:cxn ang="0">
                <a:pos x="157" y="52"/>
              </a:cxn>
              <a:cxn ang="0">
                <a:pos x="141" y="40"/>
              </a:cxn>
              <a:cxn ang="0">
                <a:pos x="126" y="47"/>
              </a:cxn>
              <a:cxn ang="0">
                <a:pos x="143" y="51"/>
              </a:cxn>
              <a:cxn ang="0">
                <a:pos x="131" y="58"/>
              </a:cxn>
              <a:cxn ang="0">
                <a:pos x="56" y="107"/>
              </a:cxn>
              <a:cxn ang="0">
                <a:pos x="65" y="118"/>
              </a:cxn>
              <a:cxn ang="0">
                <a:pos x="79" y="135"/>
              </a:cxn>
              <a:cxn ang="0">
                <a:pos x="74" y="158"/>
              </a:cxn>
              <a:cxn ang="0">
                <a:pos x="88" y="185"/>
              </a:cxn>
              <a:cxn ang="0">
                <a:pos x="108" y="214"/>
              </a:cxn>
              <a:cxn ang="0">
                <a:pos x="118" y="227"/>
              </a:cxn>
              <a:cxn ang="0">
                <a:pos x="105" y="197"/>
              </a:cxn>
              <a:cxn ang="0">
                <a:pos x="125" y="225"/>
              </a:cxn>
              <a:cxn ang="0">
                <a:pos x="150" y="255"/>
              </a:cxn>
              <a:cxn ang="0">
                <a:pos x="184" y="269"/>
              </a:cxn>
              <a:cxn ang="0">
                <a:pos x="213" y="290"/>
              </a:cxn>
              <a:cxn ang="0">
                <a:pos x="224" y="288"/>
              </a:cxn>
              <a:cxn ang="0">
                <a:pos x="212" y="268"/>
              </a:cxn>
              <a:cxn ang="0">
                <a:pos x="197" y="262"/>
              </a:cxn>
              <a:cxn ang="0">
                <a:pos x="194" y="239"/>
              </a:cxn>
              <a:cxn ang="0">
                <a:pos x="171" y="250"/>
              </a:cxn>
              <a:cxn ang="0">
                <a:pos x="168" y="210"/>
              </a:cxn>
              <a:cxn ang="0">
                <a:pos x="184" y="206"/>
              </a:cxn>
              <a:cxn ang="0">
                <a:pos x="196" y="202"/>
              </a:cxn>
              <a:cxn ang="0">
                <a:pos x="214" y="211"/>
              </a:cxn>
              <a:cxn ang="0">
                <a:pos x="221" y="205"/>
              </a:cxn>
              <a:cxn ang="0">
                <a:pos x="234" y="179"/>
              </a:cxn>
              <a:cxn ang="0">
                <a:pos x="233" y="171"/>
              </a:cxn>
              <a:cxn ang="0">
                <a:pos x="252" y="157"/>
              </a:cxn>
              <a:cxn ang="0">
                <a:pos x="266" y="143"/>
              </a:cxn>
              <a:cxn ang="0">
                <a:pos x="273" y="131"/>
              </a:cxn>
              <a:cxn ang="0">
                <a:pos x="255" y="135"/>
              </a:cxn>
              <a:cxn ang="0">
                <a:pos x="295" y="298"/>
              </a:cxn>
              <a:cxn ang="0">
                <a:pos x="272" y="288"/>
              </a:cxn>
              <a:cxn ang="0">
                <a:pos x="251" y="288"/>
              </a:cxn>
              <a:cxn ang="0">
                <a:pos x="236" y="286"/>
              </a:cxn>
              <a:cxn ang="0">
                <a:pos x="230" y="307"/>
              </a:cxn>
              <a:cxn ang="0">
                <a:pos x="223" y="335"/>
              </a:cxn>
              <a:cxn ang="0">
                <a:pos x="308" y="302"/>
              </a:cxn>
            </a:cxnLst>
            <a:rect l="0" t="0" r="r" b="b"/>
            <a:pathLst>
              <a:path w="384" h="384">
                <a:moveTo>
                  <a:pt x="384" y="192"/>
                </a:moveTo>
                <a:cubicBezTo>
                  <a:pt x="384" y="298"/>
                  <a:pt x="298" y="384"/>
                  <a:pt x="192" y="384"/>
                </a:cubicBezTo>
                <a:cubicBezTo>
                  <a:pt x="86" y="384"/>
                  <a:pt x="0" y="298"/>
                  <a:pt x="0" y="192"/>
                </a:cubicBezTo>
                <a:cubicBezTo>
                  <a:pt x="0" y="86"/>
                  <a:pt x="86" y="0"/>
                  <a:pt x="192" y="0"/>
                </a:cubicBezTo>
                <a:cubicBezTo>
                  <a:pt x="298" y="0"/>
                  <a:pt x="384" y="86"/>
                  <a:pt x="384" y="192"/>
                </a:cubicBezTo>
                <a:close/>
                <a:moveTo>
                  <a:pt x="255" y="135"/>
                </a:moveTo>
                <a:cubicBezTo>
                  <a:pt x="256" y="135"/>
                  <a:pt x="257" y="130"/>
                  <a:pt x="258" y="129"/>
                </a:cubicBezTo>
                <a:cubicBezTo>
                  <a:pt x="260" y="127"/>
                  <a:pt x="262" y="126"/>
                  <a:pt x="264" y="125"/>
                </a:cubicBezTo>
                <a:cubicBezTo>
                  <a:pt x="268" y="124"/>
                  <a:pt x="272" y="123"/>
                  <a:pt x="277" y="122"/>
                </a:cubicBezTo>
                <a:cubicBezTo>
                  <a:pt x="281" y="121"/>
                  <a:pt x="286" y="121"/>
                  <a:pt x="289" y="125"/>
                </a:cubicBezTo>
                <a:cubicBezTo>
                  <a:pt x="289" y="124"/>
                  <a:pt x="295" y="119"/>
                  <a:pt x="295" y="119"/>
                </a:cubicBezTo>
                <a:cubicBezTo>
                  <a:pt x="298" y="118"/>
                  <a:pt x="301" y="118"/>
                  <a:pt x="303" y="116"/>
                </a:cubicBezTo>
                <a:cubicBezTo>
                  <a:pt x="303" y="115"/>
                  <a:pt x="303" y="110"/>
                  <a:pt x="303" y="110"/>
                </a:cubicBezTo>
                <a:cubicBezTo>
                  <a:pt x="299" y="111"/>
                  <a:pt x="298" y="107"/>
                  <a:pt x="297" y="103"/>
                </a:cubicBezTo>
                <a:cubicBezTo>
                  <a:pt x="297" y="104"/>
                  <a:pt x="297" y="104"/>
                  <a:pt x="296" y="105"/>
                </a:cubicBezTo>
                <a:cubicBezTo>
                  <a:pt x="296" y="102"/>
                  <a:pt x="291" y="104"/>
                  <a:pt x="290" y="104"/>
                </a:cubicBezTo>
                <a:cubicBezTo>
                  <a:pt x="284" y="102"/>
                  <a:pt x="285" y="98"/>
                  <a:pt x="283" y="94"/>
                </a:cubicBezTo>
                <a:cubicBezTo>
                  <a:pt x="282" y="92"/>
                  <a:pt x="279" y="91"/>
                  <a:pt x="278" y="89"/>
                </a:cubicBezTo>
                <a:cubicBezTo>
                  <a:pt x="277" y="87"/>
                  <a:pt x="277" y="84"/>
                  <a:pt x="274" y="84"/>
                </a:cubicBezTo>
                <a:cubicBezTo>
                  <a:pt x="273" y="84"/>
                  <a:pt x="270" y="89"/>
                  <a:pt x="270" y="89"/>
                </a:cubicBezTo>
                <a:cubicBezTo>
                  <a:pt x="267" y="88"/>
                  <a:pt x="266" y="89"/>
                  <a:pt x="265" y="90"/>
                </a:cubicBezTo>
                <a:cubicBezTo>
                  <a:pt x="263" y="91"/>
                  <a:pt x="262" y="91"/>
                  <a:pt x="260" y="92"/>
                </a:cubicBezTo>
                <a:cubicBezTo>
                  <a:pt x="265" y="90"/>
                  <a:pt x="258" y="88"/>
                  <a:pt x="256" y="88"/>
                </a:cubicBezTo>
                <a:cubicBezTo>
                  <a:pt x="260" y="87"/>
                  <a:pt x="258" y="83"/>
                  <a:pt x="256" y="82"/>
                </a:cubicBezTo>
                <a:cubicBezTo>
                  <a:pt x="256" y="82"/>
                  <a:pt x="257" y="82"/>
                  <a:pt x="257" y="82"/>
                </a:cubicBezTo>
                <a:cubicBezTo>
                  <a:pt x="257" y="79"/>
                  <a:pt x="250" y="77"/>
                  <a:pt x="247" y="76"/>
                </a:cubicBezTo>
                <a:cubicBezTo>
                  <a:pt x="245" y="74"/>
                  <a:pt x="233" y="72"/>
                  <a:pt x="231" y="73"/>
                </a:cubicBezTo>
                <a:cubicBezTo>
                  <a:pt x="228" y="75"/>
                  <a:pt x="231" y="80"/>
                  <a:pt x="231" y="83"/>
                </a:cubicBezTo>
                <a:cubicBezTo>
                  <a:pt x="232" y="86"/>
                  <a:pt x="228" y="86"/>
                  <a:pt x="228" y="89"/>
                </a:cubicBezTo>
                <a:cubicBezTo>
                  <a:pt x="228" y="93"/>
                  <a:pt x="236" y="92"/>
                  <a:pt x="234" y="98"/>
                </a:cubicBezTo>
                <a:cubicBezTo>
                  <a:pt x="233" y="102"/>
                  <a:pt x="228" y="102"/>
                  <a:pt x="226" y="105"/>
                </a:cubicBezTo>
                <a:cubicBezTo>
                  <a:pt x="224" y="108"/>
                  <a:pt x="227" y="112"/>
                  <a:pt x="229" y="114"/>
                </a:cubicBezTo>
                <a:cubicBezTo>
                  <a:pt x="231" y="115"/>
                  <a:pt x="225" y="118"/>
                  <a:pt x="224" y="118"/>
                </a:cubicBezTo>
                <a:cubicBezTo>
                  <a:pt x="220" y="120"/>
                  <a:pt x="217" y="114"/>
                  <a:pt x="216" y="110"/>
                </a:cubicBezTo>
                <a:cubicBezTo>
                  <a:pt x="215" y="108"/>
                  <a:pt x="215" y="104"/>
                  <a:pt x="212" y="103"/>
                </a:cubicBezTo>
                <a:cubicBezTo>
                  <a:pt x="210" y="102"/>
                  <a:pt x="206" y="102"/>
                  <a:pt x="205" y="103"/>
                </a:cubicBezTo>
                <a:cubicBezTo>
                  <a:pt x="203" y="99"/>
                  <a:pt x="198" y="98"/>
                  <a:pt x="194" y="97"/>
                </a:cubicBezTo>
                <a:cubicBezTo>
                  <a:pt x="189" y="95"/>
                  <a:pt x="185" y="95"/>
                  <a:pt x="180" y="96"/>
                </a:cubicBezTo>
                <a:cubicBezTo>
                  <a:pt x="181" y="95"/>
                  <a:pt x="179" y="88"/>
                  <a:pt x="175" y="89"/>
                </a:cubicBezTo>
                <a:cubicBezTo>
                  <a:pt x="176" y="86"/>
                  <a:pt x="176" y="84"/>
                  <a:pt x="176" y="81"/>
                </a:cubicBezTo>
                <a:cubicBezTo>
                  <a:pt x="177" y="79"/>
                  <a:pt x="178" y="77"/>
                  <a:pt x="179" y="75"/>
                </a:cubicBezTo>
                <a:cubicBezTo>
                  <a:pt x="180" y="74"/>
                  <a:pt x="185" y="69"/>
                  <a:pt x="183" y="68"/>
                </a:cubicBezTo>
                <a:cubicBezTo>
                  <a:pt x="188" y="69"/>
                  <a:pt x="193" y="69"/>
                  <a:pt x="196" y="66"/>
                </a:cubicBezTo>
                <a:cubicBezTo>
                  <a:pt x="198" y="63"/>
                  <a:pt x="199" y="60"/>
                  <a:pt x="202" y="57"/>
                </a:cubicBezTo>
                <a:cubicBezTo>
                  <a:pt x="205" y="53"/>
                  <a:pt x="209" y="58"/>
                  <a:pt x="212" y="58"/>
                </a:cubicBezTo>
                <a:cubicBezTo>
                  <a:pt x="217" y="59"/>
                  <a:pt x="217" y="53"/>
                  <a:pt x="214" y="51"/>
                </a:cubicBezTo>
                <a:cubicBezTo>
                  <a:pt x="218" y="51"/>
                  <a:pt x="215" y="45"/>
                  <a:pt x="213" y="44"/>
                </a:cubicBezTo>
                <a:cubicBezTo>
                  <a:pt x="211" y="43"/>
                  <a:pt x="202" y="46"/>
                  <a:pt x="207" y="47"/>
                </a:cubicBezTo>
                <a:cubicBezTo>
                  <a:pt x="206" y="47"/>
                  <a:pt x="200" y="59"/>
                  <a:pt x="196" y="53"/>
                </a:cubicBezTo>
                <a:cubicBezTo>
                  <a:pt x="195" y="52"/>
                  <a:pt x="195" y="47"/>
                  <a:pt x="193" y="46"/>
                </a:cubicBezTo>
                <a:cubicBezTo>
                  <a:pt x="190" y="46"/>
                  <a:pt x="189" y="49"/>
                  <a:pt x="188" y="50"/>
                </a:cubicBezTo>
                <a:cubicBezTo>
                  <a:pt x="190" y="47"/>
                  <a:pt x="181" y="45"/>
                  <a:pt x="180" y="44"/>
                </a:cubicBezTo>
                <a:cubicBezTo>
                  <a:pt x="183" y="42"/>
                  <a:pt x="180" y="39"/>
                  <a:pt x="178" y="38"/>
                </a:cubicBezTo>
                <a:cubicBezTo>
                  <a:pt x="176" y="36"/>
                  <a:pt x="169" y="35"/>
                  <a:pt x="168" y="37"/>
                </a:cubicBezTo>
                <a:cubicBezTo>
                  <a:pt x="163" y="43"/>
                  <a:pt x="173" y="44"/>
                  <a:pt x="175" y="45"/>
                </a:cubicBezTo>
                <a:cubicBezTo>
                  <a:pt x="176" y="46"/>
                  <a:pt x="179" y="48"/>
                  <a:pt x="177" y="49"/>
                </a:cubicBezTo>
                <a:cubicBezTo>
                  <a:pt x="176" y="50"/>
                  <a:pt x="171" y="51"/>
                  <a:pt x="171" y="52"/>
                </a:cubicBezTo>
                <a:cubicBezTo>
                  <a:pt x="169" y="54"/>
                  <a:pt x="172" y="57"/>
                  <a:pt x="170" y="59"/>
                </a:cubicBezTo>
                <a:cubicBezTo>
                  <a:pt x="168" y="57"/>
                  <a:pt x="168" y="53"/>
                  <a:pt x="166" y="50"/>
                </a:cubicBezTo>
                <a:cubicBezTo>
                  <a:pt x="168" y="53"/>
                  <a:pt x="157" y="52"/>
                  <a:pt x="157" y="52"/>
                </a:cubicBezTo>
                <a:cubicBezTo>
                  <a:pt x="154" y="52"/>
                  <a:pt x="148" y="54"/>
                  <a:pt x="145" y="50"/>
                </a:cubicBezTo>
                <a:cubicBezTo>
                  <a:pt x="144" y="49"/>
                  <a:pt x="144" y="44"/>
                  <a:pt x="146" y="45"/>
                </a:cubicBezTo>
                <a:cubicBezTo>
                  <a:pt x="144" y="43"/>
                  <a:pt x="142" y="41"/>
                  <a:pt x="141" y="40"/>
                </a:cubicBezTo>
                <a:cubicBezTo>
                  <a:pt x="132" y="43"/>
                  <a:pt x="125" y="47"/>
                  <a:pt x="117" y="51"/>
                </a:cubicBezTo>
                <a:cubicBezTo>
                  <a:pt x="118" y="51"/>
                  <a:pt x="119" y="51"/>
                  <a:pt x="120" y="50"/>
                </a:cubicBezTo>
                <a:cubicBezTo>
                  <a:pt x="122" y="50"/>
                  <a:pt x="124" y="48"/>
                  <a:pt x="126" y="47"/>
                </a:cubicBezTo>
                <a:cubicBezTo>
                  <a:pt x="128" y="46"/>
                  <a:pt x="134" y="43"/>
                  <a:pt x="136" y="46"/>
                </a:cubicBezTo>
                <a:cubicBezTo>
                  <a:pt x="137" y="45"/>
                  <a:pt x="137" y="45"/>
                  <a:pt x="138" y="44"/>
                </a:cubicBezTo>
                <a:cubicBezTo>
                  <a:pt x="139" y="46"/>
                  <a:pt x="141" y="48"/>
                  <a:pt x="143" y="51"/>
                </a:cubicBezTo>
                <a:cubicBezTo>
                  <a:pt x="141" y="50"/>
                  <a:pt x="137" y="50"/>
                  <a:pt x="135" y="50"/>
                </a:cubicBezTo>
                <a:cubicBezTo>
                  <a:pt x="133" y="51"/>
                  <a:pt x="130" y="51"/>
                  <a:pt x="130" y="53"/>
                </a:cubicBezTo>
                <a:cubicBezTo>
                  <a:pt x="130" y="55"/>
                  <a:pt x="131" y="57"/>
                  <a:pt x="131" y="58"/>
                </a:cubicBezTo>
                <a:cubicBezTo>
                  <a:pt x="128" y="56"/>
                  <a:pt x="125" y="52"/>
                  <a:pt x="121" y="51"/>
                </a:cubicBezTo>
                <a:cubicBezTo>
                  <a:pt x="119" y="51"/>
                  <a:pt x="117" y="51"/>
                  <a:pt x="115" y="52"/>
                </a:cubicBezTo>
                <a:cubicBezTo>
                  <a:pt x="91" y="65"/>
                  <a:pt x="71" y="84"/>
                  <a:pt x="56" y="107"/>
                </a:cubicBezTo>
                <a:cubicBezTo>
                  <a:pt x="57" y="108"/>
                  <a:pt x="58" y="109"/>
                  <a:pt x="59" y="109"/>
                </a:cubicBezTo>
                <a:cubicBezTo>
                  <a:pt x="62" y="110"/>
                  <a:pt x="59" y="117"/>
                  <a:pt x="64" y="113"/>
                </a:cubicBezTo>
                <a:cubicBezTo>
                  <a:pt x="66" y="115"/>
                  <a:pt x="66" y="116"/>
                  <a:pt x="65" y="118"/>
                </a:cubicBezTo>
                <a:cubicBezTo>
                  <a:pt x="65" y="118"/>
                  <a:pt x="75" y="124"/>
                  <a:pt x="76" y="125"/>
                </a:cubicBezTo>
                <a:cubicBezTo>
                  <a:pt x="78" y="126"/>
                  <a:pt x="80" y="128"/>
                  <a:pt x="81" y="130"/>
                </a:cubicBezTo>
                <a:cubicBezTo>
                  <a:pt x="82" y="132"/>
                  <a:pt x="80" y="134"/>
                  <a:pt x="79" y="135"/>
                </a:cubicBezTo>
                <a:cubicBezTo>
                  <a:pt x="78" y="134"/>
                  <a:pt x="75" y="130"/>
                  <a:pt x="74" y="131"/>
                </a:cubicBezTo>
                <a:cubicBezTo>
                  <a:pt x="73" y="133"/>
                  <a:pt x="74" y="139"/>
                  <a:pt x="77" y="139"/>
                </a:cubicBezTo>
                <a:cubicBezTo>
                  <a:pt x="73" y="139"/>
                  <a:pt x="75" y="155"/>
                  <a:pt x="74" y="158"/>
                </a:cubicBezTo>
                <a:cubicBezTo>
                  <a:pt x="74" y="158"/>
                  <a:pt x="74" y="158"/>
                  <a:pt x="74" y="158"/>
                </a:cubicBezTo>
                <a:cubicBezTo>
                  <a:pt x="73" y="161"/>
                  <a:pt x="76" y="173"/>
                  <a:pt x="81" y="172"/>
                </a:cubicBezTo>
                <a:cubicBezTo>
                  <a:pt x="78" y="172"/>
                  <a:pt x="87" y="184"/>
                  <a:pt x="88" y="185"/>
                </a:cubicBezTo>
                <a:cubicBezTo>
                  <a:pt x="91" y="187"/>
                  <a:pt x="95" y="188"/>
                  <a:pt x="97" y="192"/>
                </a:cubicBezTo>
                <a:cubicBezTo>
                  <a:pt x="100" y="195"/>
                  <a:pt x="100" y="201"/>
                  <a:pt x="103" y="203"/>
                </a:cubicBezTo>
                <a:cubicBezTo>
                  <a:pt x="102" y="206"/>
                  <a:pt x="108" y="210"/>
                  <a:pt x="108" y="214"/>
                </a:cubicBezTo>
                <a:cubicBezTo>
                  <a:pt x="108" y="214"/>
                  <a:pt x="107" y="214"/>
                  <a:pt x="107" y="215"/>
                </a:cubicBezTo>
                <a:cubicBezTo>
                  <a:pt x="108" y="218"/>
                  <a:pt x="113" y="218"/>
                  <a:pt x="115" y="221"/>
                </a:cubicBezTo>
                <a:cubicBezTo>
                  <a:pt x="116" y="223"/>
                  <a:pt x="115" y="228"/>
                  <a:pt x="118" y="227"/>
                </a:cubicBezTo>
                <a:cubicBezTo>
                  <a:pt x="118" y="222"/>
                  <a:pt x="115" y="216"/>
                  <a:pt x="112" y="212"/>
                </a:cubicBezTo>
                <a:cubicBezTo>
                  <a:pt x="110" y="209"/>
                  <a:pt x="109" y="207"/>
                  <a:pt x="108" y="204"/>
                </a:cubicBezTo>
                <a:cubicBezTo>
                  <a:pt x="106" y="202"/>
                  <a:pt x="106" y="199"/>
                  <a:pt x="105" y="197"/>
                </a:cubicBezTo>
                <a:cubicBezTo>
                  <a:pt x="106" y="197"/>
                  <a:pt x="112" y="199"/>
                  <a:pt x="111" y="200"/>
                </a:cubicBezTo>
                <a:cubicBezTo>
                  <a:pt x="109" y="205"/>
                  <a:pt x="119" y="214"/>
                  <a:pt x="122" y="217"/>
                </a:cubicBezTo>
                <a:cubicBezTo>
                  <a:pt x="123" y="218"/>
                  <a:pt x="128" y="225"/>
                  <a:pt x="125" y="225"/>
                </a:cubicBezTo>
                <a:cubicBezTo>
                  <a:pt x="129" y="225"/>
                  <a:pt x="133" y="230"/>
                  <a:pt x="135" y="233"/>
                </a:cubicBezTo>
                <a:cubicBezTo>
                  <a:pt x="137" y="236"/>
                  <a:pt x="136" y="241"/>
                  <a:pt x="138" y="245"/>
                </a:cubicBezTo>
                <a:cubicBezTo>
                  <a:pt x="139" y="250"/>
                  <a:pt x="146" y="252"/>
                  <a:pt x="150" y="255"/>
                </a:cubicBezTo>
                <a:cubicBezTo>
                  <a:pt x="154" y="256"/>
                  <a:pt x="157" y="259"/>
                  <a:pt x="160" y="260"/>
                </a:cubicBezTo>
                <a:cubicBezTo>
                  <a:pt x="166" y="262"/>
                  <a:pt x="167" y="260"/>
                  <a:pt x="171" y="260"/>
                </a:cubicBezTo>
                <a:cubicBezTo>
                  <a:pt x="178" y="259"/>
                  <a:pt x="179" y="266"/>
                  <a:pt x="184" y="269"/>
                </a:cubicBezTo>
                <a:cubicBezTo>
                  <a:pt x="187" y="270"/>
                  <a:pt x="194" y="273"/>
                  <a:pt x="198" y="271"/>
                </a:cubicBezTo>
                <a:cubicBezTo>
                  <a:pt x="196" y="272"/>
                  <a:pt x="203" y="282"/>
                  <a:pt x="204" y="283"/>
                </a:cubicBezTo>
                <a:cubicBezTo>
                  <a:pt x="206" y="286"/>
                  <a:pt x="210" y="287"/>
                  <a:pt x="213" y="290"/>
                </a:cubicBezTo>
                <a:cubicBezTo>
                  <a:pt x="213" y="290"/>
                  <a:pt x="214" y="289"/>
                  <a:pt x="214" y="288"/>
                </a:cubicBezTo>
                <a:cubicBezTo>
                  <a:pt x="213" y="291"/>
                  <a:pt x="218" y="296"/>
                  <a:pt x="221" y="296"/>
                </a:cubicBezTo>
                <a:cubicBezTo>
                  <a:pt x="223" y="295"/>
                  <a:pt x="224" y="290"/>
                  <a:pt x="224" y="288"/>
                </a:cubicBezTo>
                <a:cubicBezTo>
                  <a:pt x="219" y="290"/>
                  <a:pt x="215" y="288"/>
                  <a:pt x="212" y="283"/>
                </a:cubicBezTo>
                <a:cubicBezTo>
                  <a:pt x="211" y="282"/>
                  <a:pt x="207" y="275"/>
                  <a:pt x="211" y="275"/>
                </a:cubicBezTo>
                <a:cubicBezTo>
                  <a:pt x="216" y="275"/>
                  <a:pt x="212" y="271"/>
                  <a:pt x="212" y="268"/>
                </a:cubicBezTo>
                <a:cubicBezTo>
                  <a:pt x="211" y="264"/>
                  <a:pt x="208" y="262"/>
                  <a:pt x="206" y="259"/>
                </a:cubicBezTo>
                <a:cubicBezTo>
                  <a:pt x="205" y="262"/>
                  <a:pt x="200" y="261"/>
                  <a:pt x="198" y="259"/>
                </a:cubicBezTo>
                <a:cubicBezTo>
                  <a:pt x="198" y="259"/>
                  <a:pt x="197" y="261"/>
                  <a:pt x="197" y="262"/>
                </a:cubicBezTo>
                <a:cubicBezTo>
                  <a:pt x="196" y="262"/>
                  <a:pt x="195" y="262"/>
                  <a:pt x="194" y="261"/>
                </a:cubicBezTo>
                <a:cubicBezTo>
                  <a:pt x="194" y="258"/>
                  <a:pt x="194" y="255"/>
                  <a:pt x="195" y="251"/>
                </a:cubicBezTo>
                <a:cubicBezTo>
                  <a:pt x="196" y="247"/>
                  <a:pt x="205" y="238"/>
                  <a:pt x="194" y="239"/>
                </a:cubicBezTo>
                <a:cubicBezTo>
                  <a:pt x="190" y="239"/>
                  <a:pt x="188" y="240"/>
                  <a:pt x="187" y="244"/>
                </a:cubicBezTo>
                <a:cubicBezTo>
                  <a:pt x="186" y="247"/>
                  <a:pt x="186" y="249"/>
                  <a:pt x="183" y="251"/>
                </a:cubicBezTo>
                <a:cubicBezTo>
                  <a:pt x="181" y="252"/>
                  <a:pt x="173" y="251"/>
                  <a:pt x="171" y="250"/>
                </a:cubicBezTo>
                <a:cubicBezTo>
                  <a:pt x="166" y="247"/>
                  <a:pt x="163" y="239"/>
                  <a:pt x="163" y="234"/>
                </a:cubicBezTo>
                <a:cubicBezTo>
                  <a:pt x="163" y="227"/>
                  <a:pt x="166" y="221"/>
                  <a:pt x="163" y="215"/>
                </a:cubicBezTo>
                <a:cubicBezTo>
                  <a:pt x="164" y="213"/>
                  <a:pt x="166" y="211"/>
                  <a:pt x="168" y="210"/>
                </a:cubicBezTo>
                <a:cubicBezTo>
                  <a:pt x="169" y="209"/>
                  <a:pt x="171" y="210"/>
                  <a:pt x="172" y="207"/>
                </a:cubicBezTo>
                <a:cubicBezTo>
                  <a:pt x="171" y="207"/>
                  <a:pt x="170" y="206"/>
                  <a:pt x="170" y="206"/>
                </a:cubicBezTo>
                <a:cubicBezTo>
                  <a:pt x="173" y="208"/>
                  <a:pt x="180" y="203"/>
                  <a:pt x="184" y="206"/>
                </a:cubicBezTo>
                <a:cubicBezTo>
                  <a:pt x="186" y="207"/>
                  <a:pt x="188" y="208"/>
                  <a:pt x="189" y="205"/>
                </a:cubicBezTo>
                <a:cubicBezTo>
                  <a:pt x="189" y="205"/>
                  <a:pt x="187" y="202"/>
                  <a:pt x="188" y="200"/>
                </a:cubicBezTo>
                <a:cubicBezTo>
                  <a:pt x="189" y="204"/>
                  <a:pt x="192" y="205"/>
                  <a:pt x="196" y="202"/>
                </a:cubicBezTo>
                <a:cubicBezTo>
                  <a:pt x="197" y="203"/>
                  <a:pt x="201" y="203"/>
                  <a:pt x="204" y="204"/>
                </a:cubicBezTo>
                <a:cubicBezTo>
                  <a:pt x="207" y="206"/>
                  <a:pt x="207" y="209"/>
                  <a:pt x="211" y="205"/>
                </a:cubicBezTo>
                <a:cubicBezTo>
                  <a:pt x="213" y="208"/>
                  <a:pt x="213" y="208"/>
                  <a:pt x="214" y="211"/>
                </a:cubicBezTo>
                <a:cubicBezTo>
                  <a:pt x="214" y="214"/>
                  <a:pt x="216" y="221"/>
                  <a:pt x="218" y="222"/>
                </a:cubicBezTo>
                <a:cubicBezTo>
                  <a:pt x="224" y="225"/>
                  <a:pt x="222" y="217"/>
                  <a:pt x="222" y="214"/>
                </a:cubicBezTo>
                <a:cubicBezTo>
                  <a:pt x="222" y="213"/>
                  <a:pt x="222" y="205"/>
                  <a:pt x="221" y="205"/>
                </a:cubicBezTo>
                <a:cubicBezTo>
                  <a:pt x="213" y="203"/>
                  <a:pt x="216" y="197"/>
                  <a:pt x="221" y="193"/>
                </a:cubicBezTo>
                <a:cubicBezTo>
                  <a:pt x="222" y="192"/>
                  <a:pt x="227" y="190"/>
                  <a:pt x="230" y="188"/>
                </a:cubicBezTo>
                <a:cubicBezTo>
                  <a:pt x="232" y="186"/>
                  <a:pt x="235" y="183"/>
                  <a:pt x="234" y="179"/>
                </a:cubicBezTo>
                <a:cubicBezTo>
                  <a:pt x="235" y="179"/>
                  <a:pt x="236" y="178"/>
                  <a:pt x="236" y="177"/>
                </a:cubicBezTo>
                <a:cubicBezTo>
                  <a:pt x="236" y="177"/>
                  <a:pt x="233" y="174"/>
                  <a:pt x="232" y="175"/>
                </a:cubicBezTo>
                <a:cubicBezTo>
                  <a:pt x="234" y="174"/>
                  <a:pt x="234" y="172"/>
                  <a:pt x="233" y="171"/>
                </a:cubicBezTo>
                <a:cubicBezTo>
                  <a:pt x="235" y="169"/>
                  <a:pt x="234" y="166"/>
                  <a:pt x="236" y="165"/>
                </a:cubicBezTo>
                <a:cubicBezTo>
                  <a:pt x="239" y="169"/>
                  <a:pt x="245" y="165"/>
                  <a:pt x="242" y="162"/>
                </a:cubicBezTo>
                <a:cubicBezTo>
                  <a:pt x="244" y="158"/>
                  <a:pt x="250" y="160"/>
                  <a:pt x="252" y="157"/>
                </a:cubicBezTo>
                <a:cubicBezTo>
                  <a:pt x="255" y="158"/>
                  <a:pt x="253" y="153"/>
                  <a:pt x="255" y="150"/>
                </a:cubicBezTo>
                <a:cubicBezTo>
                  <a:pt x="256" y="148"/>
                  <a:pt x="259" y="148"/>
                  <a:pt x="262" y="147"/>
                </a:cubicBezTo>
                <a:cubicBezTo>
                  <a:pt x="262" y="147"/>
                  <a:pt x="268" y="143"/>
                  <a:pt x="266" y="143"/>
                </a:cubicBezTo>
                <a:cubicBezTo>
                  <a:pt x="270" y="144"/>
                  <a:pt x="279" y="139"/>
                  <a:pt x="272" y="135"/>
                </a:cubicBezTo>
                <a:cubicBezTo>
                  <a:pt x="273" y="133"/>
                  <a:pt x="270" y="132"/>
                  <a:pt x="268" y="132"/>
                </a:cubicBezTo>
                <a:cubicBezTo>
                  <a:pt x="269" y="131"/>
                  <a:pt x="272" y="132"/>
                  <a:pt x="273" y="131"/>
                </a:cubicBezTo>
                <a:cubicBezTo>
                  <a:pt x="276" y="129"/>
                  <a:pt x="274" y="128"/>
                  <a:pt x="271" y="127"/>
                </a:cubicBezTo>
                <a:cubicBezTo>
                  <a:pt x="268" y="126"/>
                  <a:pt x="263" y="128"/>
                  <a:pt x="261" y="130"/>
                </a:cubicBezTo>
                <a:cubicBezTo>
                  <a:pt x="259" y="132"/>
                  <a:pt x="257" y="134"/>
                  <a:pt x="255" y="135"/>
                </a:cubicBezTo>
                <a:close/>
                <a:moveTo>
                  <a:pt x="308" y="302"/>
                </a:moveTo>
                <a:cubicBezTo>
                  <a:pt x="306" y="301"/>
                  <a:pt x="303" y="301"/>
                  <a:pt x="301" y="300"/>
                </a:cubicBezTo>
                <a:cubicBezTo>
                  <a:pt x="299" y="300"/>
                  <a:pt x="298" y="299"/>
                  <a:pt x="295" y="298"/>
                </a:cubicBezTo>
                <a:cubicBezTo>
                  <a:pt x="296" y="293"/>
                  <a:pt x="290" y="292"/>
                  <a:pt x="287" y="289"/>
                </a:cubicBezTo>
                <a:cubicBezTo>
                  <a:pt x="284" y="287"/>
                  <a:pt x="282" y="284"/>
                  <a:pt x="277" y="285"/>
                </a:cubicBezTo>
                <a:cubicBezTo>
                  <a:pt x="276" y="285"/>
                  <a:pt x="271" y="287"/>
                  <a:pt x="272" y="288"/>
                </a:cubicBezTo>
                <a:cubicBezTo>
                  <a:pt x="269" y="285"/>
                  <a:pt x="268" y="284"/>
                  <a:pt x="263" y="282"/>
                </a:cubicBezTo>
                <a:cubicBezTo>
                  <a:pt x="259" y="281"/>
                  <a:pt x="257" y="276"/>
                  <a:pt x="253" y="281"/>
                </a:cubicBezTo>
                <a:cubicBezTo>
                  <a:pt x="251" y="283"/>
                  <a:pt x="252" y="286"/>
                  <a:pt x="251" y="288"/>
                </a:cubicBezTo>
                <a:cubicBezTo>
                  <a:pt x="247" y="285"/>
                  <a:pt x="254" y="282"/>
                  <a:pt x="251" y="279"/>
                </a:cubicBezTo>
                <a:cubicBezTo>
                  <a:pt x="248" y="275"/>
                  <a:pt x="243" y="281"/>
                  <a:pt x="240" y="282"/>
                </a:cubicBezTo>
                <a:cubicBezTo>
                  <a:pt x="239" y="284"/>
                  <a:pt x="237" y="284"/>
                  <a:pt x="236" y="286"/>
                </a:cubicBezTo>
                <a:cubicBezTo>
                  <a:pt x="235" y="287"/>
                  <a:pt x="234" y="290"/>
                  <a:pt x="233" y="291"/>
                </a:cubicBezTo>
                <a:cubicBezTo>
                  <a:pt x="233" y="289"/>
                  <a:pt x="228" y="290"/>
                  <a:pt x="228" y="288"/>
                </a:cubicBezTo>
                <a:cubicBezTo>
                  <a:pt x="229" y="294"/>
                  <a:pt x="229" y="301"/>
                  <a:pt x="230" y="307"/>
                </a:cubicBezTo>
                <a:cubicBezTo>
                  <a:pt x="231" y="310"/>
                  <a:pt x="230" y="316"/>
                  <a:pt x="227" y="319"/>
                </a:cubicBezTo>
                <a:cubicBezTo>
                  <a:pt x="224" y="321"/>
                  <a:pt x="221" y="324"/>
                  <a:pt x="220" y="329"/>
                </a:cubicBezTo>
                <a:cubicBezTo>
                  <a:pt x="220" y="332"/>
                  <a:pt x="220" y="334"/>
                  <a:pt x="223" y="335"/>
                </a:cubicBezTo>
                <a:cubicBezTo>
                  <a:pt x="223" y="339"/>
                  <a:pt x="219" y="342"/>
                  <a:pt x="219" y="346"/>
                </a:cubicBezTo>
                <a:cubicBezTo>
                  <a:pt x="219" y="346"/>
                  <a:pt x="220" y="348"/>
                  <a:pt x="220" y="350"/>
                </a:cubicBezTo>
                <a:cubicBezTo>
                  <a:pt x="254" y="344"/>
                  <a:pt x="285" y="327"/>
                  <a:pt x="308" y="302"/>
                </a:cubicBezTo>
                <a:close/>
              </a:path>
            </a:pathLst>
          </a:custGeom>
          <a:solidFill>
            <a:srgbClr val="D0E1EB"/>
          </a:solidFill>
          <a:ln w="9525">
            <a:noFill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02493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C355C-57D7-22CD-0854-52AEE435B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BA1026FA-80EF-9550-6DCA-E8587AAAA2F7}"/>
              </a:ext>
            </a:extLst>
          </p:cNvPr>
          <p:cNvGrpSpPr/>
          <p:nvPr/>
        </p:nvGrpSpPr>
        <p:grpSpPr>
          <a:xfrm rot="18557420">
            <a:off x="2367705" y="4915656"/>
            <a:ext cx="12919498" cy="3440672"/>
            <a:chOff x="-5617185" y="3802512"/>
            <a:chExt cx="12919498" cy="3440672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B9DEBD19-EB54-5FDF-E27A-AD0E0AD58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7835760">
              <a:off x="-2102071" y="835154"/>
              <a:ext cx="2892916" cy="9923144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37BE1FAC-3D34-E0A6-6A42-97A46B08D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7892325">
              <a:off x="894283" y="287398"/>
              <a:ext cx="2892916" cy="9923144"/>
            </a:xfrm>
            <a:prstGeom prst="rect">
              <a:avLst/>
            </a:prstGeom>
          </p:spPr>
        </p:pic>
      </p:grpSp>
      <p:sp>
        <p:nvSpPr>
          <p:cNvPr id="27" name="Google Shape;86;p19">
            <a:extLst>
              <a:ext uri="{FF2B5EF4-FFF2-40B4-BE49-F238E27FC236}">
                <a16:creationId xmlns:a16="http://schemas.microsoft.com/office/drawing/2014/main" id="{275D3B00-1F2B-BB14-DF45-FDAF8D4A46C5}"/>
              </a:ext>
            </a:extLst>
          </p:cNvPr>
          <p:cNvSpPr txBox="1"/>
          <p:nvPr/>
        </p:nvSpPr>
        <p:spPr>
          <a:xfrm>
            <a:off x="4244572" y="177191"/>
            <a:ext cx="3276037" cy="686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zh-CN" altLang="en-US" sz="4000" b="1" dirty="0">
                <a:solidFill>
                  <a:schemeClr val="bg1">
                    <a:lumMod val="95000"/>
                  </a:schemeClr>
                </a:solidFill>
              </a:rPr>
              <a:t>项目核心价值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716335-F0A7-446C-26F9-483160BBF20A}"/>
              </a:ext>
            </a:extLst>
          </p:cNvPr>
          <p:cNvSpPr txBox="1"/>
          <p:nvPr/>
        </p:nvSpPr>
        <p:spPr>
          <a:xfrm>
            <a:off x="-125897" y="1167123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技术价值</a:t>
            </a:r>
            <a:r>
              <a:rPr lang="en-US" altLang="zh-CN" b="1" dirty="0">
                <a:solidFill>
                  <a:schemeClr val="bg1"/>
                </a:solidFill>
              </a:rPr>
              <a:t>——</a:t>
            </a:r>
            <a:r>
              <a:rPr lang="zh-CN" altLang="en-US" b="1" dirty="0">
                <a:solidFill>
                  <a:schemeClr val="bg1"/>
                </a:solidFill>
              </a:rPr>
              <a:t>开源协作网络分析的完整解决方案</a:t>
            </a: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方法论创新 ：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整合了网络科学、社区检测和时间序列分析，形成了一套完整的开源协作网络研究框架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技术栈示范 ：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展示了如何将Python、</a:t>
            </a:r>
            <a:r>
              <a:rPr lang="en-US" altLang="zh-CN" dirty="0" err="1">
                <a:solidFill>
                  <a:schemeClr val="bg1"/>
                </a:solidFill>
              </a:rPr>
              <a:t>EasyGraph</a:t>
            </a:r>
            <a:r>
              <a:rPr lang="zh-CN" altLang="en-US" dirty="0">
                <a:solidFill>
                  <a:schemeClr val="bg1"/>
                </a:solidFill>
              </a:rPr>
              <a:t>数据处理和图构建与现代Web可视化相结合，构建高效的数据分析可视化平台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可复用组件 ：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核心功能模块化设计，便于其他开源项目复用和扩展 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356204-B8BB-8977-69CD-462F8B94F68F}"/>
              </a:ext>
            </a:extLst>
          </p:cNvPr>
          <p:cNvSpPr txBox="1"/>
          <p:nvPr/>
        </p:nvSpPr>
        <p:spPr>
          <a:xfrm>
            <a:off x="6407425" y="1667119"/>
            <a:ext cx="618876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社区价值</a:t>
            </a:r>
            <a:r>
              <a:rPr lang="en-US" altLang="zh-CN" b="1" dirty="0">
                <a:solidFill>
                  <a:schemeClr val="bg1"/>
                </a:solidFill>
              </a:rPr>
              <a:t>——</a:t>
            </a:r>
            <a:r>
              <a:rPr lang="zh-CN" altLang="en-US" b="1" dirty="0">
                <a:solidFill>
                  <a:schemeClr val="bg1"/>
                </a:solidFill>
              </a:rPr>
              <a:t>赋能开源生态健康发展</a:t>
            </a: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社区洞察 ：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帮助开源社区管理者理解社区结构、演化趋势和核心贡献者，制定更有效的社区发展策略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贡献者激励 ：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通过数据可视化展示开发者的贡献和影响力，增强开发者的归属感和成就感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协作优化 ：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揭示协作模式和瓶颈，促进更高效的跨领域合作 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3B14F6B-DEDF-DF97-496A-9B4829C1B179}"/>
              </a:ext>
            </a:extLst>
          </p:cNvPr>
          <p:cNvSpPr txBox="1"/>
          <p:nvPr/>
        </p:nvSpPr>
        <p:spPr>
          <a:xfrm>
            <a:off x="1615383" y="437248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商业价值</a:t>
            </a:r>
            <a:r>
              <a:rPr lang="en-US" altLang="zh-CN" b="1" dirty="0">
                <a:solidFill>
                  <a:schemeClr val="bg1"/>
                </a:solidFill>
              </a:rPr>
              <a:t>——</a:t>
            </a:r>
            <a:r>
              <a:rPr lang="zh-CN" altLang="en-US" b="1" dirty="0">
                <a:solidFill>
                  <a:schemeClr val="bg1"/>
                </a:solidFill>
              </a:rPr>
              <a:t>辅助开源人才战略决策</a:t>
            </a: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人才发现 ：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识别具有影响力的开源开发者和技术专家，为企业招聘提供数据支持合作机会 ：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发现不同技术领域之间的协作机会，辅助企业制定技术合作和生态战略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风险预警 ：监测社区活跃度和核心开发者流动情况，提前预警潜在的社区健康问题</a:t>
            </a:r>
          </a:p>
        </p:txBody>
      </p:sp>
      <p:sp>
        <p:nvSpPr>
          <p:cNvPr id="12" name="Freeform 2591">
            <a:extLst>
              <a:ext uri="{FF2B5EF4-FFF2-40B4-BE49-F238E27FC236}">
                <a16:creationId xmlns:a16="http://schemas.microsoft.com/office/drawing/2014/main" id="{710CE927-318B-B544-C7E8-CA41B7FB1CF0}"/>
              </a:ext>
            </a:extLst>
          </p:cNvPr>
          <p:cNvSpPr/>
          <p:nvPr/>
        </p:nvSpPr>
        <p:spPr bwMode="auto">
          <a:xfrm rot="4780852">
            <a:off x="6010924" y="645738"/>
            <a:ext cx="913910" cy="1625341"/>
          </a:xfrm>
          <a:custGeom>
            <a:avLst/>
            <a:gdLst>
              <a:gd name="T0" fmla="*/ 209 w 313"/>
              <a:gd name="T1" fmla="*/ 1 h 370"/>
              <a:gd name="T2" fmla="*/ 260 w 313"/>
              <a:gd name="T3" fmla="*/ 0 h 370"/>
              <a:gd name="T4" fmla="*/ 294 w 313"/>
              <a:gd name="T5" fmla="*/ 3 h 370"/>
              <a:gd name="T6" fmla="*/ 306 w 313"/>
              <a:gd name="T7" fmla="*/ 8 h 370"/>
              <a:gd name="T8" fmla="*/ 312 w 313"/>
              <a:gd name="T9" fmla="*/ 13 h 370"/>
              <a:gd name="T10" fmla="*/ 313 w 313"/>
              <a:gd name="T11" fmla="*/ 20 h 370"/>
              <a:gd name="T12" fmla="*/ 303 w 313"/>
              <a:gd name="T13" fmla="*/ 39 h 370"/>
              <a:gd name="T14" fmla="*/ 259 w 313"/>
              <a:gd name="T15" fmla="*/ 98 h 370"/>
              <a:gd name="T16" fmla="*/ 254 w 313"/>
              <a:gd name="T17" fmla="*/ 102 h 370"/>
              <a:gd name="T18" fmla="*/ 249 w 313"/>
              <a:gd name="T19" fmla="*/ 101 h 370"/>
              <a:gd name="T20" fmla="*/ 245 w 313"/>
              <a:gd name="T21" fmla="*/ 97 h 370"/>
              <a:gd name="T22" fmla="*/ 246 w 313"/>
              <a:gd name="T23" fmla="*/ 92 h 370"/>
              <a:gd name="T24" fmla="*/ 276 w 313"/>
              <a:gd name="T25" fmla="*/ 51 h 370"/>
              <a:gd name="T26" fmla="*/ 292 w 313"/>
              <a:gd name="T27" fmla="*/ 31 h 370"/>
              <a:gd name="T28" fmla="*/ 230 w 313"/>
              <a:gd name="T29" fmla="*/ 51 h 370"/>
              <a:gd name="T30" fmla="*/ 192 w 313"/>
              <a:gd name="T31" fmla="*/ 69 h 370"/>
              <a:gd name="T32" fmla="*/ 137 w 313"/>
              <a:gd name="T33" fmla="*/ 102 h 370"/>
              <a:gd name="T34" fmla="*/ 104 w 313"/>
              <a:gd name="T35" fmla="*/ 129 h 370"/>
              <a:gd name="T36" fmla="*/ 74 w 313"/>
              <a:gd name="T37" fmla="*/ 161 h 370"/>
              <a:gd name="T38" fmla="*/ 38 w 313"/>
              <a:gd name="T39" fmla="*/ 214 h 370"/>
              <a:gd name="T40" fmla="*/ 22 w 313"/>
              <a:gd name="T41" fmla="*/ 252 h 370"/>
              <a:gd name="T42" fmla="*/ 14 w 313"/>
              <a:gd name="T43" fmla="*/ 304 h 370"/>
              <a:gd name="T44" fmla="*/ 17 w 313"/>
              <a:gd name="T45" fmla="*/ 322 h 370"/>
              <a:gd name="T46" fmla="*/ 29 w 313"/>
              <a:gd name="T47" fmla="*/ 342 h 370"/>
              <a:gd name="T48" fmla="*/ 48 w 313"/>
              <a:gd name="T49" fmla="*/ 356 h 370"/>
              <a:gd name="T50" fmla="*/ 52 w 313"/>
              <a:gd name="T51" fmla="*/ 360 h 370"/>
              <a:gd name="T52" fmla="*/ 52 w 313"/>
              <a:gd name="T53" fmla="*/ 365 h 370"/>
              <a:gd name="T54" fmla="*/ 48 w 313"/>
              <a:gd name="T55" fmla="*/ 369 h 370"/>
              <a:gd name="T56" fmla="*/ 42 w 313"/>
              <a:gd name="T57" fmla="*/ 369 h 370"/>
              <a:gd name="T58" fmla="*/ 25 w 313"/>
              <a:gd name="T59" fmla="*/ 359 h 370"/>
              <a:gd name="T60" fmla="*/ 7 w 313"/>
              <a:gd name="T61" fmla="*/ 336 h 370"/>
              <a:gd name="T62" fmla="*/ 0 w 313"/>
              <a:gd name="T63" fmla="*/ 305 h 370"/>
              <a:gd name="T64" fmla="*/ 0 w 313"/>
              <a:gd name="T65" fmla="*/ 286 h 370"/>
              <a:gd name="T66" fmla="*/ 15 w 313"/>
              <a:gd name="T67" fmla="*/ 227 h 370"/>
              <a:gd name="T68" fmla="*/ 36 w 313"/>
              <a:gd name="T69" fmla="*/ 188 h 370"/>
              <a:gd name="T70" fmla="*/ 62 w 313"/>
              <a:gd name="T71" fmla="*/ 152 h 370"/>
              <a:gd name="T72" fmla="*/ 110 w 313"/>
              <a:gd name="T73" fmla="*/ 105 h 370"/>
              <a:gd name="T74" fmla="*/ 146 w 313"/>
              <a:gd name="T75" fmla="*/ 79 h 370"/>
              <a:gd name="T76" fmla="*/ 204 w 313"/>
              <a:gd name="T77" fmla="*/ 47 h 370"/>
              <a:gd name="T78" fmla="*/ 244 w 313"/>
              <a:gd name="T79" fmla="*/ 30 h 370"/>
              <a:gd name="T80" fmla="*/ 286 w 313"/>
              <a:gd name="T81" fmla="*/ 17 h 370"/>
              <a:gd name="T82" fmla="*/ 259 w 313"/>
              <a:gd name="T83" fmla="*/ 15 h 370"/>
              <a:gd name="T84" fmla="*/ 203 w 313"/>
              <a:gd name="T85" fmla="*/ 17 h 370"/>
              <a:gd name="T86" fmla="*/ 198 w 313"/>
              <a:gd name="T87" fmla="*/ 16 h 370"/>
              <a:gd name="T88" fmla="*/ 194 w 313"/>
              <a:gd name="T89" fmla="*/ 12 h 370"/>
              <a:gd name="T90" fmla="*/ 195 w 313"/>
              <a:gd name="T91" fmla="*/ 6 h 370"/>
              <a:gd name="T92" fmla="*/ 200 w 313"/>
              <a:gd name="T93" fmla="*/ 3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13" h="370">
                <a:moveTo>
                  <a:pt x="200" y="3"/>
                </a:moveTo>
                <a:lnTo>
                  <a:pt x="200" y="3"/>
                </a:lnTo>
                <a:lnTo>
                  <a:pt x="209" y="1"/>
                </a:lnTo>
                <a:lnTo>
                  <a:pt x="222" y="0"/>
                </a:lnTo>
                <a:lnTo>
                  <a:pt x="239" y="0"/>
                </a:lnTo>
                <a:lnTo>
                  <a:pt x="260" y="0"/>
                </a:lnTo>
                <a:lnTo>
                  <a:pt x="260" y="0"/>
                </a:lnTo>
                <a:lnTo>
                  <a:pt x="279" y="1"/>
                </a:lnTo>
                <a:lnTo>
                  <a:pt x="294" y="3"/>
                </a:lnTo>
                <a:lnTo>
                  <a:pt x="294" y="3"/>
                </a:lnTo>
                <a:lnTo>
                  <a:pt x="301" y="5"/>
                </a:lnTo>
                <a:lnTo>
                  <a:pt x="306" y="8"/>
                </a:lnTo>
                <a:lnTo>
                  <a:pt x="306" y="8"/>
                </a:lnTo>
                <a:lnTo>
                  <a:pt x="310" y="10"/>
                </a:lnTo>
                <a:lnTo>
                  <a:pt x="312" y="13"/>
                </a:lnTo>
                <a:lnTo>
                  <a:pt x="313" y="17"/>
                </a:lnTo>
                <a:lnTo>
                  <a:pt x="313" y="20"/>
                </a:lnTo>
                <a:lnTo>
                  <a:pt x="313" y="20"/>
                </a:lnTo>
                <a:lnTo>
                  <a:pt x="310" y="28"/>
                </a:lnTo>
                <a:lnTo>
                  <a:pt x="303" y="39"/>
                </a:lnTo>
                <a:lnTo>
                  <a:pt x="303" y="39"/>
                </a:lnTo>
                <a:lnTo>
                  <a:pt x="287" y="60"/>
                </a:lnTo>
                <a:lnTo>
                  <a:pt x="287" y="60"/>
                </a:lnTo>
                <a:lnTo>
                  <a:pt x="259" y="98"/>
                </a:lnTo>
                <a:lnTo>
                  <a:pt x="259" y="98"/>
                </a:lnTo>
                <a:lnTo>
                  <a:pt x="257" y="101"/>
                </a:lnTo>
                <a:lnTo>
                  <a:pt x="254" y="102"/>
                </a:lnTo>
                <a:lnTo>
                  <a:pt x="254" y="102"/>
                </a:lnTo>
                <a:lnTo>
                  <a:pt x="251" y="102"/>
                </a:lnTo>
                <a:lnTo>
                  <a:pt x="249" y="101"/>
                </a:lnTo>
                <a:lnTo>
                  <a:pt x="249" y="101"/>
                </a:lnTo>
                <a:lnTo>
                  <a:pt x="247" y="99"/>
                </a:lnTo>
                <a:lnTo>
                  <a:pt x="245" y="97"/>
                </a:lnTo>
                <a:lnTo>
                  <a:pt x="245" y="97"/>
                </a:lnTo>
                <a:lnTo>
                  <a:pt x="245" y="94"/>
                </a:lnTo>
                <a:lnTo>
                  <a:pt x="246" y="92"/>
                </a:lnTo>
                <a:lnTo>
                  <a:pt x="246" y="92"/>
                </a:lnTo>
                <a:lnTo>
                  <a:pt x="255" y="78"/>
                </a:lnTo>
                <a:lnTo>
                  <a:pt x="276" y="51"/>
                </a:lnTo>
                <a:lnTo>
                  <a:pt x="276" y="51"/>
                </a:lnTo>
                <a:lnTo>
                  <a:pt x="292" y="31"/>
                </a:lnTo>
                <a:lnTo>
                  <a:pt x="292" y="31"/>
                </a:lnTo>
                <a:lnTo>
                  <a:pt x="271" y="37"/>
                </a:lnTo>
                <a:lnTo>
                  <a:pt x="250" y="43"/>
                </a:lnTo>
                <a:lnTo>
                  <a:pt x="230" y="51"/>
                </a:lnTo>
                <a:lnTo>
                  <a:pt x="211" y="60"/>
                </a:lnTo>
                <a:lnTo>
                  <a:pt x="211" y="60"/>
                </a:lnTo>
                <a:lnTo>
                  <a:pt x="192" y="69"/>
                </a:lnTo>
                <a:lnTo>
                  <a:pt x="173" y="79"/>
                </a:lnTo>
                <a:lnTo>
                  <a:pt x="155" y="90"/>
                </a:lnTo>
                <a:lnTo>
                  <a:pt x="137" y="102"/>
                </a:lnTo>
                <a:lnTo>
                  <a:pt x="137" y="102"/>
                </a:lnTo>
                <a:lnTo>
                  <a:pt x="120" y="115"/>
                </a:lnTo>
                <a:lnTo>
                  <a:pt x="104" y="129"/>
                </a:lnTo>
                <a:lnTo>
                  <a:pt x="88" y="144"/>
                </a:lnTo>
                <a:lnTo>
                  <a:pt x="74" y="161"/>
                </a:lnTo>
                <a:lnTo>
                  <a:pt x="74" y="161"/>
                </a:lnTo>
                <a:lnTo>
                  <a:pt x="60" y="178"/>
                </a:lnTo>
                <a:lnTo>
                  <a:pt x="48" y="196"/>
                </a:lnTo>
                <a:lnTo>
                  <a:pt x="38" y="214"/>
                </a:lnTo>
                <a:lnTo>
                  <a:pt x="29" y="233"/>
                </a:lnTo>
                <a:lnTo>
                  <a:pt x="29" y="233"/>
                </a:lnTo>
                <a:lnTo>
                  <a:pt x="22" y="252"/>
                </a:lnTo>
                <a:lnTo>
                  <a:pt x="17" y="270"/>
                </a:lnTo>
                <a:lnTo>
                  <a:pt x="15" y="287"/>
                </a:lnTo>
                <a:lnTo>
                  <a:pt x="14" y="304"/>
                </a:lnTo>
                <a:lnTo>
                  <a:pt x="14" y="304"/>
                </a:lnTo>
                <a:lnTo>
                  <a:pt x="15" y="313"/>
                </a:lnTo>
                <a:lnTo>
                  <a:pt x="17" y="322"/>
                </a:lnTo>
                <a:lnTo>
                  <a:pt x="20" y="329"/>
                </a:lnTo>
                <a:lnTo>
                  <a:pt x="24" y="336"/>
                </a:lnTo>
                <a:lnTo>
                  <a:pt x="29" y="342"/>
                </a:lnTo>
                <a:lnTo>
                  <a:pt x="34" y="347"/>
                </a:lnTo>
                <a:lnTo>
                  <a:pt x="41" y="352"/>
                </a:lnTo>
                <a:lnTo>
                  <a:pt x="48" y="356"/>
                </a:lnTo>
                <a:lnTo>
                  <a:pt x="48" y="356"/>
                </a:lnTo>
                <a:lnTo>
                  <a:pt x="50" y="357"/>
                </a:lnTo>
                <a:lnTo>
                  <a:pt x="52" y="360"/>
                </a:lnTo>
                <a:lnTo>
                  <a:pt x="52" y="360"/>
                </a:lnTo>
                <a:lnTo>
                  <a:pt x="52" y="362"/>
                </a:lnTo>
                <a:lnTo>
                  <a:pt x="52" y="365"/>
                </a:lnTo>
                <a:lnTo>
                  <a:pt x="52" y="365"/>
                </a:lnTo>
                <a:lnTo>
                  <a:pt x="50" y="367"/>
                </a:lnTo>
                <a:lnTo>
                  <a:pt x="48" y="369"/>
                </a:lnTo>
                <a:lnTo>
                  <a:pt x="48" y="369"/>
                </a:lnTo>
                <a:lnTo>
                  <a:pt x="45" y="370"/>
                </a:lnTo>
                <a:lnTo>
                  <a:pt x="42" y="369"/>
                </a:lnTo>
                <a:lnTo>
                  <a:pt x="42" y="369"/>
                </a:lnTo>
                <a:lnTo>
                  <a:pt x="33" y="365"/>
                </a:lnTo>
                <a:lnTo>
                  <a:pt x="25" y="359"/>
                </a:lnTo>
                <a:lnTo>
                  <a:pt x="18" y="352"/>
                </a:lnTo>
                <a:lnTo>
                  <a:pt x="12" y="345"/>
                </a:lnTo>
                <a:lnTo>
                  <a:pt x="7" y="336"/>
                </a:lnTo>
                <a:lnTo>
                  <a:pt x="3" y="327"/>
                </a:lnTo>
                <a:lnTo>
                  <a:pt x="1" y="316"/>
                </a:lnTo>
                <a:lnTo>
                  <a:pt x="0" y="305"/>
                </a:lnTo>
                <a:lnTo>
                  <a:pt x="0" y="305"/>
                </a:lnTo>
                <a:lnTo>
                  <a:pt x="0" y="296"/>
                </a:lnTo>
                <a:lnTo>
                  <a:pt x="0" y="286"/>
                </a:lnTo>
                <a:lnTo>
                  <a:pt x="3" y="267"/>
                </a:lnTo>
                <a:lnTo>
                  <a:pt x="8" y="248"/>
                </a:lnTo>
                <a:lnTo>
                  <a:pt x="15" y="227"/>
                </a:lnTo>
                <a:lnTo>
                  <a:pt x="15" y="227"/>
                </a:lnTo>
                <a:lnTo>
                  <a:pt x="25" y="207"/>
                </a:lnTo>
                <a:lnTo>
                  <a:pt x="36" y="188"/>
                </a:lnTo>
                <a:lnTo>
                  <a:pt x="48" y="170"/>
                </a:lnTo>
                <a:lnTo>
                  <a:pt x="62" y="152"/>
                </a:lnTo>
                <a:lnTo>
                  <a:pt x="62" y="152"/>
                </a:lnTo>
                <a:lnTo>
                  <a:pt x="78" y="135"/>
                </a:lnTo>
                <a:lnTo>
                  <a:pt x="93" y="119"/>
                </a:lnTo>
                <a:lnTo>
                  <a:pt x="110" y="105"/>
                </a:lnTo>
                <a:lnTo>
                  <a:pt x="128" y="91"/>
                </a:lnTo>
                <a:lnTo>
                  <a:pt x="128" y="91"/>
                </a:lnTo>
                <a:lnTo>
                  <a:pt x="146" y="79"/>
                </a:lnTo>
                <a:lnTo>
                  <a:pt x="165" y="67"/>
                </a:lnTo>
                <a:lnTo>
                  <a:pt x="184" y="57"/>
                </a:lnTo>
                <a:lnTo>
                  <a:pt x="204" y="47"/>
                </a:lnTo>
                <a:lnTo>
                  <a:pt x="204" y="47"/>
                </a:lnTo>
                <a:lnTo>
                  <a:pt x="224" y="38"/>
                </a:lnTo>
                <a:lnTo>
                  <a:pt x="244" y="30"/>
                </a:lnTo>
                <a:lnTo>
                  <a:pt x="265" y="23"/>
                </a:lnTo>
                <a:lnTo>
                  <a:pt x="286" y="17"/>
                </a:lnTo>
                <a:lnTo>
                  <a:pt x="286" y="17"/>
                </a:lnTo>
                <a:lnTo>
                  <a:pt x="274" y="16"/>
                </a:lnTo>
                <a:lnTo>
                  <a:pt x="259" y="15"/>
                </a:lnTo>
                <a:lnTo>
                  <a:pt x="259" y="15"/>
                </a:lnTo>
                <a:lnTo>
                  <a:pt x="224" y="15"/>
                </a:lnTo>
                <a:lnTo>
                  <a:pt x="212" y="15"/>
                </a:lnTo>
                <a:lnTo>
                  <a:pt x="203" y="17"/>
                </a:lnTo>
                <a:lnTo>
                  <a:pt x="203" y="17"/>
                </a:lnTo>
                <a:lnTo>
                  <a:pt x="200" y="17"/>
                </a:lnTo>
                <a:lnTo>
                  <a:pt x="198" y="16"/>
                </a:lnTo>
                <a:lnTo>
                  <a:pt x="198" y="16"/>
                </a:lnTo>
                <a:lnTo>
                  <a:pt x="196" y="14"/>
                </a:lnTo>
                <a:lnTo>
                  <a:pt x="194" y="12"/>
                </a:lnTo>
                <a:lnTo>
                  <a:pt x="194" y="12"/>
                </a:lnTo>
                <a:lnTo>
                  <a:pt x="194" y="9"/>
                </a:lnTo>
                <a:lnTo>
                  <a:pt x="195" y="6"/>
                </a:lnTo>
                <a:lnTo>
                  <a:pt x="195" y="6"/>
                </a:lnTo>
                <a:lnTo>
                  <a:pt x="197" y="4"/>
                </a:lnTo>
                <a:lnTo>
                  <a:pt x="200" y="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sz="2400" kern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Freeform 2591">
            <a:extLst>
              <a:ext uri="{FF2B5EF4-FFF2-40B4-BE49-F238E27FC236}">
                <a16:creationId xmlns:a16="http://schemas.microsoft.com/office/drawing/2014/main" id="{39520027-7F29-D1D5-9DE7-E4500B30C23D}"/>
              </a:ext>
            </a:extLst>
          </p:cNvPr>
          <p:cNvSpPr/>
          <p:nvPr/>
        </p:nvSpPr>
        <p:spPr bwMode="auto">
          <a:xfrm rot="13854542">
            <a:off x="8065792" y="4087410"/>
            <a:ext cx="839252" cy="1636521"/>
          </a:xfrm>
          <a:custGeom>
            <a:avLst/>
            <a:gdLst>
              <a:gd name="T0" fmla="*/ 209 w 313"/>
              <a:gd name="T1" fmla="*/ 1 h 370"/>
              <a:gd name="T2" fmla="*/ 260 w 313"/>
              <a:gd name="T3" fmla="*/ 0 h 370"/>
              <a:gd name="T4" fmla="*/ 294 w 313"/>
              <a:gd name="T5" fmla="*/ 3 h 370"/>
              <a:gd name="T6" fmla="*/ 306 w 313"/>
              <a:gd name="T7" fmla="*/ 8 h 370"/>
              <a:gd name="T8" fmla="*/ 312 w 313"/>
              <a:gd name="T9" fmla="*/ 13 h 370"/>
              <a:gd name="T10" fmla="*/ 313 w 313"/>
              <a:gd name="T11" fmla="*/ 20 h 370"/>
              <a:gd name="T12" fmla="*/ 303 w 313"/>
              <a:gd name="T13" fmla="*/ 39 h 370"/>
              <a:gd name="T14" fmla="*/ 259 w 313"/>
              <a:gd name="T15" fmla="*/ 98 h 370"/>
              <a:gd name="T16" fmla="*/ 254 w 313"/>
              <a:gd name="T17" fmla="*/ 102 h 370"/>
              <a:gd name="T18" fmla="*/ 249 w 313"/>
              <a:gd name="T19" fmla="*/ 101 h 370"/>
              <a:gd name="T20" fmla="*/ 245 w 313"/>
              <a:gd name="T21" fmla="*/ 97 h 370"/>
              <a:gd name="T22" fmla="*/ 246 w 313"/>
              <a:gd name="T23" fmla="*/ 92 h 370"/>
              <a:gd name="T24" fmla="*/ 276 w 313"/>
              <a:gd name="T25" fmla="*/ 51 h 370"/>
              <a:gd name="T26" fmla="*/ 292 w 313"/>
              <a:gd name="T27" fmla="*/ 31 h 370"/>
              <a:gd name="T28" fmla="*/ 230 w 313"/>
              <a:gd name="T29" fmla="*/ 51 h 370"/>
              <a:gd name="T30" fmla="*/ 192 w 313"/>
              <a:gd name="T31" fmla="*/ 69 h 370"/>
              <a:gd name="T32" fmla="*/ 137 w 313"/>
              <a:gd name="T33" fmla="*/ 102 h 370"/>
              <a:gd name="T34" fmla="*/ 104 w 313"/>
              <a:gd name="T35" fmla="*/ 129 h 370"/>
              <a:gd name="T36" fmla="*/ 74 w 313"/>
              <a:gd name="T37" fmla="*/ 161 h 370"/>
              <a:gd name="T38" fmla="*/ 38 w 313"/>
              <a:gd name="T39" fmla="*/ 214 h 370"/>
              <a:gd name="T40" fmla="*/ 22 w 313"/>
              <a:gd name="T41" fmla="*/ 252 h 370"/>
              <a:gd name="T42" fmla="*/ 14 w 313"/>
              <a:gd name="T43" fmla="*/ 304 h 370"/>
              <a:gd name="T44" fmla="*/ 17 w 313"/>
              <a:gd name="T45" fmla="*/ 322 h 370"/>
              <a:gd name="T46" fmla="*/ 29 w 313"/>
              <a:gd name="T47" fmla="*/ 342 h 370"/>
              <a:gd name="T48" fmla="*/ 48 w 313"/>
              <a:gd name="T49" fmla="*/ 356 h 370"/>
              <a:gd name="T50" fmla="*/ 52 w 313"/>
              <a:gd name="T51" fmla="*/ 360 h 370"/>
              <a:gd name="T52" fmla="*/ 52 w 313"/>
              <a:gd name="T53" fmla="*/ 365 h 370"/>
              <a:gd name="T54" fmla="*/ 48 w 313"/>
              <a:gd name="T55" fmla="*/ 369 h 370"/>
              <a:gd name="T56" fmla="*/ 42 w 313"/>
              <a:gd name="T57" fmla="*/ 369 h 370"/>
              <a:gd name="T58" fmla="*/ 25 w 313"/>
              <a:gd name="T59" fmla="*/ 359 h 370"/>
              <a:gd name="T60" fmla="*/ 7 w 313"/>
              <a:gd name="T61" fmla="*/ 336 h 370"/>
              <a:gd name="T62" fmla="*/ 0 w 313"/>
              <a:gd name="T63" fmla="*/ 305 h 370"/>
              <a:gd name="T64" fmla="*/ 0 w 313"/>
              <a:gd name="T65" fmla="*/ 286 h 370"/>
              <a:gd name="T66" fmla="*/ 15 w 313"/>
              <a:gd name="T67" fmla="*/ 227 h 370"/>
              <a:gd name="T68" fmla="*/ 36 w 313"/>
              <a:gd name="T69" fmla="*/ 188 h 370"/>
              <a:gd name="T70" fmla="*/ 62 w 313"/>
              <a:gd name="T71" fmla="*/ 152 h 370"/>
              <a:gd name="T72" fmla="*/ 110 w 313"/>
              <a:gd name="T73" fmla="*/ 105 h 370"/>
              <a:gd name="T74" fmla="*/ 146 w 313"/>
              <a:gd name="T75" fmla="*/ 79 h 370"/>
              <a:gd name="T76" fmla="*/ 204 w 313"/>
              <a:gd name="T77" fmla="*/ 47 h 370"/>
              <a:gd name="T78" fmla="*/ 244 w 313"/>
              <a:gd name="T79" fmla="*/ 30 h 370"/>
              <a:gd name="T80" fmla="*/ 286 w 313"/>
              <a:gd name="T81" fmla="*/ 17 h 370"/>
              <a:gd name="T82" fmla="*/ 259 w 313"/>
              <a:gd name="T83" fmla="*/ 15 h 370"/>
              <a:gd name="T84" fmla="*/ 203 w 313"/>
              <a:gd name="T85" fmla="*/ 17 h 370"/>
              <a:gd name="T86" fmla="*/ 198 w 313"/>
              <a:gd name="T87" fmla="*/ 16 h 370"/>
              <a:gd name="T88" fmla="*/ 194 w 313"/>
              <a:gd name="T89" fmla="*/ 12 h 370"/>
              <a:gd name="T90" fmla="*/ 195 w 313"/>
              <a:gd name="T91" fmla="*/ 6 h 370"/>
              <a:gd name="T92" fmla="*/ 200 w 313"/>
              <a:gd name="T93" fmla="*/ 3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13" h="370">
                <a:moveTo>
                  <a:pt x="200" y="3"/>
                </a:moveTo>
                <a:lnTo>
                  <a:pt x="200" y="3"/>
                </a:lnTo>
                <a:lnTo>
                  <a:pt x="209" y="1"/>
                </a:lnTo>
                <a:lnTo>
                  <a:pt x="222" y="0"/>
                </a:lnTo>
                <a:lnTo>
                  <a:pt x="239" y="0"/>
                </a:lnTo>
                <a:lnTo>
                  <a:pt x="260" y="0"/>
                </a:lnTo>
                <a:lnTo>
                  <a:pt x="260" y="0"/>
                </a:lnTo>
                <a:lnTo>
                  <a:pt x="279" y="1"/>
                </a:lnTo>
                <a:lnTo>
                  <a:pt x="294" y="3"/>
                </a:lnTo>
                <a:lnTo>
                  <a:pt x="294" y="3"/>
                </a:lnTo>
                <a:lnTo>
                  <a:pt x="301" y="5"/>
                </a:lnTo>
                <a:lnTo>
                  <a:pt x="306" y="8"/>
                </a:lnTo>
                <a:lnTo>
                  <a:pt x="306" y="8"/>
                </a:lnTo>
                <a:lnTo>
                  <a:pt x="310" y="10"/>
                </a:lnTo>
                <a:lnTo>
                  <a:pt x="312" y="13"/>
                </a:lnTo>
                <a:lnTo>
                  <a:pt x="313" y="17"/>
                </a:lnTo>
                <a:lnTo>
                  <a:pt x="313" y="20"/>
                </a:lnTo>
                <a:lnTo>
                  <a:pt x="313" y="20"/>
                </a:lnTo>
                <a:lnTo>
                  <a:pt x="310" y="28"/>
                </a:lnTo>
                <a:lnTo>
                  <a:pt x="303" y="39"/>
                </a:lnTo>
                <a:lnTo>
                  <a:pt x="303" y="39"/>
                </a:lnTo>
                <a:lnTo>
                  <a:pt x="287" y="60"/>
                </a:lnTo>
                <a:lnTo>
                  <a:pt x="287" y="60"/>
                </a:lnTo>
                <a:lnTo>
                  <a:pt x="259" y="98"/>
                </a:lnTo>
                <a:lnTo>
                  <a:pt x="259" y="98"/>
                </a:lnTo>
                <a:lnTo>
                  <a:pt x="257" y="101"/>
                </a:lnTo>
                <a:lnTo>
                  <a:pt x="254" y="102"/>
                </a:lnTo>
                <a:lnTo>
                  <a:pt x="254" y="102"/>
                </a:lnTo>
                <a:lnTo>
                  <a:pt x="251" y="102"/>
                </a:lnTo>
                <a:lnTo>
                  <a:pt x="249" y="101"/>
                </a:lnTo>
                <a:lnTo>
                  <a:pt x="249" y="101"/>
                </a:lnTo>
                <a:lnTo>
                  <a:pt x="247" y="99"/>
                </a:lnTo>
                <a:lnTo>
                  <a:pt x="245" y="97"/>
                </a:lnTo>
                <a:lnTo>
                  <a:pt x="245" y="97"/>
                </a:lnTo>
                <a:lnTo>
                  <a:pt x="245" y="94"/>
                </a:lnTo>
                <a:lnTo>
                  <a:pt x="246" y="92"/>
                </a:lnTo>
                <a:lnTo>
                  <a:pt x="246" y="92"/>
                </a:lnTo>
                <a:lnTo>
                  <a:pt x="255" y="78"/>
                </a:lnTo>
                <a:lnTo>
                  <a:pt x="276" y="51"/>
                </a:lnTo>
                <a:lnTo>
                  <a:pt x="276" y="51"/>
                </a:lnTo>
                <a:lnTo>
                  <a:pt x="292" y="31"/>
                </a:lnTo>
                <a:lnTo>
                  <a:pt x="292" y="31"/>
                </a:lnTo>
                <a:lnTo>
                  <a:pt x="271" y="37"/>
                </a:lnTo>
                <a:lnTo>
                  <a:pt x="250" y="43"/>
                </a:lnTo>
                <a:lnTo>
                  <a:pt x="230" y="51"/>
                </a:lnTo>
                <a:lnTo>
                  <a:pt x="211" y="60"/>
                </a:lnTo>
                <a:lnTo>
                  <a:pt x="211" y="60"/>
                </a:lnTo>
                <a:lnTo>
                  <a:pt x="192" y="69"/>
                </a:lnTo>
                <a:lnTo>
                  <a:pt x="173" y="79"/>
                </a:lnTo>
                <a:lnTo>
                  <a:pt x="155" y="90"/>
                </a:lnTo>
                <a:lnTo>
                  <a:pt x="137" y="102"/>
                </a:lnTo>
                <a:lnTo>
                  <a:pt x="137" y="102"/>
                </a:lnTo>
                <a:lnTo>
                  <a:pt x="120" y="115"/>
                </a:lnTo>
                <a:lnTo>
                  <a:pt x="104" y="129"/>
                </a:lnTo>
                <a:lnTo>
                  <a:pt x="88" y="144"/>
                </a:lnTo>
                <a:lnTo>
                  <a:pt x="74" y="161"/>
                </a:lnTo>
                <a:lnTo>
                  <a:pt x="74" y="161"/>
                </a:lnTo>
                <a:lnTo>
                  <a:pt x="60" y="178"/>
                </a:lnTo>
                <a:lnTo>
                  <a:pt x="48" y="196"/>
                </a:lnTo>
                <a:lnTo>
                  <a:pt x="38" y="214"/>
                </a:lnTo>
                <a:lnTo>
                  <a:pt x="29" y="233"/>
                </a:lnTo>
                <a:lnTo>
                  <a:pt x="29" y="233"/>
                </a:lnTo>
                <a:lnTo>
                  <a:pt x="22" y="252"/>
                </a:lnTo>
                <a:lnTo>
                  <a:pt x="17" y="270"/>
                </a:lnTo>
                <a:lnTo>
                  <a:pt x="15" y="287"/>
                </a:lnTo>
                <a:lnTo>
                  <a:pt x="14" y="304"/>
                </a:lnTo>
                <a:lnTo>
                  <a:pt x="14" y="304"/>
                </a:lnTo>
                <a:lnTo>
                  <a:pt x="15" y="313"/>
                </a:lnTo>
                <a:lnTo>
                  <a:pt x="17" y="322"/>
                </a:lnTo>
                <a:lnTo>
                  <a:pt x="20" y="329"/>
                </a:lnTo>
                <a:lnTo>
                  <a:pt x="24" y="336"/>
                </a:lnTo>
                <a:lnTo>
                  <a:pt x="29" y="342"/>
                </a:lnTo>
                <a:lnTo>
                  <a:pt x="34" y="347"/>
                </a:lnTo>
                <a:lnTo>
                  <a:pt x="41" y="352"/>
                </a:lnTo>
                <a:lnTo>
                  <a:pt x="48" y="356"/>
                </a:lnTo>
                <a:lnTo>
                  <a:pt x="48" y="356"/>
                </a:lnTo>
                <a:lnTo>
                  <a:pt x="50" y="357"/>
                </a:lnTo>
                <a:lnTo>
                  <a:pt x="52" y="360"/>
                </a:lnTo>
                <a:lnTo>
                  <a:pt x="52" y="360"/>
                </a:lnTo>
                <a:lnTo>
                  <a:pt x="52" y="362"/>
                </a:lnTo>
                <a:lnTo>
                  <a:pt x="52" y="365"/>
                </a:lnTo>
                <a:lnTo>
                  <a:pt x="52" y="365"/>
                </a:lnTo>
                <a:lnTo>
                  <a:pt x="50" y="367"/>
                </a:lnTo>
                <a:lnTo>
                  <a:pt x="48" y="369"/>
                </a:lnTo>
                <a:lnTo>
                  <a:pt x="48" y="369"/>
                </a:lnTo>
                <a:lnTo>
                  <a:pt x="45" y="370"/>
                </a:lnTo>
                <a:lnTo>
                  <a:pt x="42" y="369"/>
                </a:lnTo>
                <a:lnTo>
                  <a:pt x="42" y="369"/>
                </a:lnTo>
                <a:lnTo>
                  <a:pt x="33" y="365"/>
                </a:lnTo>
                <a:lnTo>
                  <a:pt x="25" y="359"/>
                </a:lnTo>
                <a:lnTo>
                  <a:pt x="18" y="352"/>
                </a:lnTo>
                <a:lnTo>
                  <a:pt x="12" y="345"/>
                </a:lnTo>
                <a:lnTo>
                  <a:pt x="7" y="336"/>
                </a:lnTo>
                <a:lnTo>
                  <a:pt x="3" y="327"/>
                </a:lnTo>
                <a:lnTo>
                  <a:pt x="1" y="316"/>
                </a:lnTo>
                <a:lnTo>
                  <a:pt x="0" y="305"/>
                </a:lnTo>
                <a:lnTo>
                  <a:pt x="0" y="305"/>
                </a:lnTo>
                <a:lnTo>
                  <a:pt x="0" y="296"/>
                </a:lnTo>
                <a:lnTo>
                  <a:pt x="0" y="286"/>
                </a:lnTo>
                <a:lnTo>
                  <a:pt x="3" y="267"/>
                </a:lnTo>
                <a:lnTo>
                  <a:pt x="8" y="248"/>
                </a:lnTo>
                <a:lnTo>
                  <a:pt x="15" y="227"/>
                </a:lnTo>
                <a:lnTo>
                  <a:pt x="15" y="227"/>
                </a:lnTo>
                <a:lnTo>
                  <a:pt x="25" y="207"/>
                </a:lnTo>
                <a:lnTo>
                  <a:pt x="36" y="188"/>
                </a:lnTo>
                <a:lnTo>
                  <a:pt x="48" y="170"/>
                </a:lnTo>
                <a:lnTo>
                  <a:pt x="62" y="152"/>
                </a:lnTo>
                <a:lnTo>
                  <a:pt x="62" y="152"/>
                </a:lnTo>
                <a:lnTo>
                  <a:pt x="78" y="135"/>
                </a:lnTo>
                <a:lnTo>
                  <a:pt x="93" y="119"/>
                </a:lnTo>
                <a:lnTo>
                  <a:pt x="110" y="105"/>
                </a:lnTo>
                <a:lnTo>
                  <a:pt x="128" y="91"/>
                </a:lnTo>
                <a:lnTo>
                  <a:pt x="128" y="91"/>
                </a:lnTo>
                <a:lnTo>
                  <a:pt x="146" y="79"/>
                </a:lnTo>
                <a:lnTo>
                  <a:pt x="165" y="67"/>
                </a:lnTo>
                <a:lnTo>
                  <a:pt x="184" y="57"/>
                </a:lnTo>
                <a:lnTo>
                  <a:pt x="204" y="47"/>
                </a:lnTo>
                <a:lnTo>
                  <a:pt x="204" y="47"/>
                </a:lnTo>
                <a:lnTo>
                  <a:pt x="224" y="38"/>
                </a:lnTo>
                <a:lnTo>
                  <a:pt x="244" y="30"/>
                </a:lnTo>
                <a:lnTo>
                  <a:pt x="265" y="23"/>
                </a:lnTo>
                <a:lnTo>
                  <a:pt x="286" y="17"/>
                </a:lnTo>
                <a:lnTo>
                  <a:pt x="286" y="17"/>
                </a:lnTo>
                <a:lnTo>
                  <a:pt x="274" y="16"/>
                </a:lnTo>
                <a:lnTo>
                  <a:pt x="259" y="15"/>
                </a:lnTo>
                <a:lnTo>
                  <a:pt x="259" y="15"/>
                </a:lnTo>
                <a:lnTo>
                  <a:pt x="224" y="15"/>
                </a:lnTo>
                <a:lnTo>
                  <a:pt x="212" y="15"/>
                </a:lnTo>
                <a:lnTo>
                  <a:pt x="203" y="17"/>
                </a:lnTo>
                <a:lnTo>
                  <a:pt x="203" y="17"/>
                </a:lnTo>
                <a:lnTo>
                  <a:pt x="200" y="17"/>
                </a:lnTo>
                <a:lnTo>
                  <a:pt x="198" y="16"/>
                </a:lnTo>
                <a:lnTo>
                  <a:pt x="198" y="16"/>
                </a:lnTo>
                <a:lnTo>
                  <a:pt x="196" y="14"/>
                </a:lnTo>
                <a:lnTo>
                  <a:pt x="194" y="12"/>
                </a:lnTo>
                <a:lnTo>
                  <a:pt x="194" y="12"/>
                </a:lnTo>
                <a:lnTo>
                  <a:pt x="194" y="9"/>
                </a:lnTo>
                <a:lnTo>
                  <a:pt x="195" y="6"/>
                </a:lnTo>
                <a:lnTo>
                  <a:pt x="195" y="6"/>
                </a:lnTo>
                <a:lnTo>
                  <a:pt x="197" y="4"/>
                </a:lnTo>
                <a:lnTo>
                  <a:pt x="200" y="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sz="2400" kern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Freeform 2591">
            <a:extLst>
              <a:ext uri="{FF2B5EF4-FFF2-40B4-BE49-F238E27FC236}">
                <a16:creationId xmlns:a16="http://schemas.microsoft.com/office/drawing/2014/main" id="{76D90039-CD64-B5E1-F622-8503224E02C0}"/>
              </a:ext>
            </a:extLst>
          </p:cNvPr>
          <p:cNvSpPr/>
          <p:nvPr/>
        </p:nvSpPr>
        <p:spPr bwMode="auto">
          <a:xfrm rot="17032147">
            <a:off x="1809719" y="3554224"/>
            <a:ext cx="839252" cy="1636521"/>
          </a:xfrm>
          <a:custGeom>
            <a:avLst/>
            <a:gdLst>
              <a:gd name="T0" fmla="*/ 209 w 313"/>
              <a:gd name="T1" fmla="*/ 1 h 370"/>
              <a:gd name="T2" fmla="*/ 260 w 313"/>
              <a:gd name="T3" fmla="*/ 0 h 370"/>
              <a:gd name="T4" fmla="*/ 294 w 313"/>
              <a:gd name="T5" fmla="*/ 3 h 370"/>
              <a:gd name="T6" fmla="*/ 306 w 313"/>
              <a:gd name="T7" fmla="*/ 8 h 370"/>
              <a:gd name="T8" fmla="*/ 312 w 313"/>
              <a:gd name="T9" fmla="*/ 13 h 370"/>
              <a:gd name="T10" fmla="*/ 313 w 313"/>
              <a:gd name="T11" fmla="*/ 20 h 370"/>
              <a:gd name="T12" fmla="*/ 303 w 313"/>
              <a:gd name="T13" fmla="*/ 39 h 370"/>
              <a:gd name="T14" fmla="*/ 259 w 313"/>
              <a:gd name="T15" fmla="*/ 98 h 370"/>
              <a:gd name="T16" fmla="*/ 254 w 313"/>
              <a:gd name="T17" fmla="*/ 102 h 370"/>
              <a:gd name="T18" fmla="*/ 249 w 313"/>
              <a:gd name="T19" fmla="*/ 101 h 370"/>
              <a:gd name="T20" fmla="*/ 245 w 313"/>
              <a:gd name="T21" fmla="*/ 97 h 370"/>
              <a:gd name="T22" fmla="*/ 246 w 313"/>
              <a:gd name="T23" fmla="*/ 92 h 370"/>
              <a:gd name="T24" fmla="*/ 276 w 313"/>
              <a:gd name="T25" fmla="*/ 51 h 370"/>
              <a:gd name="T26" fmla="*/ 292 w 313"/>
              <a:gd name="T27" fmla="*/ 31 h 370"/>
              <a:gd name="T28" fmla="*/ 230 w 313"/>
              <a:gd name="T29" fmla="*/ 51 h 370"/>
              <a:gd name="T30" fmla="*/ 192 w 313"/>
              <a:gd name="T31" fmla="*/ 69 h 370"/>
              <a:gd name="T32" fmla="*/ 137 w 313"/>
              <a:gd name="T33" fmla="*/ 102 h 370"/>
              <a:gd name="T34" fmla="*/ 104 w 313"/>
              <a:gd name="T35" fmla="*/ 129 h 370"/>
              <a:gd name="T36" fmla="*/ 74 w 313"/>
              <a:gd name="T37" fmla="*/ 161 h 370"/>
              <a:gd name="T38" fmla="*/ 38 w 313"/>
              <a:gd name="T39" fmla="*/ 214 h 370"/>
              <a:gd name="T40" fmla="*/ 22 w 313"/>
              <a:gd name="T41" fmla="*/ 252 h 370"/>
              <a:gd name="T42" fmla="*/ 14 w 313"/>
              <a:gd name="T43" fmla="*/ 304 h 370"/>
              <a:gd name="T44" fmla="*/ 17 w 313"/>
              <a:gd name="T45" fmla="*/ 322 h 370"/>
              <a:gd name="T46" fmla="*/ 29 w 313"/>
              <a:gd name="T47" fmla="*/ 342 h 370"/>
              <a:gd name="T48" fmla="*/ 48 w 313"/>
              <a:gd name="T49" fmla="*/ 356 h 370"/>
              <a:gd name="T50" fmla="*/ 52 w 313"/>
              <a:gd name="T51" fmla="*/ 360 h 370"/>
              <a:gd name="T52" fmla="*/ 52 w 313"/>
              <a:gd name="T53" fmla="*/ 365 h 370"/>
              <a:gd name="T54" fmla="*/ 48 w 313"/>
              <a:gd name="T55" fmla="*/ 369 h 370"/>
              <a:gd name="T56" fmla="*/ 42 w 313"/>
              <a:gd name="T57" fmla="*/ 369 h 370"/>
              <a:gd name="T58" fmla="*/ 25 w 313"/>
              <a:gd name="T59" fmla="*/ 359 h 370"/>
              <a:gd name="T60" fmla="*/ 7 w 313"/>
              <a:gd name="T61" fmla="*/ 336 h 370"/>
              <a:gd name="T62" fmla="*/ 0 w 313"/>
              <a:gd name="T63" fmla="*/ 305 h 370"/>
              <a:gd name="T64" fmla="*/ 0 w 313"/>
              <a:gd name="T65" fmla="*/ 286 h 370"/>
              <a:gd name="T66" fmla="*/ 15 w 313"/>
              <a:gd name="T67" fmla="*/ 227 h 370"/>
              <a:gd name="T68" fmla="*/ 36 w 313"/>
              <a:gd name="T69" fmla="*/ 188 h 370"/>
              <a:gd name="T70" fmla="*/ 62 w 313"/>
              <a:gd name="T71" fmla="*/ 152 h 370"/>
              <a:gd name="T72" fmla="*/ 110 w 313"/>
              <a:gd name="T73" fmla="*/ 105 h 370"/>
              <a:gd name="T74" fmla="*/ 146 w 313"/>
              <a:gd name="T75" fmla="*/ 79 h 370"/>
              <a:gd name="T76" fmla="*/ 204 w 313"/>
              <a:gd name="T77" fmla="*/ 47 h 370"/>
              <a:gd name="T78" fmla="*/ 244 w 313"/>
              <a:gd name="T79" fmla="*/ 30 h 370"/>
              <a:gd name="T80" fmla="*/ 286 w 313"/>
              <a:gd name="T81" fmla="*/ 17 h 370"/>
              <a:gd name="T82" fmla="*/ 259 w 313"/>
              <a:gd name="T83" fmla="*/ 15 h 370"/>
              <a:gd name="T84" fmla="*/ 203 w 313"/>
              <a:gd name="T85" fmla="*/ 17 h 370"/>
              <a:gd name="T86" fmla="*/ 198 w 313"/>
              <a:gd name="T87" fmla="*/ 16 h 370"/>
              <a:gd name="T88" fmla="*/ 194 w 313"/>
              <a:gd name="T89" fmla="*/ 12 h 370"/>
              <a:gd name="T90" fmla="*/ 195 w 313"/>
              <a:gd name="T91" fmla="*/ 6 h 370"/>
              <a:gd name="T92" fmla="*/ 200 w 313"/>
              <a:gd name="T93" fmla="*/ 3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13" h="370">
                <a:moveTo>
                  <a:pt x="200" y="3"/>
                </a:moveTo>
                <a:lnTo>
                  <a:pt x="200" y="3"/>
                </a:lnTo>
                <a:lnTo>
                  <a:pt x="209" y="1"/>
                </a:lnTo>
                <a:lnTo>
                  <a:pt x="222" y="0"/>
                </a:lnTo>
                <a:lnTo>
                  <a:pt x="239" y="0"/>
                </a:lnTo>
                <a:lnTo>
                  <a:pt x="260" y="0"/>
                </a:lnTo>
                <a:lnTo>
                  <a:pt x="260" y="0"/>
                </a:lnTo>
                <a:lnTo>
                  <a:pt x="279" y="1"/>
                </a:lnTo>
                <a:lnTo>
                  <a:pt x="294" y="3"/>
                </a:lnTo>
                <a:lnTo>
                  <a:pt x="294" y="3"/>
                </a:lnTo>
                <a:lnTo>
                  <a:pt x="301" y="5"/>
                </a:lnTo>
                <a:lnTo>
                  <a:pt x="306" y="8"/>
                </a:lnTo>
                <a:lnTo>
                  <a:pt x="306" y="8"/>
                </a:lnTo>
                <a:lnTo>
                  <a:pt x="310" y="10"/>
                </a:lnTo>
                <a:lnTo>
                  <a:pt x="312" y="13"/>
                </a:lnTo>
                <a:lnTo>
                  <a:pt x="313" y="17"/>
                </a:lnTo>
                <a:lnTo>
                  <a:pt x="313" y="20"/>
                </a:lnTo>
                <a:lnTo>
                  <a:pt x="313" y="20"/>
                </a:lnTo>
                <a:lnTo>
                  <a:pt x="310" y="28"/>
                </a:lnTo>
                <a:lnTo>
                  <a:pt x="303" y="39"/>
                </a:lnTo>
                <a:lnTo>
                  <a:pt x="303" y="39"/>
                </a:lnTo>
                <a:lnTo>
                  <a:pt x="287" y="60"/>
                </a:lnTo>
                <a:lnTo>
                  <a:pt x="287" y="60"/>
                </a:lnTo>
                <a:lnTo>
                  <a:pt x="259" y="98"/>
                </a:lnTo>
                <a:lnTo>
                  <a:pt x="259" y="98"/>
                </a:lnTo>
                <a:lnTo>
                  <a:pt x="257" y="101"/>
                </a:lnTo>
                <a:lnTo>
                  <a:pt x="254" y="102"/>
                </a:lnTo>
                <a:lnTo>
                  <a:pt x="254" y="102"/>
                </a:lnTo>
                <a:lnTo>
                  <a:pt x="251" y="102"/>
                </a:lnTo>
                <a:lnTo>
                  <a:pt x="249" y="101"/>
                </a:lnTo>
                <a:lnTo>
                  <a:pt x="249" y="101"/>
                </a:lnTo>
                <a:lnTo>
                  <a:pt x="247" y="99"/>
                </a:lnTo>
                <a:lnTo>
                  <a:pt x="245" y="97"/>
                </a:lnTo>
                <a:lnTo>
                  <a:pt x="245" y="97"/>
                </a:lnTo>
                <a:lnTo>
                  <a:pt x="245" y="94"/>
                </a:lnTo>
                <a:lnTo>
                  <a:pt x="246" y="92"/>
                </a:lnTo>
                <a:lnTo>
                  <a:pt x="246" y="92"/>
                </a:lnTo>
                <a:lnTo>
                  <a:pt x="255" y="78"/>
                </a:lnTo>
                <a:lnTo>
                  <a:pt x="276" y="51"/>
                </a:lnTo>
                <a:lnTo>
                  <a:pt x="276" y="51"/>
                </a:lnTo>
                <a:lnTo>
                  <a:pt x="292" y="31"/>
                </a:lnTo>
                <a:lnTo>
                  <a:pt x="292" y="31"/>
                </a:lnTo>
                <a:lnTo>
                  <a:pt x="271" y="37"/>
                </a:lnTo>
                <a:lnTo>
                  <a:pt x="250" y="43"/>
                </a:lnTo>
                <a:lnTo>
                  <a:pt x="230" y="51"/>
                </a:lnTo>
                <a:lnTo>
                  <a:pt x="211" y="60"/>
                </a:lnTo>
                <a:lnTo>
                  <a:pt x="211" y="60"/>
                </a:lnTo>
                <a:lnTo>
                  <a:pt x="192" y="69"/>
                </a:lnTo>
                <a:lnTo>
                  <a:pt x="173" y="79"/>
                </a:lnTo>
                <a:lnTo>
                  <a:pt x="155" y="90"/>
                </a:lnTo>
                <a:lnTo>
                  <a:pt x="137" y="102"/>
                </a:lnTo>
                <a:lnTo>
                  <a:pt x="137" y="102"/>
                </a:lnTo>
                <a:lnTo>
                  <a:pt x="120" y="115"/>
                </a:lnTo>
                <a:lnTo>
                  <a:pt x="104" y="129"/>
                </a:lnTo>
                <a:lnTo>
                  <a:pt x="88" y="144"/>
                </a:lnTo>
                <a:lnTo>
                  <a:pt x="74" y="161"/>
                </a:lnTo>
                <a:lnTo>
                  <a:pt x="74" y="161"/>
                </a:lnTo>
                <a:lnTo>
                  <a:pt x="60" y="178"/>
                </a:lnTo>
                <a:lnTo>
                  <a:pt x="48" y="196"/>
                </a:lnTo>
                <a:lnTo>
                  <a:pt x="38" y="214"/>
                </a:lnTo>
                <a:lnTo>
                  <a:pt x="29" y="233"/>
                </a:lnTo>
                <a:lnTo>
                  <a:pt x="29" y="233"/>
                </a:lnTo>
                <a:lnTo>
                  <a:pt x="22" y="252"/>
                </a:lnTo>
                <a:lnTo>
                  <a:pt x="17" y="270"/>
                </a:lnTo>
                <a:lnTo>
                  <a:pt x="15" y="287"/>
                </a:lnTo>
                <a:lnTo>
                  <a:pt x="14" y="304"/>
                </a:lnTo>
                <a:lnTo>
                  <a:pt x="14" y="304"/>
                </a:lnTo>
                <a:lnTo>
                  <a:pt x="15" y="313"/>
                </a:lnTo>
                <a:lnTo>
                  <a:pt x="17" y="322"/>
                </a:lnTo>
                <a:lnTo>
                  <a:pt x="20" y="329"/>
                </a:lnTo>
                <a:lnTo>
                  <a:pt x="24" y="336"/>
                </a:lnTo>
                <a:lnTo>
                  <a:pt x="29" y="342"/>
                </a:lnTo>
                <a:lnTo>
                  <a:pt x="34" y="347"/>
                </a:lnTo>
                <a:lnTo>
                  <a:pt x="41" y="352"/>
                </a:lnTo>
                <a:lnTo>
                  <a:pt x="48" y="356"/>
                </a:lnTo>
                <a:lnTo>
                  <a:pt x="48" y="356"/>
                </a:lnTo>
                <a:lnTo>
                  <a:pt x="50" y="357"/>
                </a:lnTo>
                <a:lnTo>
                  <a:pt x="52" y="360"/>
                </a:lnTo>
                <a:lnTo>
                  <a:pt x="52" y="360"/>
                </a:lnTo>
                <a:lnTo>
                  <a:pt x="52" y="362"/>
                </a:lnTo>
                <a:lnTo>
                  <a:pt x="52" y="365"/>
                </a:lnTo>
                <a:lnTo>
                  <a:pt x="52" y="365"/>
                </a:lnTo>
                <a:lnTo>
                  <a:pt x="50" y="367"/>
                </a:lnTo>
                <a:lnTo>
                  <a:pt x="48" y="369"/>
                </a:lnTo>
                <a:lnTo>
                  <a:pt x="48" y="369"/>
                </a:lnTo>
                <a:lnTo>
                  <a:pt x="45" y="370"/>
                </a:lnTo>
                <a:lnTo>
                  <a:pt x="42" y="369"/>
                </a:lnTo>
                <a:lnTo>
                  <a:pt x="42" y="369"/>
                </a:lnTo>
                <a:lnTo>
                  <a:pt x="33" y="365"/>
                </a:lnTo>
                <a:lnTo>
                  <a:pt x="25" y="359"/>
                </a:lnTo>
                <a:lnTo>
                  <a:pt x="18" y="352"/>
                </a:lnTo>
                <a:lnTo>
                  <a:pt x="12" y="345"/>
                </a:lnTo>
                <a:lnTo>
                  <a:pt x="7" y="336"/>
                </a:lnTo>
                <a:lnTo>
                  <a:pt x="3" y="327"/>
                </a:lnTo>
                <a:lnTo>
                  <a:pt x="1" y="316"/>
                </a:lnTo>
                <a:lnTo>
                  <a:pt x="0" y="305"/>
                </a:lnTo>
                <a:lnTo>
                  <a:pt x="0" y="305"/>
                </a:lnTo>
                <a:lnTo>
                  <a:pt x="0" y="296"/>
                </a:lnTo>
                <a:lnTo>
                  <a:pt x="0" y="286"/>
                </a:lnTo>
                <a:lnTo>
                  <a:pt x="3" y="267"/>
                </a:lnTo>
                <a:lnTo>
                  <a:pt x="8" y="248"/>
                </a:lnTo>
                <a:lnTo>
                  <a:pt x="15" y="227"/>
                </a:lnTo>
                <a:lnTo>
                  <a:pt x="15" y="227"/>
                </a:lnTo>
                <a:lnTo>
                  <a:pt x="25" y="207"/>
                </a:lnTo>
                <a:lnTo>
                  <a:pt x="36" y="188"/>
                </a:lnTo>
                <a:lnTo>
                  <a:pt x="48" y="170"/>
                </a:lnTo>
                <a:lnTo>
                  <a:pt x="62" y="152"/>
                </a:lnTo>
                <a:lnTo>
                  <a:pt x="62" y="152"/>
                </a:lnTo>
                <a:lnTo>
                  <a:pt x="78" y="135"/>
                </a:lnTo>
                <a:lnTo>
                  <a:pt x="93" y="119"/>
                </a:lnTo>
                <a:lnTo>
                  <a:pt x="110" y="105"/>
                </a:lnTo>
                <a:lnTo>
                  <a:pt x="128" y="91"/>
                </a:lnTo>
                <a:lnTo>
                  <a:pt x="128" y="91"/>
                </a:lnTo>
                <a:lnTo>
                  <a:pt x="146" y="79"/>
                </a:lnTo>
                <a:lnTo>
                  <a:pt x="165" y="67"/>
                </a:lnTo>
                <a:lnTo>
                  <a:pt x="184" y="57"/>
                </a:lnTo>
                <a:lnTo>
                  <a:pt x="204" y="47"/>
                </a:lnTo>
                <a:lnTo>
                  <a:pt x="204" y="47"/>
                </a:lnTo>
                <a:lnTo>
                  <a:pt x="224" y="38"/>
                </a:lnTo>
                <a:lnTo>
                  <a:pt x="244" y="30"/>
                </a:lnTo>
                <a:lnTo>
                  <a:pt x="265" y="23"/>
                </a:lnTo>
                <a:lnTo>
                  <a:pt x="286" y="17"/>
                </a:lnTo>
                <a:lnTo>
                  <a:pt x="286" y="17"/>
                </a:lnTo>
                <a:lnTo>
                  <a:pt x="274" y="16"/>
                </a:lnTo>
                <a:lnTo>
                  <a:pt x="259" y="15"/>
                </a:lnTo>
                <a:lnTo>
                  <a:pt x="259" y="15"/>
                </a:lnTo>
                <a:lnTo>
                  <a:pt x="224" y="15"/>
                </a:lnTo>
                <a:lnTo>
                  <a:pt x="212" y="15"/>
                </a:lnTo>
                <a:lnTo>
                  <a:pt x="203" y="17"/>
                </a:lnTo>
                <a:lnTo>
                  <a:pt x="203" y="17"/>
                </a:lnTo>
                <a:lnTo>
                  <a:pt x="200" y="17"/>
                </a:lnTo>
                <a:lnTo>
                  <a:pt x="198" y="16"/>
                </a:lnTo>
                <a:lnTo>
                  <a:pt x="198" y="16"/>
                </a:lnTo>
                <a:lnTo>
                  <a:pt x="196" y="14"/>
                </a:lnTo>
                <a:lnTo>
                  <a:pt x="194" y="12"/>
                </a:lnTo>
                <a:lnTo>
                  <a:pt x="194" y="12"/>
                </a:lnTo>
                <a:lnTo>
                  <a:pt x="194" y="9"/>
                </a:lnTo>
                <a:lnTo>
                  <a:pt x="195" y="6"/>
                </a:lnTo>
                <a:lnTo>
                  <a:pt x="195" y="6"/>
                </a:lnTo>
                <a:lnTo>
                  <a:pt x="197" y="4"/>
                </a:lnTo>
                <a:lnTo>
                  <a:pt x="200" y="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sz="2400" kern="120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323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12" grpId="0" animBg="1"/>
      <p:bldP spid="13" grpId="0" animBg="1"/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28B77C6-EE10-4A31-B0A3-BEE4738AE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318816" y="-1015181"/>
            <a:ext cx="3554361" cy="12192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A038334-2C1D-4BC4-8E46-67C930782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 flipV="1">
            <a:off x="4381499" y="-4270579"/>
            <a:ext cx="3429000" cy="12192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E52608C-1F53-43ED-A782-E51250605CA8}"/>
              </a:ext>
            </a:extLst>
          </p:cNvPr>
          <p:cNvSpPr/>
          <p:nvPr/>
        </p:nvSpPr>
        <p:spPr>
          <a:xfrm>
            <a:off x="2781459" y="2182505"/>
            <a:ext cx="6454270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7200" b="1" dirty="0">
                <a:solidFill>
                  <a:schemeClr val="bg1"/>
                </a:solidFill>
                <a:cs typeface="+mn-ea"/>
                <a:sym typeface="+mn-lt"/>
              </a:rPr>
              <a:t>Thank you</a:t>
            </a:r>
            <a:endParaRPr lang="zh-CN" altLang="en-US" sz="7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39797" y="3552791"/>
            <a:ext cx="162095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队伍名称：珀修斯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400" b="1" kern="0" dirty="0">
              <a:solidFill>
                <a:schemeClr val="bg1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dirty="0">
                <a:solidFill>
                  <a:schemeClr val="bg1"/>
                </a:solidFill>
              </a:rPr>
              <a:t>队长：毛浩然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Freeform 26">
            <a:extLst>
              <a:ext uri="{FF2B5EF4-FFF2-40B4-BE49-F238E27FC236}">
                <a16:creationId xmlns:a16="http://schemas.microsoft.com/office/drawing/2014/main" id="{DBE413A3-5615-146A-C70D-58A589B41191}"/>
              </a:ext>
            </a:extLst>
          </p:cNvPr>
          <p:cNvSpPr>
            <a:spLocks noEditPoints="1"/>
          </p:cNvSpPr>
          <p:nvPr/>
        </p:nvSpPr>
        <p:spPr bwMode="auto">
          <a:xfrm>
            <a:off x="4630632" y="3645544"/>
            <a:ext cx="533504" cy="533504"/>
          </a:xfrm>
          <a:custGeom>
            <a:avLst/>
            <a:gdLst>
              <a:gd name="T0" fmla="*/ 96 w 660"/>
              <a:gd name="T1" fmla="*/ 96 h 660"/>
              <a:gd name="T2" fmla="*/ 96 w 660"/>
              <a:gd name="T3" fmla="*/ 563 h 660"/>
              <a:gd name="T4" fmla="*/ 563 w 660"/>
              <a:gd name="T5" fmla="*/ 563 h 660"/>
              <a:gd name="T6" fmla="*/ 563 w 660"/>
              <a:gd name="T7" fmla="*/ 96 h 660"/>
              <a:gd name="T8" fmla="*/ 578 w 660"/>
              <a:gd name="T9" fmla="*/ 180 h 660"/>
              <a:gd name="T10" fmla="*/ 465 w 660"/>
              <a:gd name="T11" fmla="*/ 120 h 660"/>
              <a:gd name="T12" fmla="*/ 380 w 660"/>
              <a:gd name="T13" fmla="*/ 44 h 660"/>
              <a:gd name="T14" fmla="*/ 578 w 660"/>
              <a:gd name="T15" fmla="*/ 180 h 660"/>
              <a:gd name="T16" fmla="*/ 482 w 660"/>
              <a:gd name="T17" fmla="*/ 474 h 660"/>
              <a:gd name="T18" fmla="*/ 619 w 660"/>
              <a:gd name="T19" fmla="*/ 340 h 660"/>
              <a:gd name="T20" fmla="*/ 341 w 660"/>
              <a:gd name="T21" fmla="*/ 619 h 660"/>
              <a:gd name="T22" fmla="*/ 340 w 660"/>
              <a:gd name="T23" fmla="*/ 548 h 660"/>
              <a:gd name="T24" fmla="*/ 440 w 660"/>
              <a:gd name="T25" fmla="*/ 506 h 660"/>
              <a:gd name="T26" fmla="*/ 220 w 660"/>
              <a:gd name="T27" fmla="*/ 506 h 660"/>
              <a:gd name="T28" fmla="*/ 320 w 660"/>
              <a:gd name="T29" fmla="*/ 548 h 660"/>
              <a:gd name="T30" fmla="*/ 319 w 660"/>
              <a:gd name="T31" fmla="*/ 619 h 660"/>
              <a:gd name="T32" fmla="*/ 65 w 660"/>
              <a:gd name="T33" fmla="*/ 213 h 660"/>
              <a:gd name="T34" fmla="*/ 151 w 660"/>
              <a:gd name="T35" fmla="*/ 281 h 660"/>
              <a:gd name="T36" fmla="*/ 40 w 660"/>
              <a:gd name="T37" fmla="*/ 320 h 660"/>
              <a:gd name="T38" fmla="*/ 319 w 660"/>
              <a:gd name="T39" fmla="*/ 40 h 660"/>
              <a:gd name="T40" fmla="*/ 320 w 660"/>
              <a:gd name="T41" fmla="*/ 147 h 660"/>
              <a:gd name="T42" fmla="*/ 319 w 660"/>
              <a:gd name="T43" fmla="*/ 40 h 660"/>
              <a:gd name="T44" fmla="*/ 419 w 660"/>
              <a:gd name="T45" fmla="*/ 151 h 660"/>
              <a:gd name="T46" fmla="*/ 340 w 660"/>
              <a:gd name="T47" fmla="*/ 40 h 660"/>
              <a:gd name="T48" fmla="*/ 429 w 660"/>
              <a:gd name="T49" fmla="*/ 135 h 660"/>
              <a:gd name="T50" fmla="*/ 416 w 660"/>
              <a:gd name="T51" fmla="*/ 177 h 660"/>
              <a:gd name="T52" fmla="*/ 471 w 660"/>
              <a:gd name="T53" fmla="*/ 219 h 660"/>
              <a:gd name="T54" fmla="*/ 340 w 660"/>
              <a:gd name="T55" fmla="*/ 320 h 660"/>
              <a:gd name="T56" fmla="*/ 488 w 660"/>
              <a:gd name="T57" fmla="*/ 169 h 660"/>
              <a:gd name="T58" fmla="*/ 442 w 660"/>
              <a:gd name="T59" fmla="*/ 169 h 660"/>
              <a:gd name="T60" fmla="*/ 488 w 660"/>
              <a:gd name="T61" fmla="*/ 169 h 660"/>
              <a:gd name="T62" fmla="*/ 320 w 660"/>
              <a:gd name="T63" fmla="*/ 320 h 660"/>
              <a:gd name="T64" fmla="*/ 173 w 660"/>
              <a:gd name="T65" fmla="*/ 282 h 660"/>
              <a:gd name="T66" fmla="*/ 320 w 660"/>
              <a:gd name="T67" fmla="*/ 173 h 660"/>
              <a:gd name="T68" fmla="*/ 159 w 660"/>
              <a:gd name="T69" fmla="*/ 352 h 660"/>
              <a:gd name="T70" fmla="*/ 159 w 660"/>
              <a:gd name="T71" fmla="*/ 307 h 660"/>
              <a:gd name="T72" fmla="*/ 40 w 660"/>
              <a:gd name="T73" fmla="*/ 340 h 660"/>
              <a:gd name="T74" fmla="*/ 151 w 660"/>
              <a:gd name="T75" fmla="*/ 379 h 660"/>
              <a:gd name="T76" fmla="*/ 65 w 660"/>
              <a:gd name="T77" fmla="*/ 447 h 660"/>
              <a:gd name="T78" fmla="*/ 173 w 660"/>
              <a:gd name="T79" fmla="*/ 377 h 660"/>
              <a:gd name="T80" fmla="*/ 320 w 660"/>
              <a:gd name="T81" fmla="*/ 340 h 660"/>
              <a:gd name="T82" fmla="*/ 282 w 660"/>
              <a:gd name="T83" fmla="*/ 486 h 660"/>
              <a:gd name="T84" fmla="*/ 173 w 660"/>
              <a:gd name="T85" fmla="*/ 377 h 660"/>
              <a:gd name="T86" fmla="*/ 330 w 660"/>
              <a:gd name="T87" fmla="*/ 523 h 660"/>
              <a:gd name="T88" fmla="*/ 330 w 660"/>
              <a:gd name="T89" fmla="*/ 477 h 660"/>
              <a:gd name="T90" fmla="*/ 377 w 660"/>
              <a:gd name="T91" fmla="*/ 486 h 660"/>
              <a:gd name="T92" fmla="*/ 340 w 660"/>
              <a:gd name="T93" fmla="*/ 340 h 660"/>
              <a:gd name="T94" fmla="*/ 455 w 660"/>
              <a:gd name="T95" fmla="*/ 478 h 660"/>
              <a:gd name="T96" fmla="*/ 512 w 660"/>
              <a:gd name="T97" fmla="*/ 320 h 660"/>
              <a:gd name="T98" fmla="*/ 510 w 660"/>
              <a:gd name="T99" fmla="*/ 191 h 660"/>
              <a:gd name="T100" fmla="*/ 619 w 660"/>
              <a:gd name="T101" fmla="*/ 320 h 660"/>
              <a:gd name="T102" fmla="*/ 125 w 660"/>
              <a:gd name="T103" fmla="*/ 125 h 660"/>
              <a:gd name="T104" fmla="*/ 195 w 660"/>
              <a:gd name="T105" fmla="*/ 151 h 660"/>
              <a:gd name="T106" fmla="*/ 81 w 660"/>
              <a:gd name="T107" fmla="*/ 180 h 660"/>
              <a:gd name="T108" fmla="*/ 81 w 660"/>
              <a:gd name="T109" fmla="*/ 479 h 660"/>
              <a:gd name="T110" fmla="*/ 195 w 660"/>
              <a:gd name="T111" fmla="*/ 508 h 660"/>
              <a:gd name="T112" fmla="*/ 125 w 660"/>
              <a:gd name="T113" fmla="*/ 535 h 660"/>
              <a:gd name="T114" fmla="*/ 535 w 660"/>
              <a:gd name="T115" fmla="*/ 535 h 660"/>
              <a:gd name="T116" fmla="*/ 465 w 660"/>
              <a:gd name="T117" fmla="*/ 508 h 660"/>
              <a:gd name="T118" fmla="*/ 578 w 660"/>
              <a:gd name="T119" fmla="*/ 479 h 6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660" h="660">
                <a:moveTo>
                  <a:pt x="330" y="0"/>
                </a:moveTo>
                <a:cubicBezTo>
                  <a:pt x="242" y="0"/>
                  <a:pt x="159" y="34"/>
                  <a:pt x="96" y="96"/>
                </a:cubicBezTo>
                <a:cubicBezTo>
                  <a:pt x="34" y="159"/>
                  <a:pt x="0" y="242"/>
                  <a:pt x="0" y="330"/>
                </a:cubicBezTo>
                <a:cubicBezTo>
                  <a:pt x="0" y="418"/>
                  <a:pt x="34" y="501"/>
                  <a:pt x="96" y="563"/>
                </a:cubicBezTo>
                <a:cubicBezTo>
                  <a:pt x="159" y="626"/>
                  <a:pt x="242" y="660"/>
                  <a:pt x="330" y="660"/>
                </a:cubicBezTo>
                <a:cubicBezTo>
                  <a:pt x="418" y="660"/>
                  <a:pt x="501" y="626"/>
                  <a:pt x="563" y="563"/>
                </a:cubicBezTo>
                <a:cubicBezTo>
                  <a:pt x="626" y="501"/>
                  <a:pt x="660" y="418"/>
                  <a:pt x="660" y="330"/>
                </a:cubicBezTo>
                <a:cubicBezTo>
                  <a:pt x="660" y="242"/>
                  <a:pt x="626" y="159"/>
                  <a:pt x="563" y="96"/>
                </a:cubicBezTo>
                <a:cubicBezTo>
                  <a:pt x="501" y="34"/>
                  <a:pt x="418" y="0"/>
                  <a:pt x="330" y="0"/>
                </a:cubicBezTo>
                <a:close/>
                <a:moveTo>
                  <a:pt x="578" y="180"/>
                </a:moveTo>
                <a:cubicBezTo>
                  <a:pt x="557" y="175"/>
                  <a:pt x="536" y="169"/>
                  <a:pt x="514" y="165"/>
                </a:cubicBezTo>
                <a:cubicBezTo>
                  <a:pt x="512" y="140"/>
                  <a:pt x="491" y="120"/>
                  <a:pt x="465" y="120"/>
                </a:cubicBezTo>
                <a:cubicBezTo>
                  <a:pt x="459" y="120"/>
                  <a:pt x="453" y="121"/>
                  <a:pt x="448" y="123"/>
                </a:cubicBezTo>
                <a:cubicBezTo>
                  <a:pt x="429" y="95"/>
                  <a:pt x="406" y="68"/>
                  <a:pt x="380" y="44"/>
                </a:cubicBezTo>
                <a:cubicBezTo>
                  <a:pt x="438" y="54"/>
                  <a:pt x="492" y="82"/>
                  <a:pt x="535" y="125"/>
                </a:cubicBezTo>
                <a:cubicBezTo>
                  <a:pt x="552" y="142"/>
                  <a:pt x="566" y="160"/>
                  <a:pt x="578" y="180"/>
                </a:cubicBezTo>
                <a:close/>
                <a:moveTo>
                  <a:pt x="595" y="447"/>
                </a:moveTo>
                <a:cubicBezTo>
                  <a:pt x="558" y="458"/>
                  <a:pt x="520" y="467"/>
                  <a:pt x="482" y="474"/>
                </a:cubicBezTo>
                <a:cubicBezTo>
                  <a:pt x="501" y="431"/>
                  <a:pt x="511" y="386"/>
                  <a:pt x="512" y="340"/>
                </a:cubicBezTo>
                <a:cubicBezTo>
                  <a:pt x="619" y="340"/>
                  <a:pt x="619" y="340"/>
                  <a:pt x="619" y="340"/>
                </a:cubicBezTo>
                <a:cubicBezTo>
                  <a:pt x="618" y="377"/>
                  <a:pt x="610" y="413"/>
                  <a:pt x="595" y="447"/>
                </a:cubicBezTo>
                <a:close/>
                <a:moveTo>
                  <a:pt x="341" y="619"/>
                </a:moveTo>
                <a:cubicBezTo>
                  <a:pt x="341" y="619"/>
                  <a:pt x="340" y="619"/>
                  <a:pt x="340" y="619"/>
                </a:cubicBezTo>
                <a:cubicBezTo>
                  <a:pt x="340" y="548"/>
                  <a:pt x="340" y="548"/>
                  <a:pt x="340" y="548"/>
                </a:cubicBezTo>
                <a:cubicBezTo>
                  <a:pt x="359" y="545"/>
                  <a:pt x="374" y="530"/>
                  <a:pt x="378" y="512"/>
                </a:cubicBezTo>
                <a:cubicBezTo>
                  <a:pt x="399" y="511"/>
                  <a:pt x="419" y="509"/>
                  <a:pt x="440" y="506"/>
                </a:cubicBezTo>
                <a:cubicBezTo>
                  <a:pt x="415" y="548"/>
                  <a:pt x="382" y="586"/>
                  <a:pt x="341" y="619"/>
                </a:cubicBezTo>
                <a:close/>
                <a:moveTo>
                  <a:pt x="220" y="506"/>
                </a:moveTo>
                <a:cubicBezTo>
                  <a:pt x="240" y="509"/>
                  <a:pt x="261" y="511"/>
                  <a:pt x="282" y="512"/>
                </a:cubicBezTo>
                <a:cubicBezTo>
                  <a:pt x="286" y="530"/>
                  <a:pt x="301" y="545"/>
                  <a:pt x="320" y="548"/>
                </a:cubicBezTo>
                <a:cubicBezTo>
                  <a:pt x="320" y="619"/>
                  <a:pt x="320" y="619"/>
                  <a:pt x="320" y="619"/>
                </a:cubicBezTo>
                <a:cubicBezTo>
                  <a:pt x="319" y="619"/>
                  <a:pt x="319" y="619"/>
                  <a:pt x="319" y="619"/>
                </a:cubicBezTo>
                <a:cubicBezTo>
                  <a:pt x="278" y="586"/>
                  <a:pt x="245" y="548"/>
                  <a:pt x="220" y="506"/>
                </a:cubicBezTo>
                <a:close/>
                <a:moveTo>
                  <a:pt x="65" y="213"/>
                </a:moveTo>
                <a:cubicBezTo>
                  <a:pt x="102" y="201"/>
                  <a:pt x="140" y="192"/>
                  <a:pt x="178" y="186"/>
                </a:cubicBezTo>
                <a:cubicBezTo>
                  <a:pt x="164" y="216"/>
                  <a:pt x="155" y="248"/>
                  <a:pt x="151" y="281"/>
                </a:cubicBezTo>
                <a:cubicBezTo>
                  <a:pt x="130" y="284"/>
                  <a:pt x="114" y="300"/>
                  <a:pt x="110" y="320"/>
                </a:cubicBezTo>
                <a:cubicBezTo>
                  <a:pt x="40" y="320"/>
                  <a:pt x="40" y="320"/>
                  <a:pt x="40" y="320"/>
                </a:cubicBezTo>
                <a:cubicBezTo>
                  <a:pt x="42" y="282"/>
                  <a:pt x="50" y="246"/>
                  <a:pt x="65" y="213"/>
                </a:cubicBezTo>
                <a:close/>
                <a:moveTo>
                  <a:pt x="319" y="40"/>
                </a:moveTo>
                <a:cubicBezTo>
                  <a:pt x="319" y="40"/>
                  <a:pt x="319" y="40"/>
                  <a:pt x="320" y="40"/>
                </a:cubicBezTo>
                <a:cubicBezTo>
                  <a:pt x="320" y="147"/>
                  <a:pt x="320" y="147"/>
                  <a:pt x="320" y="147"/>
                </a:cubicBezTo>
                <a:cubicBezTo>
                  <a:pt x="286" y="147"/>
                  <a:pt x="253" y="149"/>
                  <a:pt x="220" y="153"/>
                </a:cubicBezTo>
                <a:cubicBezTo>
                  <a:pt x="245" y="111"/>
                  <a:pt x="278" y="73"/>
                  <a:pt x="319" y="40"/>
                </a:cubicBezTo>
                <a:close/>
                <a:moveTo>
                  <a:pt x="429" y="135"/>
                </a:moveTo>
                <a:cubicBezTo>
                  <a:pt x="425" y="140"/>
                  <a:pt x="421" y="145"/>
                  <a:pt x="419" y="151"/>
                </a:cubicBezTo>
                <a:cubicBezTo>
                  <a:pt x="393" y="148"/>
                  <a:pt x="366" y="147"/>
                  <a:pt x="340" y="147"/>
                </a:cubicBezTo>
                <a:cubicBezTo>
                  <a:pt x="340" y="40"/>
                  <a:pt x="340" y="40"/>
                  <a:pt x="340" y="40"/>
                </a:cubicBezTo>
                <a:cubicBezTo>
                  <a:pt x="340" y="40"/>
                  <a:pt x="341" y="40"/>
                  <a:pt x="341" y="40"/>
                </a:cubicBezTo>
                <a:cubicBezTo>
                  <a:pt x="376" y="69"/>
                  <a:pt x="406" y="101"/>
                  <a:pt x="429" y="135"/>
                </a:cubicBezTo>
                <a:close/>
                <a:moveTo>
                  <a:pt x="340" y="173"/>
                </a:moveTo>
                <a:cubicBezTo>
                  <a:pt x="365" y="173"/>
                  <a:pt x="391" y="174"/>
                  <a:pt x="416" y="177"/>
                </a:cubicBezTo>
                <a:cubicBezTo>
                  <a:pt x="420" y="201"/>
                  <a:pt x="440" y="219"/>
                  <a:pt x="465" y="219"/>
                </a:cubicBezTo>
                <a:cubicBezTo>
                  <a:pt x="467" y="219"/>
                  <a:pt x="469" y="219"/>
                  <a:pt x="471" y="219"/>
                </a:cubicBezTo>
                <a:cubicBezTo>
                  <a:pt x="482" y="251"/>
                  <a:pt x="489" y="285"/>
                  <a:pt x="490" y="320"/>
                </a:cubicBezTo>
                <a:cubicBezTo>
                  <a:pt x="340" y="320"/>
                  <a:pt x="340" y="320"/>
                  <a:pt x="340" y="320"/>
                </a:cubicBezTo>
                <a:lnTo>
                  <a:pt x="340" y="173"/>
                </a:lnTo>
                <a:close/>
                <a:moveTo>
                  <a:pt x="488" y="169"/>
                </a:moveTo>
                <a:cubicBezTo>
                  <a:pt x="488" y="182"/>
                  <a:pt x="478" y="192"/>
                  <a:pt x="465" y="192"/>
                </a:cubicBezTo>
                <a:cubicBezTo>
                  <a:pt x="452" y="192"/>
                  <a:pt x="442" y="182"/>
                  <a:pt x="442" y="169"/>
                </a:cubicBezTo>
                <a:cubicBezTo>
                  <a:pt x="442" y="157"/>
                  <a:pt x="452" y="147"/>
                  <a:pt x="465" y="147"/>
                </a:cubicBezTo>
                <a:cubicBezTo>
                  <a:pt x="478" y="147"/>
                  <a:pt x="488" y="157"/>
                  <a:pt x="488" y="169"/>
                </a:cubicBezTo>
                <a:close/>
                <a:moveTo>
                  <a:pt x="320" y="173"/>
                </a:moveTo>
                <a:cubicBezTo>
                  <a:pt x="320" y="320"/>
                  <a:pt x="320" y="320"/>
                  <a:pt x="320" y="320"/>
                </a:cubicBezTo>
                <a:cubicBezTo>
                  <a:pt x="207" y="320"/>
                  <a:pt x="207" y="320"/>
                  <a:pt x="207" y="320"/>
                </a:cubicBezTo>
                <a:cubicBezTo>
                  <a:pt x="204" y="302"/>
                  <a:pt x="190" y="288"/>
                  <a:pt x="173" y="282"/>
                </a:cubicBezTo>
                <a:cubicBezTo>
                  <a:pt x="178" y="248"/>
                  <a:pt x="189" y="214"/>
                  <a:pt x="204" y="181"/>
                </a:cubicBezTo>
                <a:cubicBezTo>
                  <a:pt x="243" y="176"/>
                  <a:pt x="281" y="173"/>
                  <a:pt x="320" y="173"/>
                </a:cubicBezTo>
                <a:close/>
                <a:moveTo>
                  <a:pt x="181" y="330"/>
                </a:moveTo>
                <a:cubicBezTo>
                  <a:pt x="181" y="342"/>
                  <a:pt x="171" y="352"/>
                  <a:pt x="159" y="352"/>
                </a:cubicBezTo>
                <a:cubicBezTo>
                  <a:pt x="146" y="352"/>
                  <a:pt x="136" y="342"/>
                  <a:pt x="136" y="330"/>
                </a:cubicBezTo>
                <a:cubicBezTo>
                  <a:pt x="136" y="317"/>
                  <a:pt x="146" y="307"/>
                  <a:pt x="159" y="307"/>
                </a:cubicBezTo>
                <a:cubicBezTo>
                  <a:pt x="171" y="307"/>
                  <a:pt x="181" y="317"/>
                  <a:pt x="181" y="330"/>
                </a:cubicBezTo>
                <a:close/>
                <a:moveTo>
                  <a:pt x="40" y="340"/>
                </a:moveTo>
                <a:cubicBezTo>
                  <a:pt x="110" y="340"/>
                  <a:pt x="110" y="340"/>
                  <a:pt x="110" y="340"/>
                </a:cubicBezTo>
                <a:cubicBezTo>
                  <a:pt x="114" y="360"/>
                  <a:pt x="130" y="375"/>
                  <a:pt x="151" y="379"/>
                </a:cubicBezTo>
                <a:cubicBezTo>
                  <a:pt x="155" y="411"/>
                  <a:pt x="164" y="443"/>
                  <a:pt x="178" y="474"/>
                </a:cubicBezTo>
                <a:cubicBezTo>
                  <a:pt x="140" y="467"/>
                  <a:pt x="102" y="458"/>
                  <a:pt x="65" y="447"/>
                </a:cubicBezTo>
                <a:cubicBezTo>
                  <a:pt x="50" y="413"/>
                  <a:pt x="42" y="377"/>
                  <a:pt x="40" y="340"/>
                </a:cubicBezTo>
                <a:close/>
                <a:moveTo>
                  <a:pt x="173" y="377"/>
                </a:moveTo>
                <a:cubicBezTo>
                  <a:pt x="190" y="372"/>
                  <a:pt x="204" y="358"/>
                  <a:pt x="207" y="340"/>
                </a:cubicBezTo>
                <a:cubicBezTo>
                  <a:pt x="320" y="340"/>
                  <a:pt x="320" y="340"/>
                  <a:pt x="320" y="340"/>
                </a:cubicBezTo>
                <a:cubicBezTo>
                  <a:pt x="320" y="451"/>
                  <a:pt x="320" y="451"/>
                  <a:pt x="320" y="451"/>
                </a:cubicBezTo>
                <a:cubicBezTo>
                  <a:pt x="302" y="455"/>
                  <a:pt x="288" y="468"/>
                  <a:pt x="282" y="486"/>
                </a:cubicBezTo>
                <a:cubicBezTo>
                  <a:pt x="256" y="484"/>
                  <a:pt x="230" y="482"/>
                  <a:pt x="204" y="478"/>
                </a:cubicBezTo>
                <a:cubicBezTo>
                  <a:pt x="189" y="446"/>
                  <a:pt x="178" y="412"/>
                  <a:pt x="173" y="377"/>
                </a:cubicBezTo>
                <a:close/>
                <a:moveTo>
                  <a:pt x="353" y="500"/>
                </a:moveTo>
                <a:cubicBezTo>
                  <a:pt x="353" y="512"/>
                  <a:pt x="342" y="523"/>
                  <a:pt x="330" y="523"/>
                </a:cubicBezTo>
                <a:cubicBezTo>
                  <a:pt x="317" y="523"/>
                  <a:pt x="307" y="512"/>
                  <a:pt x="307" y="500"/>
                </a:cubicBezTo>
                <a:cubicBezTo>
                  <a:pt x="307" y="487"/>
                  <a:pt x="317" y="477"/>
                  <a:pt x="330" y="477"/>
                </a:cubicBezTo>
                <a:cubicBezTo>
                  <a:pt x="342" y="477"/>
                  <a:pt x="353" y="487"/>
                  <a:pt x="353" y="500"/>
                </a:cubicBezTo>
                <a:close/>
                <a:moveTo>
                  <a:pt x="377" y="486"/>
                </a:moveTo>
                <a:cubicBezTo>
                  <a:pt x="372" y="468"/>
                  <a:pt x="358" y="455"/>
                  <a:pt x="340" y="451"/>
                </a:cubicBezTo>
                <a:cubicBezTo>
                  <a:pt x="340" y="340"/>
                  <a:pt x="340" y="340"/>
                  <a:pt x="340" y="340"/>
                </a:cubicBezTo>
                <a:cubicBezTo>
                  <a:pt x="490" y="340"/>
                  <a:pt x="490" y="340"/>
                  <a:pt x="490" y="340"/>
                </a:cubicBezTo>
                <a:cubicBezTo>
                  <a:pt x="488" y="387"/>
                  <a:pt x="477" y="434"/>
                  <a:pt x="455" y="478"/>
                </a:cubicBezTo>
                <a:cubicBezTo>
                  <a:pt x="430" y="482"/>
                  <a:pt x="404" y="484"/>
                  <a:pt x="377" y="486"/>
                </a:cubicBezTo>
                <a:close/>
                <a:moveTo>
                  <a:pt x="512" y="320"/>
                </a:moveTo>
                <a:cubicBezTo>
                  <a:pt x="511" y="283"/>
                  <a:pt x="504" y="246"/>
                  <a:pt x="492" y="211"/>
                </a:cubicBezTo>
                <a:cubicBezTo>
                  <a:pt x="500" y="206"/>
                  <a:pt x="506" y="199"/>
                  <a:pt x="510" y="191"/>
                </a:cubicBezTo>
                <a:cubicBezTo>
                  <a:pt x="539" y="197"/>
                  <a:pt x="567" y="204"/>
                  <a:pt x="595" y="213"/>
                </a:cubicBezTo>
                <a:cubicBezTo>
                  <a:pt x="610" y="246"/>
                  <a:pt x="618" y="282"/>
                  <a:pt x="619" y="320"/>
                </a:cubicBezTo>
                <a:lnTo>
                  <a:pt x="512" y="320"/>
                </a:lnTo>
                <a:close/>
                <a:moveTo>
                  <a:pt x="125" y="125"/>
                </a:moveTo>
                <a:cubicBezTo>
                  <a:pt x="168" y="82"/>
                  <a:pt x="221" y="54"/>
                  <a:pt x="280" y="44"/>
                </a:cubicBezTo>
                <a:cubicBezTo>
                  <a:pt x="245" y="76"/>
                  <a:pt x="217" y="112"/>
                  <a:pt x="195" y="151"/>
                </a:cubicBezTo>
                <a:cubicBezTo>
                  <a:pt x="194" y="153"/>
                  <a:pt x="193" y="155"/>
                  <a:pt x="192" y="157"/>
                </a:cubicBezTo>
                <a:cubicBezTo>
                  <a:pt x="155" y="162"/>
                  <a:pt x="118" y="170"/>
                  <a:pt x="81" y="180"/>
                </a:cubicBezTo>
                <a:cubicBezTo>
                  <a:pt x="93" y="160"/>
                  <a:pt x="108" y="142"/>
                  <a:pt x="125" y="125"/>
                </a:cubicBezTo>
                <a:close/>
                <a:moveTo>
                  <a:pt x="81" y="479"/>
                </a:moveTo>
                <a:cubicBezTo>
                  <a:pt x="118" y="489"/>
                  <a:pt x="155" y="497"/>
                  <a:pt x="192" y="503"/>
                </a:cubicBezTo>
                <a:cubicBezTo>
                  <a:pt x="193" y="505"/>
                  <a:pt x="194" y="506"/>
                  <a:pt x="195" y="508"/>
                </a:cubicBezTo>
                <a:cubicBezTo>
                  <a:pt x="217" y="547"/>
                  <a:pt x="245" y="583"/>
                  <a:pt x="280" y="615"/>
                </a:cubicBezTo>
                <a:cubicBezTo>
                  <a:pt x="221" y="605"/>
                  <a:pt x="168" y="577"/>
                  <a:pt x="125" y="535"/>
                </a:cubicBezTo>
                <a:cubicBezTo>
                  <a:pt x="108" y="518"/>
                  <a:pt x="93" y="499"/>
                  <a:pt x="81" y="479"/>
                </a:cubicBezTo>
                <a:close/>
                <a:moveTo>
                  <a:pt x="535" y="535"/>
                </a:moveTo>
                <a:cubicBezTo>
                  <a:pt x="492" y="577"/>
                  <a:pt x="438" y="605"/>
                  <a:pt x="380" y="615"/>
                </a:cubicBezTo>
                <a:cubicBezTo>
                  <a:pt x="415" y="583"/>
                  <a:pt x="443" y="547"/>
                  <a:pt x="465" y="508"/>
                </a:cubicBezTo>
                <a:cubicBezTo>
                  <a:pt x="466" y="506"/>
                  <a:pt x="467" y="505"/>
                  <a:pt x="468" y="503"/>
                </a:cubicBezTo>
                <a:cubicBezTo>
                  <a:pt x="505" y="497"/>
                  <a:pt x="542" y="489"/>
                  <a:pt x="578" y="479"/>
                </a:cubicBezTo>
                <a:cubicBezTo>
                  <a:pt x="566" y="499"/>
                  <a:pt x="552" y="518"/>
                  <a:pt x="535" y="5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53085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 bldLvl="0" animBg="1"/>
    </p:bldLst>
  </p:timing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3qymvth">
      <a:majorFont>
        <a:latin typeface="微软雅黑" panose="020F0302020204030204"/>
        <a:ea typeface="微软雅黑"/>
        <a:cs typeface="Arial"/>
      </a:majorFont>
      <a:minorFont>
        <a:latin typeface="微软雅黑" panose="020F0302020204030204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2997</TotalTime>
  <Words>2027</Words>
  <Application>Microsoft Office PowerPoint</Application>
  <PresentationFormat>宽屏</PresentationFormat>
  <Paragraphs>264</Paragraphs>
  <Slides>37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3" baseType="lpstr">
      <vt:lpstr>JetBrains Mono</vt:lpstr>
      <vt:lpstr>quote-cjk-patch</vt:lpstr>
      <vt:lpstr>等线</vt:lpstr>
      <vt:lpstr>微软雅黑</vt:lpstr>
      <vt:lpstr>Arial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毛浩然</dc:creator>
  <cp:lastModifiedBy>浩然 毛</cp:lastModifiedBy>
  <cp:revision>47</cp:revision>
  <cp:lastPrinted>2025-05-01T05:13:02Z</cp:lastPrinted>
  <dcterms:created xsi:type="dcterms:W3CDTF">2025-05-01T05:13:02Z</dcterms:created>
  <dcterms:modified xsi:type="dcterms:W3CDTF">2026-01-12T14:04:21Z</dcterms:modified>
</cp:coreProperties>
</file>