
<file path=[Content_Types].xml><?xml version="1.0" encoding="utf-8"?>
<Types xmlns="http://schemas.openxmlformats.org/package/2006/content-types">
  <Default Extension="bin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80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1EB"/>
    <a:srgbClr val="050004"/>
    <a:srgbClr val="FAE022"/>
    <a:srgbClr val="91A0C9"/>
    <a:srgbClr val="FCEE7C"/>
    <a:srgbClr val="EAD13B"/>
    <a:srgbClr val="F18933"/>
    <a:srgbClr val="658862"/>
    <a:srgbClr val="4C6D59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89" autoAdjust="0"/>
    <p:restoredTop sz="89692" autoAdjust="0"/>
  </p:normalViewPr>
  <p:slideViewPr>
    <p:cSldViewPr snapToGrid="0">
      <p:cViewPr varScale="1">
        <p:scale>
          <a:sx n="96" d="100"/>
          <a:sy n="96" d="100"/>
        </p:scale>
        <p:origin x="48" y="2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C8D6-8378-491C-A88C-F5C0F1DDB3DF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81912-8CC0-4B9F-BE2A-5B54BD796BF3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0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81912-8CC0-4B9F-BE2A-5B54BD796BF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485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0607A-EB09-4464-B9F9-BBAE9FEA8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884A62-FE00-4E3D-ADA0-E22F86BE88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06559F-931E-4C1C-BAA3-CE3BB96C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C8357-4EE7-434F-8F1D-EB72F50A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63E9BA-C35D-4623-8AEC-12CBA176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91243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61D68-9D60-45C1-84CF-8694F122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4BDC1-FF73-432D-AC47-8EEEC5E0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F9B87-024B-4A06-BA78-956CBBDA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15F-D67C-484A-9A5C-333C71D1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8CB9FE-E585-479C-9939-C1DF8EC9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14483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C1372-734A-4296-9FB4-2B237227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504FB-3962-4ABB-8F21-3B1297384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73F61E-C842-45A9-9C07-EC60B6A6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42772-006F-42F3-A53C-D6F9334C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E654AF-4882-4FA1-A3C1-F88A71FB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7049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3E3B72-32AE-40DB-856E-1F79DC1C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6AB566-0A02-47B8-B36A-57903E92C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0B06DF-2A5D-49B6-940D-1C73553E3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D9A042-4577-4206-93A8-73563110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D834B9-AC17-4E4F-9973-2C6080B7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C0070B-569D-4FDB-83D2-2831B39F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45851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6188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06004" y="6733864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191341307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CC1BC-64C9-4962-A764-37E770FB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38FC6B-45DE-432B-B145-F8D8AB2A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413F784-0D7C-43D2-A802-629BA731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781AAF-B2A9-4052-BD38-326FE4C1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8455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CC6E6-411E-4830-BEE1-1A6268018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4BA76C-B531-4C6F-850E-214EA4DF3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662A71-4ED7-4C0E-AF3B-EACBFA46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26273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B54FA-E333-4D04-A18F-7D50B8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2AD769-544A-47A1-A306-AEDAED29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514AB2-F4D7-4383-B3E7-D0F716378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D2DB71-2A42-4C00-9449-CA0DA297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C5D84D-5127-4599-9769-61D2E6955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5A3411-124D-4AEE-9E12-7E304879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4354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113AC-DF3C-45F8-8376-712B7F9B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E7EF9C-8988-4176-8DA2-5346BDB81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72ECB9-BC6A-47B2-9484-877938926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7DA26D-1083-4E20-8433-3EACB78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488704-F74A-430C-9177-1F6D5133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C994E-AAE0-4342-820B-14F521F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2172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1F35A-5862-461C-A776-246D30F8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AA2EDF-8154-4C55-8E92-834173DDF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806EFA-9976-4A7A-810D-76C7047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8A798A-BE9A-4072-A93C-D1D1E203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DD673F-0533-4515-9B56-B753621D6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250983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D47182-1EDE-4FA1-B130-E58222460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E14DC1-ED6B-47BE-A195-B8D73B1D8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C965E7-1B02-43B7-BFDC-37294AFC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516B03-A310-4DD8-90FD-D6C9AA68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4A88E-0943-4A05-8AAD-3E4E90A9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062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A2F3B47-B08B-4181-88A1-0D61C596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D1A009-55AC-40B1-BECE-C8E17CE74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4A7723-30C6-41D1-B39D-85DF3D399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6D8014-D4F0-4B30-B629-8D6D50AFB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5A88B7-1EF5-48FA-988D-161EF7D69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638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50" r:id="rId10"/>
    <p:sldLayoutId id="2147483651" r:id="rId11"/>
    <p:sldLayoutId id="2147483652" r:id="rId12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72529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446453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1523999" y="1681876"/>
            <a:ext cx="914399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000" b="1" spc="300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endParaRPr lang="zh-CN" altLang="en-US" sz="8000" b="1" spc="3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8DACF7-8259-4490-B07D-82BFB4AF18B6}"/>
              </a:ext>
            </a:extLst>
          </p:cNvPr>
          <p:cNvSpPr txBox="1"/>
          <p:nvPr/>
        </p:nvSpPr>
        <p:spPr>
          <a:xfrm>
            <a:off x="2969585" y="3194274"/>
            <a:ext cx="602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基于时序图分析的开源协作故事可视化叙述平台</a:t>
            </a:r>
            <a:endParaRPr lang="zh-CN" altLang="en-US" sz="14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F93A1E8-FAE7-7864-E9BB-A4AEC0935816}"/>
              </a:ext>
            </a:extLst>
          </p:cNvPr>
          <p:cNvGrpSpPr/>
          <p:nvPr/>
        </p:nvGrpSpPr>
        <p:grpSpPr>
          <a:xfrm>
            <a:off x="4842282" y="4163578"/>
            <a:ext cx="2275844" cy="738664"/>
            <a:chOff x="4630632" y="4114476"/>
            <a:chExt cx="2275844" cy="738664"/>
          </a:xfrm>
        </p:grpSpPr>
        <p:sp>
          <p:nvSpPr>
            <p:cNvPr id="3" name="TextBox 11">
              <a:extLst>
                <a:ext uri="{FF2B5EF4-FFF2-40B4-BE49-F238E27FC236}">
                  <a16:creationId xmlns:a16="http://schemas.microsoft.com/office/drawing/2014/main" id="{1095D3C3-25FC-AE6C-D8AB-1BB187337F00}"/>
                </a:ext>
              </a:extLst>
            </p:cNvPr>
            <p:cNvSpPr txBox="1"/>
            <p:nvPr/>
          </p:nvSpPr>
          <p:spPr>
            <a:xfrm>
              <a:off x="5285519" y="4114476"/>
              <a:ext cx="162095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rPr>
                <a:t>队伍名称：珀修斯</a:t>
              </a:r>
              <a:endPara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lang="en-US" altLang="zh-CN" sz="1400" b="1" kern="0" dirty="0">
                <a:solidFill>
                  <a:schemeClr val="bg1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kern="0" dirty="0">
                  <a:solidFill>
                    <a:schemeClr val="bg1"/>
                  </a:solidFill>
                </a:rPr>
                <a:t>队长：毛浩然</a:t>
              </a:r>
              <a:endPara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4" name="Freeform 26">
              <a:extLst>
                <a:ext uri="{FF2B5EF4-FFF2-40B4-BE49-F238E27FC236}">
                  <a16:creationId xmlns:a16="http://schemas.microsoft.com/office/drawing/2014/main" id="{7C8D86AE-1B72-6E22-4BA1-F24364E7BD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0632" y="4183436"/>
              <a:ext cx="533504" cy="533504"/>
            </a:xfrm>
            <a:custGeom>
              <a:avLst/>
              <a:gdLst>
                <a:gd name="T0" fmla="*/ 96 w 660"/>
                <a:gd name="T1" fmla="*/ 96 h 660"/>
                <a:gd name="T2" fmla="*/ 96 w 660"/>
                <a:gd name="T3" fmla="*/ 563 h 660"/>
                <a:gd name="T4" fmla="*/ 563 w 660"/>
                <a:gd name="T5" fmla="*/ 563 h 660"/>
                <a:gd name="T6" fmla="*/ 563 w 660"/>
                <a:gd name="T7" fmla="*/ 96 h 660"/>
                <a:gd name="T8" fmla="*/ 578 w 660"/>
                <a:gd name="T9" fmla="*/ 180 h 660"/>
                <a:gd name="T10" fmla="*/ 465 w 660"/>
                <a:gd name="T11" fmla="*/ 120 h 660"/>
                <a:gd name="T12" fmla="*/ 380 w 660"/>
                <a:gd name="T13" fmla="*/ 44 h 660"/>
                <a:gd name="T14" fmla="*/ 578 w 660"/>
                <a:gd name="T15" fmla="*/ 180 h 660"/>
                <a:gd name="T16" fmla="*/ 482 w 660"/>
                <a:gd name="T17" fmla="*/ 474 h 660"/>
                <a:gd name="T18" fmla="*/ 619 w 660"/>
                <a:gd name="T19" fmla="*/ 340 h 660"/>
                <a:gd name="T20" fmla="*/ 341 w 660"/>
                <a:gd name="T21" fmla="*/ 619 h 660"/>
                <a:gd name="T22" fmla="*/ 340 w 660"/>
                <a:gd name="T23" fmla="*/ 548 h 660"/>
                <a:gd name="T24" fmla="*/ 440 w 660"/>
                <a:gd name="T25" fmla="*/ 506 h 660"/>
                <a:gd name="T26" fmla="*/ 220 w 660"/>
                <a:gd name="T27" fmla="*/ 506 h 660"/>
                <a:gd name="T28" fmla="*/ 320 w 660"/>
                <a:gd name="T29" fmla="*/ 548 h 660"/>
                <a:gd name="T30" fmla="*/ 319 w 660"/>
                <a:gd name="T31" fmla="*/ 619 h 660"/>
                <a:gd name="T32" fmla="*/ 65 w 660"/>
                <a:gd name="T33" fmla="*/ 213 h 660"/>
                <a:gd name="T34" fmla="*/ 151 w 660"/>
                <a:gd name="T35" fmla="*/ 281 h 660"/>
                <a:gd name="T36" fmla="*/ 40 w 660"/>
                <a:gd name="T37" fmla="*/ 320 h 660"/>
                <a:gd name="T38" fmla="*/ 319 w 660"/>
                <a:gd name="T39" fmla="*/ 40 h 660"/>
                <a:gd name="T40" fmla="*/ 320 w 660"/>
                <a:gd name="T41" fmla="*/ 147 h 660"/>
                <a:gd name="T42" fmla="*/ 319 w 660"/>
                <a:gd name="T43" fmla="*/ 40 h 660"/>
                <a:gd name="T44" fmla="*/ 419 w 660"/>
                <a:gd name="T45" fmla="*/ 151 h 660"/>
                <a:gd name="T46" fmla="*/ 340 w 660"/>
                <a:gd name="T47" fmla="*/ 40 h 660"/>
                <a:gd name="T48" fmla="*/ 429 w 660"/>
                <a:gd name="T49" fmla="*/ 135 h 660"/>
                <a:gd name="T50" fmla="*/ 416 w 660"/>
                <a:gd name="T51" fmla="*/ 177 h 660"/>
                <a:gd name="T52" fmla="*/ 471 w 660"/>
                <a:gd name="T53" fmla="*/ 219 h 660"/>
                <a:gd name="T54" fmla="*/ 340 w 660"/>
                <a:gd name="T55" fmla="*/ 320 h 660"/>
                <a:gd name="T56" fmla="*/ 488 w 660"/>
                <a:gd name="T57" fmla="*/ 169 h 660"/>
                <a:gd name="T58" fmla="*/ 442 w 660"/>
                <a:gd name="T59" fmla="*/ 169 h 660"/>
                <a:gd name="T60" fmla="*/ 488 w 660"/>
                <a:gd name="T61" fmla="*/ 169 h 660"/>
                <a:gd name="T62" fmla="*/ 320 w 660"/>
                <a:gd name="T63" fmla="*/ 320 h 660"/>
                <a:gd name="T64" fmla="*/ 173 w 660"/>
                <a:gd name="T65" fmla="*/ 282 h 660"/>
                <a:gd name="T66" fmla="*/ 320 w 660"/>
                <a:gd name="T67" fmla="*/ 173 h 660"/>
                <a:gd name="T68" fmla="*/ 159 w 660"/>
                <a:gd name="T69" fmla="*/ 352 h 660"/>
                <a:gd name="T70" fmla="*/ 159 w 660"/>
                <a:gd name="T71" fmla="*/ 307 h 660"/>
                <a:gd name="T72" fmla="*/ 40 w 660"/>
                <a:gd name="T73" fmla="*/ 340 h 660"/>
                <a:gd name="T74" fmla="*/ 151 w 660"/>
                <a:gd name="T75" fmla="*/ 379 h 660"/>
                <a:gd name="T76" fmla="*/ 65 w 660"/>
                <a:gd name="T77" fmla="*/ 447 h 660"/>
                <a:gd name="T78" fmla="*/ 173 w 660"/>
                <a:gd name="T79" fmla="*/ 377 h 660"/>
                <a:gd name="T80" fmla="*/ 320 w 660"/>
                <a:gd name="T81" fmla="*/ 340 h 660"/>
                <a:gd name="T82" fmla="*/ 282 w 660"/>
                <a:gd name="T83" fmla="*/ 486 h 660"/>
                <a:gd name="T84" fmla="*/ 173 w 660"/>
                <a:gd name="T85" fmla="*/ 377 h 660"/>
                <a:gd name="T86" fmla="*/ 330 w 660"/>
                <a:gd name="T87" fmla="*/ 523 h 660"/>
                <a:gd name="T88" fmla="*/ 330 w 660"/>
                <a:gd name="T89" fmla="*/ 477 h 660"/>
                <a:gd name="T90" fmla="*/ 377 w 660"/>
                <a:gd name="T91" fmla="*/ 486 h 660"/>
                <a:gd name="T92" fmla="*/ 340 w 660"/>
                <a:gd name="T93" fmla="*/ 340 h 660"/>
                <a:gd name="T94" fmla="*/ 455 w 660"/>
                <a:gd name="T95" fmla="*/ 478 h 660"/>
                <a:gd name="T96" fmla="*/ 512 w 660"/>
                <a:gd name="T97" fmla="*/ 320 h 660"/>
                <a:gd name="T98" fmla="*/ 510 w 660"/>
                <a:gd name="T99" fmla="*/ 191 h 660"/>
                <a:gd name="T100" fmla="*/ 619 w 660"/>
                <a:gd name="T101" fmla="*/ 320 h 660"/>
                <a:gd name="T102" fmla="*/ 125 w 660"/>
                <a:gd name="T103" fmla="*/ 125 h 660"/>
                <a:gd name="T104" fmla="*/ 195 w 660"/>
                <a:gd name="T105" fmla="*/ 151 h 660"/>
                <a:gd name="T106" fmla="*/ 81 w 660"/>
                <a:gd name="T107" fmla="*/ 180 h 660"/>
                <a:gd name="T108" fmla="*/ 81 w 660"/>
                <a:gd name="T109" fmla="*/ 479 h 660"/>
                <a:gd name="T110" fmla="*/ 195 w 660"/>
                <a:gd name="T111" fmla="*/ 508 h 660"/>
                <a:gd name="T112" fmla="*/ 125 w 660"/>
                <a:gd name="T113" fmla="*/ 535 h 660"/>
                <a:gd name="T114" fmla="*/ 535 w 660"/>
                <a:gd name="T115" fmla="*/ 535 h 660"/>
                <a:gd name="T116" fmla="*/ 465 w 660"/>
                <a:gd name="T117" fmla="*/ 508 h 660"/>
                <a:gd name="T118" fmla="*/ 578 w 660"/>
                <a:gd name="T119" fmla="*/ 479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60" h="660">
                  <a:moveTo>
                    <a:pt x="330" y="0"/>
                  </a:moveTo>
                  <a:cubicBezTo>
                    <a:pt x="242" y="0"/>
                    <a:pt x="159" y="34"/>
                    <a:pt x="96" y="96"/>
                  </a:cubicBezTo>
                  <a:cubicBezTo>
                    <a:pt x="34" y="159"/>
                    <a:pt x="0" y="242"/>
                    <a:pt x="0" y="330"/>
                  </a:cubicBezTo>
                  <a:cubicBezTo>
                    <a:pt x="0" y="418"/>
                    <a:pt x="34" y="501"/>
                    <a:pt x="96" y="563"/>
                  </a:cubicBezTo>
                  <a:cubicBezTo>
                    <a:pt x="159" y="626"/>
                    <a:pt x="242" y="660"/>
                    <a:pt x="330" y="660"/>
                  </a:cubicBezTo>
                  <a:cubicBezTo>
                    <a:pt x="418" y="660"/>
                    <a:pt x="501" y="626"/>
                    <a:pt x="563" y="563"/>
                  </a:cubicBezTo>
                  <a:cubicBezTo>
                    <a:pt x="626" y="501"/>
                    <a:pt x="660" y="418"/>
                    <a:pt x="660" y="330"/>
                  </a:cubicBezTo>
                  <a:cubicBezTo>
                    <a:pt x="660" y="242"/>
                    <a:pt x="626" y="159"/>
                    <a:pt x="563" y="96"/>
                  </a:cubicBezTo>
                  <a:cubicBezTo>
                    <a:pt x="501" y="34"/>
                    <a:pt x="418" y="0"/>
                    <a:pt x="330" y="0"/>
                  </a:cubicBezTo>
                  <a:close/>
                  <a:moveTo>
                    <a:pt x="578" y="180"/>
                  </a:moveTo>
                  <a:cubicBezTo>
                    <a:pt x="557" y="175"/>
                    <a:pt x="536" y="169"/>
                    <a:pt x="514" y="165"/>
                  </a:cubicBezTo>
                  <a:cubicBezTo>
                    <a:pt x="512" y="140"/>
                    <a:pt x="491" y="120"/>
                    <a:pt x="465" y="120"/>
                  </a:cubicBezTo>
                  <a:cubicBezTo>
                    <a:pt x="459" y="120"/>
                    <a:pt x="453" y="121"/>
                    <a:pt x="448" y="123"/>
                  </a:cubicBezTo>
                  <a:cubicBezTo>
                    <a:pt x="429" y="95"/>
                    <a:pt x="406" y="68"/>
                    <a:pt x="380" y="44"/>
                  </a:cubicBezTo>
                  <a:cubicBezTo>
                    <a:pt x="438" y="54"/>
                    <a:pt x="492" y="82"/>
                    <a:pt x="535" y="125"/>
                  </a:cubicBezTo>
                  <a:cubicBezTo>
                    <a:pt x="552" y="142"/>
                    <a:pt x="566" y="160"/>
                    <a:pt x="578" y="180"/>
                  </a:cubicBezTo>
                  <a:close/>
                  <a:moveTo>
                    <a:pt x="595" y="447"/>
                  </a:moveTo>
                  <a:cubicBezTo>
                    <a:pt x="558" y="458"/>
                    <a:pt x="520" y="467"/>
                    <a:pt x="482" y="474"/>
                  </a:cubicBezTo>
                  <a:cubicBezTo>
                    <a:pt x="501" y="431"/>
                    <a:pt x="511" y="386"/>
                    <a:pt x="512" y="340"/>
                  </a:cubicBezTo>
                  <a:cubicBezTo>
                    <a:pt x="619" y="340"/>
                    <a:pt x="619" y="340"/>
                    <a:pt x="619" y="340"/>
                  </a:cubicBezTo>
                  <a:cubicBezTo>
                    <a:pt x="618" y="377"/>
                    <a:pt x="610" y="413"/>
                    <a:pt x="595" y="447"/>
                  </a:cubicBezTo>
                  <a:close/>
                  <a:moveTo>
                    <a:pt x="341" y="619"/>
                  </a:moveTo>
                  <a:cubicBezTo>
                    <a:pt x="341" y="619"/>
                    <a:pt x="340" y="619"/>
                    <a:pt x="340" y="619"/>
                  </a:cubicBezTo>
                  <a:cubicBezTo>
                    <a:pt x="340" y="548"/>
                    <a:pt x="340" y="548"/>
                    <a:pt x="340" y="548"/>
                  </a:cubicBezTo>
                  <a:cubicBezTo>
                    <a:pt x="359" y="545"/>
                    <a:pt x="374" y="530"/>
                    <a:pt x="378" y="512"/>
                  </a:cubicBezTo>
                  <a:cubicBezTo>
                    <a:pt x="399" y="511"/>
                    <a:pt x="419" y="509"/>
                    <a:pt x="440" y="506"/>
                  </a:cubicBezTo>
                  <a:cubicBezTo>
                    <a:pt x="415" y="548"/>
                    <a:pt x="382" y="586"/>
                    <a:pt x="341" y="619"/>
                  </a:cubicBezTo>
                  <a:close/>
                  <a:moveTo>
                    <a:pt x="220" y="506"/>
                  </a:moveTo>
                  <a:cubicBezTo>
                    <a:pt x="240" y="509"/>
                    <a:pt x="261" y="511"/>
                    <a:pt x="282" y="512"/>
                  </a:cubicBezTo>
                  <a:cubicBezTo>
                    <a:pt x="286" y="530"/>
                    <a:pt x="301" y="545"/>
                    <a:pt x="320" y="548"/>
                  </a:cubicBezTo>
                  <a:cubicBezTo>
                    <a:pt x="320" y="619"/>
                    <a:pt x="320" y="619"/>
                    <a:pt x="320" y="619"/>
                  </a:cubicBezTo>
                  <a:cubicBezTo>
                    <a:pt x="319" y="619"/>
                    <a:pt x="319" y="619"/>
                    <a:pt x="319" y="619"/>
                  </a:cubicBezTo>
                  <a:cubicBezTo>
                    <a:pt x="278" y="586"/>
                    <a:pt x="245" y="548"/>
                    <a:pt x="220" y="506"/>
                  </a:cubicBezTo>
                  <a:close/>
                  <a:moveTo>
                    <a:pt x="65" y="213"/>
                  </a:moveTo>
                  <a:cubicBezTo>
                    <a:pt x="102" y="201"/>
                    <a:pt x="140" y="192"/>
                    <a:pt x="178" y="186"/>
                  </a:cubicBezTo>
                  <a:cubicBezTo>
                    <a:pt x="164" y="216"/>
                    <a:pt x="155" y="248"/>
                    <a:pt x="151" y="281"/>
                  </a:cubicBezTo>
                  <a:cubicBezTo>
                    <a:pt x="130" y="284"/>
                    <a:pt x="114" y="300"/>
                    <a:pt x="110" y="320"/>
                  </a:cubicBezTo>
                  <a:cubicBezTo>
                    <a:pt x="40" y="320"/>
                    <a:pt x="40" y="320"/>
                    <a:pt x="40" y="320"/>
                  </a:cubicBezTo>
                  <a:cubicBezTo>
                    <a:pt x="42" y="282"/>
                    <a:pt x="50" y="246"/>
                    <a:pt x="65" y="213"/>
                  </a:cubicBezTo>
                  <a:close/>
                  <a:moveTo>
                    <a:pt x="319" y="40"/>
                  </a:moveTo>
                  <a:cubicBezTo>
                    <a:pt x="319" y="40"/>
                    <a:pt x="319" y="40"/>
                    <a:pt x="320" y="40"/>
                  </a:cubicBezTo>
                  <a:cubicBezTo>
                    <a:pt x="320" y="147"/>
                    <a:pt x="320" y="147"/>
                    <a:pt x="320" y="147"/>
                  </a:cubicBezTo>
                  <a:cubicBezTo>
                    <a:pt x="286" y="147"/>
                    <a:pt x="253" y="149"/>
                    <a:pt x="220" y="153"/>
                  </a:cubicBezTo>
                  <a:cubicBezTo>
                    <a:pt x="245" y="111"/>
                    <a:pt x="278" y="73"/>
                    <a:pt x="319" y="40"/>
                  </a:cubicBezTo>
                  <a:close/>
                  <a:moveTo>
                    <a:pt x="429" y="135"/>
                  </a:moveTo>
                  <a:cubicBezTo>
                    <a:pt x="425" y="140"/>
                    <a:pt x="421" y="145"/>
                    <a:pt x="419" y="151"/>
                  </a:cubicBezTo>
                  <a:cubicBezTo>
                    <a:pt x="393" y="148"/>
                    <a:pt x="366" y="147"/>
                    <a:pt x="340" y="147"/>
                  </a:cubicBezTo>
                  <a:cubicBezTo>
                    <a:pt x="340" y="40"/>
                    <a:pt x="340" y="40"/>
                    <a:pt x="340" y="40"/>
                  </a:cubicBezTo>
                  <a:cubicBezTo>
                    <a:pt x="340" y="40"/>
                    <a:pt x="341" y="40"/>
                    <a:pt x="341" y="40"/>
                  </a:cubicBezTo>
                  <a:cubicBezTo>
                    <a:pt x="376" y="69"/>
                    <a:pt x="406" y="101"/>
                    <a:pt x="429" y="135"/>
                  </a:cubicBezTo>
                  <a:close/>
                  <a:moveTo>
                    <a:pt x="340" y="173"/>
                  </a:moveTo>
                  <a:cubicBezTo>
                    <a:pt x="365" y="173"/>
                    <a:pt x="391" y="174"/>
                    <a:pt x="416" y="177"/>
                  </a:cubicBezTo>
                  <a:cubicBezTo>
                    <a:pt x="420" y="201"/>
                    <a:pt x="440" y="219"/>
                    <a:pt x="465" y="219"/>
                  </a:cubicBezTo>
                  <a:cubicBezTo>
                    <a:pt x="467" y="219"/>
                    <a:pt x="469" y="219"/>
                    <a:pt x="471" y="219"/>
                  </a:cubicBezTo>
                  <a:cubicBezTo>
                    <a:pt x="482" y="251"/>
                    <a:pt x="489" y="285"/>
                    <a:pt x="490" y="320"/>
                  </a:cubicBezTo>
                  <a:cubicBezTo>
                    <a:pt x="340" y="320"/>
                    <a:pt x="340" y="320"/>
                    <a:pt x="340" y="320"/>
                  </a:cubicBezTo>
                  <a:lnTo>
                    <a:pt x="340" y="173"/>
                  </a:lnTo>
                  <a:close/>
                  <a:moveTo>
                    <a:pt x="488" y="169"/>
                  </a:moveTo>
                  <a:cubicBezTo>
                    <a:pt x="488" y="182"/>
                    <a:pt x="478" y="192"/>
                    <a:pt x="465" y="192"/>
                  </a:cubicBezTo>
                  <a:cubicBezTo>
                    <a:pt x="452" y="192"/>
                    <a:pt x="442" y="182"/>
                    <a:pt x="442" y="169"/>
                  </a:cubicBezTo>
                  <a:cubicBezTo>
                    <a:pt x="442" y="157"/>
                    <a:pt x="452" y="147"/>
                    <a:pt x="465" y="147"/>
                  </a:cubicBezTo>
                  <a:cubicBezTo>
                    <a:pt x="478" y="147"/>
                    <a:pt x="488" y="157"/>
                    <a:pt x="488" y="169"/>
                  </a:cubicBezTo>
                  <a:close/>
                  <a:moveTo>
                    <a:pt x="320" y="173"/>
                  </a:moveTo>
                  <a:cubicBezTo>
                    <a:pt x="320" y="320"/>
                    <a:pt x="320" y="320"/>
                    <a:pt x="320" y="320"/>
                  </a:cubicBezTo>
                  <a:cubicBezTo>
                    <a:pt x="207" y="320"/>
                    <a:pt x="207" y="320"/>
                    <a:pt x="207" y="320"/>
                  </a:cubicBezTo>
                  <a:cubicBezTo>
                    <a:pt x="204" y="302"/>
                    <a:pt x="190" y="288"/>
                    <a:pt x="173" y="282"/>
                  </a:cubicBezTo>
                  <a:cubicBezTo>
                    <a:pt x="178" y="248"/>
                    <a:pt x="189" y="214"/>
                    <a:pt x="204" y="181"/>
                  </a:cubicBezTo>
                  <a:cubicBezTo>
                    <a:pt x="243" y="176"/>
                    <a:pt x="281" y="173"/>
                    <a:pt x="320" y="173"/>
                  </a:cubicBezTo>
                  <a:close/>
                  <a:moveTo>
                    <a:pt x="181" y="330"/>
                  </a:moveTo>
                  <a:cubicBezTo>
                    <a:pt x="181" y="342"/>
                    <a:pt x="171" y="352"/>
                    <a:pt x="159" y="352"/>
                  </a:cubicBezTo>
                  <a:cubicBezTo>
                    <a:pt x="146" y="352"/>
                    <a:pt x="136" y="342"/>
                    <a:pt x="136" y="330"/>
                  </a:cubicBezTo>
                  <a:cubicBezTo>
                    <a:pt x="136" y="317"/>
                    <a:pt x="146" y="307"/>
                    <a:pt x="159" y="307"/>
                  </a:cubicBezTo>
                  <a:cubicBezTo>
                    <a:pt x="171" y="307"/>
                    <a:pt x="181" y="317"/>
                    <a:pt x="181" y="330"/>
                  </a:cubicBezTo>
                  <a:close/>
                  <a:moveTo>
                    <a:pt x="40" y="340"/>
                  </a:moveTo>
                  <a:cubicBezTo>
                    <a:pt x="110" y="340"/>
                    <a:pt x="110" y="340"/>
                    <a:pt x="110" y="340"/>
                  </a:cubicBezTo>
                  <a:cubicBezTo>
                    <a:pt x="114" y="360"/>
                    <a:pt x="130" y="375"/>
                    <a:pt x="151" y="379"/>
                  </a:cubicBezTo>
                  <a:cubicBezTo>
                    <a:pt x="155" y="411"/>
                    <a:pt x="164" y="443"/>
                    <a:pt x="178" y="474"/>
                  </a:cubicBezTo>
                  <a:cubicBezTo>
                    <a:pt x="140" y="467"/>
                    <a:pt x="102" y="458"/>
                    <a:pt x="65" y="447"/>
                  </a:cubicBezTo>
                  <a:cubicBezTo>
                    <a:pt x="50" y="413"/>
                    <a:pt x="42" y="377"/>
                    <a:pt x="40" y="340"/>
                  </a:cubicBezTo>
                  <a:close/>
                  <a:moveTo>
                    <a:pt x="173" y="377"/>
                  </a:moveTo>
                  <a:cubicBezTo>
                    <a:pt x="190" y="372"/>
                    <a:pt x="204" y="358"/>
                    <a:pt x="207" y="340"/>
                  </a:cubicBezTo>
                  <a:cubicBezTo>
                    <a:pt x="320" y="340"/>
                    <a:pt x="320" y="340"/>
                    <a:pt x="320" y="340"/>
                  </a:cubicBezTo>
                  <a:cubicBezTo>
                    <a:pt x="320" y="451"/>
                    <a:pt x="320" y="451"/>
                    <a:pt x="320" y="451"/>
                  </a:cubicBezTo>
                  <a:cubicBezTo>
                    <a:pt x="302" y="455"/>
                    <a:pt x="288" y="468"/>
                    <a:pt x="282" y="486"/>
                  </a:cubicBezTo>
                  <a:cubicBezTo>
                    <a:pt x="256" y="484"/>
                    <a:pt x="230" y="482"/>
                    <a:pt x="204" y="478"/>
                  </a:cubicBezTo>
                  <a:cubicBezTo>
                    <a:pt x="189" y="446"/>
                    <a:pt x="178" y="412"/>
                    <a:pt x="173" y="377"/>
                  </a:cubicBezTo>
                  <a:close/>
                  <a:moveTo>
                    <a:pt x="353" y="500"/>
                  </a:moveTo>
                  <a:cubicBezTo>
                    <a:pt x="353" y="512"/>
                    <a:pt x="342" y="523"/>
                    <a:pt x="330" y="523"/>
                  </a:cubicBezTo>
                  <a:cubicBezTo>
                    <a:pt x="317" y="523"/>
                    <a:pt x="307" y="512"/>
                    <a:pt x="307" y="500"/>
                  </a:cubicBezTo>
                  <a:cubicBezTo>
                    <a:pt x="307" y="487"/>
                    <a:pt x="317" y="477"/>
                    <a:pt x="330" y="477"/>
                  </a:cubicBezTo>
                  <a:cubicBezTo>
                    <a:pt x="342" y="477"/>
                    <a:pt x="353" y="487"/>
                    <a:pt x="353" y="500"/>
                  </a:cubicBezTo>
                  <a:close/>
                  <a:moveTo>
                    <a:pt x="377" y="486"/>
                  </a:moveTo>
                  <a:cubicBezTo>
                    <a:pt x="372" y="468"/>
                    <a:pt x="358" y="455"/>
                    <a:pt x="340" y="451"/>
                  </a:cubicBezTo>
                  <a:cubicBezTo>
                    <a:pt x="340" y="340"/>
                    <a:pt x="340" y="340"/>
                    <a:pt x="340" y="340"/>
                  </a:cubicBezTo>
                  <a:cubicBezTo>
                    <a:pt x="490" y="340"/>
                    <a:pt x="490" y="340"/>
                    <a:pt x="490" y="340"/>
                  </a:cubicBezTo>
                  <a:cubicBezTo>
                    <a:pt x="488" y="387"/>
                    <a:pt x="477" y="434"/>
                    <a:pt x="455" y="478"/>
                  </a:cubicBezTo>
                  <a:cubicBezTo>
                    <a:pt x="430" y="482"/>
                    <a:pt x="404" y="484"/>
                    <a:pt x="377" y="486"/>
                  </a:cubicBezTo>
                  <a:close/>
                  <a:moveTo>
                    <a:pt x="512" y="320"/>
                  </a:moveTo>
                  <a:cubicBezTo>
                    <a:pt x="511" y="283"/>
                    <a:pt x="504" y="246"/>
                    <a:pt x="492" y="211"/>
                  </a:cubicBezTo>
                  <a:cubicBezTo>
                    <a:pt x="500" y="206"/>
                    <a:pt x="506" y="199"/>
                    <a:pt x="510" y="191"/>
                  </a:cubicBezTo>
                  <a:cubicBezTo>
                    <a:pt x="539" y="197"/>
                    <a:pt x="567" y="204"/>
                    <a:pt x="595" y="213"/>
                  </a:cubicBezTo>
                  <a:cubicBezTo>
                    <a:pt x="610" y="246"/>
                    <a:pt x="618" y="282"/>
                    <a:pt x="619" y="320"/>
                  </a:cubicBezTo>
                  <a:lnTo>
                    <a:pt x="512" y="320"/>
                  </a:lnTo>
                  <a:close/>
                  <a:moveTo>
                    <a:pt x="125" y="125"/>
                  </a:moveTo>
                  <a:cubicBezTo>
                    <a:pt x="168" y="82"/>
                    <a:pt x="221" y="54"/>
                    <a:pt x="280" y="44"/>
                  </a:cubicBezTo>
                  <a:cubicBezTo>
                    <a:pt x="245" y="76"/>
                    <a:pt x="217" y="112"/>
                    <a:pt x="195" y="151"/>
                  </a:cubicBezTo>
                  <a:cubicBezTo>
                    <a:pt x="194" y="153"/>
                    <a:pt x="193" y="155"/>
                    <a:pt x="192" y="157"/>
                  </a:cubicBezTo>
                  <a:cubicBezTo>
                    <a:pt x="155" y="162"/>
                    <a:pt x="118" y="170"/>
                    <a:pt x="81" y="180"/>
                  </a:cubicBezTo>
                  <a:cubicBezTo>
                    <a:pt x="93" y="160"/>
                    <a:pt x="108" y="142"/>
                    <a:pt x="125" y="125"/>
                  </a:cubicBezTo>
                  <a:close/>
                  <a:moveTo>
                    <a:pt x="81" y="479"/>
                  </a:moveTo>
                  <a:cubicBezTo>
                    <a:pt x="118" y="489"/>
                    <a:pt x="155" y="497"/>
                    <a:pt x="192" y="503"/>
                  </a:cubicBezTo>
                  <a:cubicBezTo>
                    <a:pt x="193" y="505"/>
                    <a:pt x="194" y="506"/>
                    <a:pt x="195" y="508"/>
                  </a:cubicBezTo>
                  <a:cubicBezTo>
                    <a:pt x="217" y="547"/>
                    <a:pt x="245" y="583"/>
                    <a:pt x="280" y="615"/>
                  </a:cubicBezTo>
                  <a:cubicBezTo>
                    <a:pt x="221" y="605"/>
                    <a:pt x="168" y="577"/>
                    <a:pt x="125" y="535"/>
                  </a:cubicBezTo>
                  <a:cubicBezTo>
                    <a:pt x="108" y="518"/>
                    <a:pt x="93" y="499"/>
                    <a:pt x="81" y="479"/>
                  </a:cubicBezTo>
                  <a:close/>
                  <a:moveTo>
                    <a:pt x="535" y="535"/>
                  </a:moveTo>
                  <a:cubicBezTo>
                    <a:pt x="492" y="577"/>
                    <a:pt x="438" y="605"/>
                    <a:pt x="380" y="615"/>
                  </a:cubicBezTo>
                  <a:cubicBezTo>
                    <a:pt x="415" y="583"/>
                    <a:pt x="443" y="547"/>
                    <a:pt x="465" y="508"/>
                  </a:cubicBezTo>
                  <a:cubicBezTo>
                    <a:pt x="466" y="506"/>
                    <a:pt x="467" y="505"/>
                    <a:pt x="468" y="503"/>
                  </a:cubicBezTo>
                  <a:cubicBezTo>
                    <a:pt x="505" y="497"/>
                    <a:pt x="542" y="489"/>
                    <a:pt x="578" y="479"/>
                  </a:cubicBezTo>
                  <a:cubicBezTo>
                    <a:pt x="566" y="499"/>
                    <a:pt x="552" y="518"/>
                    <a:pt x="535" y="5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TextBox 11">
            <a:extLst>
              <a:ext uri="{FF2B5EF4-FFF2-40B4-BE49-F238E27FC236}">
                <a16:creationId xmlns:a16="http://schemas.microsoft.com/office/drawing/2014/main" id="{0F8D2789-ADF5-6AC0-7B47-2C1D2617F0FF}"/>
              </a:ext>
            </a:extLst>
          </p:cNvPr>
          <p:cNvSpPr txBox="1"/>
          <p:nvPr/>
        </p:nvSpPr>
        <p:spPr>
          <a:xfrm>
            <a:off x="4337933" y="3614826"/>
            <a:ext cx="33954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（本项目基于</a:t>
            </a:r>
            <a:r>
              <a:rPr lang="en-US" altLang="zh-CN" sz="1400" b="1" kern="0" dirty="0" err="1">
                <a:solidFill>
                  <a:schemeClr val="bg1"/>
                </a:solidFill>
              </a:rPr>
              <a:t>EasyGraph</a:t>
            </a:r>
            <a:r>
              <a:rPr lang="zh-CN" altLang="en-US" sz="1400" b="1" kern="0" dirty="0">
                <a:solidFill>
                  <a:schemeClr val="bg1"/>
                </a:solidFill>
              </a:rPr>
              <a:t>和</a:t>
            </a:r>
            <a:r>
              <a:rPr lang="en-US" altLang="zh-CN" sz="1400" b="1" kern="0" dirty="0">
                <a:solidFill>
                  <a:schemeClr val="bg1"/>
                </a:solidFill>
              </a:rPr>
              <a:t>DataEase</a:t>
            </a:r>
            <a:r>
              <a:rPr lang="zh-CN" altLang="en-US" sz="1400" b="1" kern="0" dirty="0">
                <a:solidFill>
                  <a:schemeClr val="bg1"/>
                </a:solidFill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7167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:p15="http://schemas.microsoft.com/office/powerpoint/2012/main"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016478" y="-1317522"/>
            <a:ext cx="4159044" cy="121920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DEE9934-2262-452B-B00B-12E780F20419}"/>
              </a:ext>
            </a:extLst>
          </p:cNvPr>
          <p:cNvSpPr/>
          <p:nvPr/>
        </p:nvSpPr>
        <p:spPr>
          <a:xfrm>
            <a:off x="9286918" y="454776"/>
            <a:ext cx="220346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cs typeface="+mn-ea"/>
                <a:sym typeface="+mn-lt"/>
              </a:rPr>
              <a:t>Agenda</a:t>
            </a:r>
            <a:endParaRPr lang="zh-CN" altLang="en-US" sz="3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05D3BAE-FFA8-4485-BFE3-FA37CCB1D91F}"/>
              </a:ext>
            </a:extLst>
          </p:cNvPr>
          <p:cNvCxnSpPr/>
          <p:nvPr/>
        </p:nvCxnSpPr>
        <p:spPr>
          <a:xfrm flipH="1">
            <a:off x="1804582" y="3695232"/>
            <a:ext cx="0" cy="2498534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CCB89F1-CE89-47BA-97CD-5CB472358B8A}"/>
              </a:ext>
            </a:extLst>
          </p:cNvPr>
          <p:cNvCxnSpPr/>
          <p:nvPr/>
        </p:nvCxnSpPr>
        <p:spPr>
          <a:xfrm flipH="1">
            <a:off x="4336805" y="3170790"/>
            <a:ext cx="0" cy="19968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80EE0B0-BF93-400E-8122-B713C01074E4}"/>
              </a:ext>
            </a:extLst>
          </p:cNvPr>
          <p:cNvCxnSpPr/>
          <p:nvPr/>
        </p:nvCxnSpPr>
        <p:spPr>
          <a:xfrm flipH="1">
            <a:off x="7051855" y="2946647"/>
            <a:ext cx="33901" cy="27122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F4BB45-8EF2-4C17-AA17-B3D6435EDAD1}"/>
              </a:ext>
            </a:extLst>
          </p:cNvPr>
          <p:cNvCxnSpPr/>
          <p:nvPr/>
        </p:nvCxnSpPr>
        <p:spPr>
          <a:xfrm flipH="1">
            <a:off x="9782354" y="4060583"/>
            <a:ext cx="0" cy="1107088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00B9856A-EE6C-48AD-AE98-A650693F60F3}"/>
              </a:ext>
            </a:extLst>
          </p:cNvPr>
          <p:cNvSpPr txBox="1"/>
          <p:nvPr/>
        </p:nvSpPr>
        <p:spPr>
          <a:xfrm>
            <a:off x="543919" y="2770248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AAEB8BFD-9714-407C-B574-508568576D42}"/>
              </a:ext>
            </a:extLst>
          </p:cNvPr>
          <p:cNvSpPr/>
          <p:nvPr/>
        </p:nvSpPr>
        <p:spPr>
          <a:xfrm>
            <a:off x="912582" y="3316163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D4289D-29B8-4A2C-A4CC-6C96E5BFB19E}"/>
              </a:ext>
            </a:extLst>
          </p:cNvPr>
          <p:cNvSpPr/>
          <p:nvPr/>
        </p:nvSpPr>
        <p:spPr>
          <a:xfrm>
            <a:off x="1028203" y="2106874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E52698-146E-4054-9B3E-226BC26E2EBF}"/>
              </a:ext>
            </a:extLst>
          </p:cNvPr>
          <p:cNvSpPr txBox="1"/>
          <p:nvPr/>
        </p:nvSpPr>
        <p:spPr>
          <a:xfrm>
            <a:off x="3070092" y="2240154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方案与设计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A2FAD42E-18A9-4DEB-B207-E889B8F9963D}"/>
              </a:ext>
            </a:extLst>
          </p:cNvPr>
          <p:cNvSpPr/>
          <p:nvPr/>
        </p:nvSpPr>
        <p:spPr>
          <a:xfrm>
            <a:off x="3449955" y="2801458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22A177-15AE-4E45-9CCB-58A3B2D665AE}"/>
              </a:ext>
            </a:extLst>
          </p:cNvPr>
          <p:cNvSpPr/>
          <p:nvPr/>
        </p:nvSpPr>
        <p:spPr>
          <a:xfrm>
            <a:off x="3565576" y="1592169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45C20BE-03D0-448A-9986-225027548B44}"/>
              </a:ext>
            </a:extLst>
          </p:cNvPr>
          <p:cNvSpPr txBox="1"/>
          <p:nvPr/>
        </p:nvSpPr>
        <p:spPr>
          <a:xfrm>
            <a:off x="5791192" y="2005280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技术实现</a:t>
            </a: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E91FD5D3-9D3C-4A42-9F8E-E388938227D3}"/>
              </a:ext>
            </a:extLst>
          </p:cNvPr>
          <p:cNvSpPr/>
          <p:nvPr/>
        </p:nvSpPr>
        <p:spPr>
          <a:xfrm>
            <a:off x="6159855" y="2551195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9E3BFA-7B54-46E6-9FF7-60EC51BFE5CF}"/>
              </a:ext>
            </a:extLst>
          </p:cNvPr>
          <p:cNvSpPr/>
          <p:nvPr/>
        </p:nvSpPr>
        <p:spPr>
          <a:xfrm>
            <a:off x="6275476" y="1341906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9799AA-4776-46A3-B9CC-06B94D0102EF}"/>
              </a:ext>
            </a:extLst>
          </p:cNvPr>
          <p:cNvSpPr txBox="1"/>
          <p:nvPr/>
        </p:nvSpPr>
        <p:spPr>
          <a:xfrm>
            <a:off x="8517138" y="3015305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价值与规划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5AD329AD-E17C-4A83-9EFC-C5A387545FFC}"/>
              </a:ext>
            </a:extLst>
          </p:cNvPr>
          <p:cNvSpPr/>
          <p:nvPr/>
        </p:nvSpPr>
        <p:spPr>
          <a:xfrm>
            <a:off x="8879453" y="3590342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Value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56964C-DDCF-43AC-B274-544B96D2219E}"/>
              </a:ext>
            </a:extLst>
          </p:cNvPr>
          <p:cNvSpPr/>
          <p:nvPr/>
        </p:nvSpPr>
        <p:spPr>
          <a:xfrm>
            <a:off x="8995074" y="2381053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757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 nodeType="clickPar">
                      <p:stCondLst>
                        <p:cond delay="indefinite"/>
                      </p:stCondLst>
                      <p:childTnLst>
                        <p:par>
                          <p:cTn id="8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0762A0-B9C1-4863-AD7D-4AABCEC7793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01</a:t>
            </a:r>
            <a:endParaRPr lang="zh-CN" altLang="en-US" sz="1380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071AD-CE42-42E3-9688-C957DA8435E6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69BBCFBA-075C-4B7C-A485-7F27EB69BA9A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06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:p15="http://schemas.microsoft.com/office/powerpoint/2012/main" xmlns="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D60FB3-8669-4C08-BEA7-700A6AB83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018420">
            <a:off x="-1251561" y="-378414"/>
            <a:ext cx="5553733" cy="9374717"/>
          </a:xfrm>
          <a:prstGeom prst="rect">
            <a:avLst/>
          </a:prstGeom>
        </p:spPr>
      </p:pic>
      <p:sp>
        <p:nvSpPr>
          <p:cNvPr id="9" name="Rectangle 7">
            <a:extLst>
              <a:ext uri="{FF2B5EF4-FFF2-40B4-BE49-F238E27FC236}">
                <a16:creationId xmlns:a16="http://schemas.microsoft.com/office/drawing/2014/main" id="{5273B289-BDC8-4F2F-9711-DB1A5D07DB0E}"/>
              </a:ext>
            </a:extLst>
          </p:cNvPr>
          <p:cNvSpPr/>
          <p:nvPr/>
        </p:nvSpPr>
        <p:spPr>
          <a:xfrm>
            <a:off x="2240075" y="2771018"/>
            <a:ext cx="85079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痛点二：社区健康度 “不可析”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无法定位健康波动的根本原因：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现有仪表盘（如 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GitHub Pulse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）仅提供提交频率、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处理时长等孤立指标，缺乏指标间的因果关联分析；并且无动态趋势追踪能力，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例如，某段时间健康度下滑是因为维护者响应延迟，还是核心贡献者流失？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438E0B1F-A2ED-A4E7-0A27-9E5D811D846D}"/>
              </a:ext>
            </a:extLst>
          </p:cNvPr>
          <p:cNvSpPr/>
          <p:nvPr/>
        </p:nvSpPr>
        <p:spPr>
          <a:xfrm>
            <a:off x="644357" y="114051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痛点一：协作网络 “不可见”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无法追溯协作关系的形成与演变：</a:t>
            </a:r>
            <a:endParaRPr lang="en-US" altLang="zh-CN" b="1" dirty="0">
              <a:solidFill>
                <a:schemeClr val="bg1"/>
              </a:solidFill>
            </a:endParaRP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知道谁提交了代码、做了什么修改，可是不知道贡献者之间的协作链路，</a:t>
            </a:r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例如，核心维护者与新贡献者的互动、跨团队协作的连接点</a:t>
            </a:r>
            <a:endParaRPr lang="en-US" altLang="zh-CN" b="1" dirty="0">
              <a:solidFill>
                <a:schemeClr val="bg1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64CA493F-13CC-8DFD-65E5-334EE1A2A8B7}"/>
              </a:ext>
            </a:extLst>
          </p:cNvPr>
          <p:cNvSpPr/>
          <p:nvPr/>
        </p:nvSpPr>
        <p:spPr>
          <a:xfrm>
            <a:off x="3684070" y="494515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痛点三：贡献者成长 “不可追”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——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无法还原个体价值的积累路径：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传统工具仅统计贡献者的提交次数、代码量，无法呈现角色跃迁轨迹，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例如，从 “偶尔提交者” 到 “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审核者” 再到 “核心维护者” 的成长过程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65D266-FE85-3135-7594-6E84C1C0C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751276">
            <a:off x="10116402" y="-144903"/>
            <a:ext cx="2922334" cy="4932910"/>
          </a:xfrm>
          <a:prstGeom prst="rect">
            <a:avLst/>
          </a:prstGeom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F2A81771-D68B-4EAE-9771-7505A2709626}"/>
              </a:ext>
            </a:extLst>
          </p:cNvPr>
          <p:cNvSpPr txBox="1"/>
          <p:nvPr/>
        </p:nvSpPr>
        <p:spPr>
          <a:xfrm>
            <a:off x="304363" y="420866"/>
            <a:ext cx="11432666" cy="370150"/>
          </a:xfrm>
          <a:prstGeom prst="rect">
            <a:avLst/>
          </a:prstGeom>
          <a:noFill/>
        </p:spPr>
        <p:txBody>
          <a:bodyPr wrap="square" lIns="91423" tIns="45712" rIns="91423" bIns="45712" rtlCol="0">
            <a:spAutoFit/>
          </a:bodyPr>
          <a:lstStyle/>
          <a:p>
            <a:pPr marL="0" marR="0" lvl="0" indent="0" algn="l" defTabSz="1217930" rtl="0" eaLnBrk="1" fontAlgn="auto" latinLnBrk="0" hangingPunct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bg1">
                    <a:lumMod val="95000"/>
                  </a:schemeClr>
                </a:solidFill>
                <a:cs typeface="+mn-ea"/>
                <a:sym typeface="+mn-lt"/>
              </a:rPr>
              <a:t>开源协作分析的核心痛点：从“快照数据”到“动态故事”的鸿沟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827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22EF72CD-B3A4-4F54-BE4B-FB79E41474FE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6350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DDCC-BCA9-0566-B903-5841BF4A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EEC2E0-B16E-F81C-00C1-B449C53AD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5B90DA-563C-68B2-8466-313A11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629A49B1-9415-EC22-BDC9-662239482455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F9FD028-0179-A49F-02AC-91AEB16C0364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02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DE717F-7386-439C-9FAC-458FC7F1BBD7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方案与设计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DE81F5E4-E9A3-C1B3-93E0-0104CD2CB405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451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:p15="http://schemas.microsoft.com/office/powerpoint/2012/main" xmlns="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97AEBC8-11CE-97A7-00F5-AA9788FE3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268164" y="-194445"/>
            <a:ext cx="3554361" cy="1219200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6133D91-7842-E6AF-C4E4-99FD8955B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323544">
            <a:off x="9580533" y="-3950081"/>
            <a:ext cx="3038040" cy="1042094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03EC4D0-CD0C-4F9F-9976-EE885B7F93E6}"/>
              </a:ext>
            </a:extLst>
          </p:cNvPr>
          <p:cNvSpPr txBox="1"/>
          <p:nvPr/>
        </p:nvSpPr>
        <p:spPr>
          <a:xfrm>
            <a:off x="4023518" y="406810"/>
            <a:ext cx="3525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的功能</a:t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A864E99F-0F2D-4EBF-8CBB-54DD065D60CC}"/>
              </a:ext>
            </a:extLst>
          </p:cNvPr>
          <p:cNvSpPr/>
          <p:nvPr/>
        </p:nvSpPr>
        <p:spPr>
          <a:xfrm>
            <a:off x="271474" y="1279015"/>
            <a:ext cx="2472062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时序分析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629A96C7-E7C3-4A72-9BA7-1567AE13B4F5}"/>
              </a:ext>
            </a:extLst>
          </p:cNvPr>
          <p:cNvSpPr/>
          <p:nvPr/>
        </p:nvSpPr>
        <p:spPr>
          <a:xfrm>
            <a:off x="1633351" y="1260389"/>
            <a:ext cx="55742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→月度协作网络指标计算、社区数量</a:t>
            </a:r>
            <a:r>
              <a:rPr lang="en-US" altLang="zh-CN" noProof="1">
                <a:solidFill>
                  <a:schemeClr val="bg1"/>
                </a:solidFill>
                <a:cs typeface="+mn-ea"/>
                <a:sym typeface="+mn-lt"/>
              </a:rPr>
              <a:t>/</a:t>
            </a: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规模变化趋势图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7" name="Rectangle 17">
            <a:extLst>
              <a:ext uri="{FF2B5EF4-FFF2-40B4-BE49-F238E27FC236}">
                <a16:creationId xmlns:a16="http://schemas.microsoft.com/office/drawing/2014/main" id="{B3C2EB62-CADA-4DA4-8F4D-3D5DECACFAD4}"/>
              </a:ext>
            </a:extLst>
          </p:cNvPr>
          <p:cNvSpPr/>
          <p:nvPr/>
        </p:nvSpPr>
        <p:spPr>
          <a:xfrm>
            <a:off x="130281" y="2215273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/>
                </a:solidFill>
                <a:cs typeface="+mn-ea"/>
                <a:sym typeface="+mn-lt"/>
              </a:rPr>
              <a:t>多维关联</a:t>
            </a:r>
            <a:endParaRPr lang="en-US" altLang="zh-CN" sz="24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2FE9F27F-7F71-49F4-B0EF-F030A554671D}"/>
              </a:ext>
            </a:extLst>
          </p:cNvPr>
          <p:cNvSpPr/>
          <p:nvPr/>
        </p:nvSpPr>
        <p:spPr>
          <a:xfrm>
            <a:off x="1586622" y="2235586"/>
            <a:ext cx="5241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 →开发者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—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技术栈关联、协作关系与权重的关联</a:t>
            </a:r>
            <a:endParaRPr lang="en-US" sz="1400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E66E034F-D0B6-46D8-8372-AF489347A05C}"/>
              </a:ext>
            </a:extLst>
          </p:cNvPr>
          <p:cNvSpPr/>
          <p:nvPr/>
        </p:nvSpPr>
        <p:spPr>
          <a:xfrm>
            <a:off x="130281" y="3135058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角色分析</a:t>
            </a:r>
            <a:endParaRPr lang="en-US" altLang="zh-CN" sz="3200" b="1" dirty="0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Rectangle 34">
            <a:extLst>
              <a:ext uri="{FF2B5EF4-FFF2-40B4-BE49-F238E27FC236}">
                <a16:creationId xmlns:a16="http://schemas.microsoft.com/office/drawing/2014/main" id="{71D8E7F7-A508-05CB-6131-B8D0D1F4AA52}"/>
              </a:ext>
            </a:extLst>
          </p:cNvPr>
          <p:cNvSpPr/>
          <p:nvPr/>
        </p:nvSpPr>
        <p:spPr>
          <a:xfrm>
            <a:off x="6045346" y="1260389"/>
            <a:ext cx="5464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→关系演变追踪、网络结构演化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A21181DF-541C-F82E-BEFB-FCC3ED74C388}"/>
              </a:ext>
            </a:extLst>
          </p:cNvPr>
          <p:cNvSpPr/>
          <p:nvPr/>
        </p:nvSpPr>
        <p:spPr>
          <a:xfrm>
            <a:off x="6354807" y="2227391"/>
            <a:ext cx="54640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→行为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影响关联（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PR/Issue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）、个体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群体关联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和社区分析）</a:t>
            </a:r>
            <a:endParaRPr lang="en-US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38130C6-91BF-2681-49AC-117D856A1F02}"/>
              </a:ext>
            </a:extLst>
          </p:cNvPr>
          <p:cNvSpPr txBox="1"/>
          <p:nvPr/>
        </p:nvSpPr>
        <p:spPr>
          <a:xfrm>
            <a:off x="4420487" y="4224613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任意两个贡献者关系的精细曲线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197676A-FEB7-89DE-5D63-2BF01380DEC2}"/>
              </a:ext>
            </a:extLst>
          </p:cNvPr>
          <p:cNvSpPr txBox="1"/>
          <p:nvPr/>
        </p:nvSpPr>
        <p:spPr>
          <a:xfrm>
            <a:off x="4420487" y="4973844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量化不同行为对健康的权重模型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94ED77-5EFA-327A-F6D7-8AD08F2C2D80}"/>
              </a:ext>
            </a:extLst>
          </p:cNvPr>
          <p:cNvSpPr txBox="1"/>
          <p:nvPr/>
        </p:nvSpPr>
        <p:spPr>
          <a:xfrm>
            <a:off x="1653858" y="3179980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→核心贡献者识别（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）、开发者技术属性分析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2AD17FF-F670-1D7B-C6F1-D80567C89E19}"/>
              </a:ext>
            </a:extLst>
          </p:cNvPr>
          <p:cNvSpPr txBox="1"/>
          <p:nvPr/>
        </p:nvSpPr>
        <p:spPr>
          <a:xfrm>
            <a:off x="7367307" y="3198006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角色动态识别、</a:t>
            </a:r>
            <a:r>
              <a:rPr lang="en-US" altLang="zh-CN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影响力演变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A0BD5-43CE-343B-638B-400E95BC52A7}"/>
              </a:ext>
            </a:extLst>
          </p:cNvPr>
          <p:cNvSpPr txBox="1"/>
          <p:nvPr/>
        </p:nvSpPr>
        <p:spPr>
          <a:xfrm>
            <a:off x="4439637" y="5703878"/>
            <a:ext cx="7022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知识传播路径的自动化绘制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A4D78FF-A765-DB48-30F8-262AFCD409A7}"/>
              </a:ext>
            </a:extLst>
          </p:cNvPr>
          <p:cNvSpPr txBox="1"/>
          <p:nvPr/>
        </p:nvSpPr>
        <p:spPr>
          <a:xfrm>
            <a:off x="334832" y="4840128"/>
            <a:ext cx="7221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cs typeface="+mn-ea"/>
                <a:sym typeface="+mn-lt"/>
              </a:rPr>
              <a:t>未来要实现的成果：</a:t>
            </a: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4F3ABFB-83CA-D89D-7840-167AA010B29C}"/>
              </a:ext>
            </a:extLst>
          </p:cNvPr>
          <p:cNvSpPr>
            <a:spLocks noEditPoints="1"/>
          </p:cNvSpPr>
          <p:nvPr/>
        </p:nvSpPr>
        <p:spPr bwMode="auto">
          <a:xfrm>
            <a:off x="8748853" y="4747432"/>
            <a:ext cx="741590" cy="741588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255" y="135"/>
              </a:cxn>
              <a:cxn ang="0">
                <a:pos x="277" y="122"/>
              </a:cxn>
              <a:cxn ang="0">
                <a:pos x="303" y="116"/>
              </a:cxn>
              <a:cxn ang="0">
                <a:pos x="296" y="105"/>
              </a:cxn>
              <a:cxn ang="0">
                <a:pos x="278" y="89"/>
              </a:cxn>
              <a:cxn ang="0">
                <a:pos x="265" y="90"/>
              </a:cxn>
              <a:cxn ang="0">
                <a:pos x="256" y="82"/>
              </a:cxn>
              <a:cxn ang="0">
                <a:pos x="231" y="73"/>
              </a:cxn>
              <a:cxn ang="0">
                <a:pos x="234" y="98"/>
              </a:cxn>
              <a:cxn ang="0">
                <a:pos x="224" y="118"/>
              </a:cxn>
              <a:cxn ang="0">
                <a:pos x="205" y="103"/>
              </a:cxn>
              <a:cxn ang="0">
                <a:pos x="175" y="89"/>
              </a:cxn>
              <a:cxn ang="0">
                <a:pos x="183" y="68"/>
              </a:cxn>
              <a:cxn ang="0">
                <a:pos x="212" y="58"/>
              </a:cxn>
              <a:cxn ang="0">
                <a:pos x="207" y="47"/>
              </a:cxn>
              <a:cxn ang="0">
                <a:pos x="188" y="50"/>
              </a:cxn>
              <a:cxn ang="0">
                <a:pos x="168" y="37"/>
              </a:cxn>
              <a:cxn ang="0">
                <a:pos x="171" y="52"/>
              </a:cxn>
              <a:cxn ang="0">
                <a:pos x="157" y="52"/>
              </a:cxn>
              <a:cxn ang="0">
                <a:pos x="141" y="40"/>
              </a:cxn>
              <a:cxn ang="0">
                <a:pos x="126" y="47"/>
              </a:cxn>
              <a:cxn ang="0">
                <a:pos x="143" y="51"/>
              </a:cxn>
              <a:cxn ang="0">
                <a:pos x="131" y="58"/>
              </a:cxn>
              <a:cxn ang="0">
                <a:pos x="56" y="107"/>
              </a:cxn>
              <a:cxn ang="0">
                <a:pos x="65" y="118"/>
              </a:cxn>
              <a:cxn ang="0">
                <a:pos x="79" y="135"/>
              </a:cxn>
              <a:cxn ang="0">
                <a:pos x="74" y="158"/>
              </a:cxn>
              <a:cxn ang="0">
                <a:pos x="88" y="185"/>
              </a:cxn>
              <a:cxn ang="0">
                <a:pos x="108" y="214"/>
              </a:cxn>
              <a:cxn ang="0">
                <a:pos x="118" y="227"/>
              </a:cxn>
              <a:cxn ang="0">
                <a:pos x="105" y="197"/>
              </a:cxn>
              <a:cxn ang="0">
                <a:pos x="125" y="225"/>
              </a:cxn>
              <a:cxn ang="0">
                <a:pos x="150" y="255"/>
              </a:cxn>
              <a:cxn ang="0">
                <a:pos x="184" y="269"/>
              </a:cxn>
              <a:cxn ang="0">
                <a:pos x="213" y="290"/>
              </a:cxn>
              <a:cxn ang="0">
                <a:pos x="224" y="288"/>
              </a:cxn>
              <a:cxn ang="0">
                <a:pos x="212" y="268"/>
              </a:cxn>
              <a:cxn ang="0">
                <a:pos x="197" y="262"/>
              </a:cxn>
              <a:cxn ang="0">
                <a:pos x="194" y="239"/>
              </a:cxn>
              <a:cxn ang="0">
                <a:pos x="171" y="250"/>
              </a:cxn>
              <a:cxn ang="0">
                <a:pos x="168" y="210"/>
              </a:cxn>
              <a:cxn ang="0">
                <a:pos x="184" y="206"/>
              </a:cxn>
              <a:cxn ang="0">
                <a:pos x="196" y="202"/>
              </a:cxn>
              <a:cxn ang="0">
                <a:pos x="214" y="211"/>
              </a:cxn>
              <a:cxn ang="0">
                <a:pos x="221" y="205"/>
              </a:cxn>
              <a:cxn ang="0">
                <a:pos x="234" y="179"/>
              </a:cxn>
              <a:cxn ang="0">
                <a:pos x="233" y="171"/>
              </a:cxn>
              <a:cxn ang="0">
                <a:pos x="252" y="157"/>
              </a:cxn>
              <a:cxn ang="0">
                <a:pos x="266" y="143"/>
              </a:cxn>
              <a:cxn ang="0">
                <a:pos x="273" y="131"/>
              </a:cxn>
              <a:cxn ang="0">
                <a:pos x="255" y="135"/>
              </a:cxn>
              <a:cxn ang="0">
                <a:pos x="295" y="298"/>
              </a:cxn>
              <a:cxn ang="0">
                <a:pos x="272" y="288"/>
              </a:cxn>
              <a:cxn ang="0">
                <a:pos x="251" y="288"/>
              </a:cxn>
              <a:cxn ang="0">
                <a:pos x="236" y="286"/>
              </a:cxn>
              <a:cxn ang="0">
                <a:pos x="230" y="307"/>
              </a:cxn>
              <a:cxn ang="0">
                <a:pos x="223" y="335"/>
              </a:cxn>
              <a:cxn ang="0">
                <a:pos x="308" y="302"/>
              </a:cxn>
            </a:cxnLst>
            <a:rect l="0" t="0" r="r" b="b"/>
            <a:pathLst>
              <a:path w="384" h="384">
                <a:moveTo>
                  <a:pt x="384" y="192"/>
                </a:moveTo>
                <a:cubicBezTo>
                  <a:pt x="384" y="298"/>
                  <a:pt x="298" y="384"/>
                  <a:pt x="192" y="384"/>
                </a:cubicBezTo>
                <a:cubicBezTo>
                  <a:pt x="86" y="384"/>
                  <a:pt x="0" y="298"/>
                  <a:pt x="0" y="192"/>
                </a:cubicBezTo>
                <a:cubicBezTo>
                  <a:pt x="0" y="86"/>
                  <a:pt x="86" y="0"/>
                  <a:pt x="192" y="0"/>
                </a:cubicBezTo>
                <a:cubicBezTo>
                  <a:pt x="298" y="0"/>
                  <a:pt x="384" y="86"/>
                  <a:pt x="384" y="192"/>
                </a:cubicBezTo>
                <a:close/>
                <a:moveTo>
                  <a:pt x="255" y="135"/>
                </a:moveTo>
                <a:cubicBezTo>
                  <a:pt x="256" y="135"/>
                  <a:pt x="257" y="130"/>
                  <a:pt x="258" y="129"/>
                </a:cubicBezTo>
                <a:cubicBezTo>
                  <a:pt x="260" y="127"/>
                  <a:pt x="262" y="126"/>
                  <a:pt x="264" y="125"/>
                </a:cubicBezTo>
                <a:cubicBezTo>
                  <a:pt x="268" y="124"/>
                  <a:pt x="272" y="123"/>
                  <a:pt x="277" y="122"/>
                </a:cubicBezTo>
                <a:cubicBezTo>
                  <a:pt x="281" y="121"/>
                  <a:pt x="286" y="121"/>
                  <a:pt x="289" y="125"/>
                </a:cubicBezTo>
                <a:cubicBezTo>
                  <a:pt x="289" y="124"/>
                  <a:pt x="295" y="119"/>
                  <a:pt x="295" y="119"/>
                </a:cubicBezTo>
                <a:cubicBezTo>
                  <a:pt x="298" y="118"/>
                  <a:pt x="301" y="118"/>
                  <a:pt x="303" y="116"/>
                </a:cubicBezTo>
                <a:cubicBezTo>
                  <a:pt x="303" y="115"/>
                  <a:pt x="303" y="110"/>
                  <a:pt x="303" y="110"/>
                </a:cubicBezTo>
                <a:cubicBezTo>
                  <a:pt x="299" y="111"/>
                  <a:pt x="298" y="107"/>
                  <a:pt x="297" y="103"/>
                </a:cubicBezTo>
                <a:cubicBezTo>
                  <a:pt x="297" y="104"/>
                  <a:pt x="297" y="104"/>
                  <a:pt x="296" y="105"/>
                </a:cubicBezTo>
                <a:cubicBezTo>
                  <a:pt x="296" y="102"/>
                  <a:pt x="291" y="104"/>
                  <a:pt x="290" y="104"/>
                </a:cubicBezTo>
                <a:cubicBezTo>
                  <a:pt x="284" y="102"/>
                  <a:pt x="285" y="98"/>
                  <a:pt x="283" y="94"/>
                </a:cubicBezTo>
                <a:cubicBezTo>
                  <a:pt x="282" y="92"/>
                  <a:pt x="279" y="91"/>
                  <a:pt x="278" y="89"/>
                </a:cubicBezTo>
                <a:cubicBezTo>
                  <a:pt x="277" y="87"/>
                  <a:pt x="277" y="84"/>
                  <a:pt x="274" y="84"/>
                </a:cubicBezTo>
                <a:cubicBezTo>
                  <a:pt x="273" y="84"/>
                  <a:pt x="270" y="89"/>
                  <a:pt x="270" y="89"/>
                </a:cubicBezTo>
                <a:cubicBezTo>
                  <a:pt x="267" y="88"/>
                  <a:pt x="266" y="89"/>
                  <a:pt x="265" y="90"/>
                </a:cubicBezTo>
                <a:cubicBezTo>
                  <a:pt x="263" y="91"/>
                  <a:pt x="262" y="91"/>
                  <a:pt x="260" y="92"/>
                </a:cubicBezTo>
                <a:cubicBezTo>
                  <a:pt x="265" y="90"/>
                  <a:pt x="258" y="88"/>
                  <a:pt x="256" y="88"/>
                </a:cubicBezTo>
                <a:cubicBezTo>
                  <a:pt x="260" y="87"/>
                  <a:pt x="258" y="83"/>
                  <a:pt x="256" y="82"/>
                </a:cubicBezTo>
                <a:cubicBezTo>
                  <a:pt x="256" y="82"/>
                  <a:pt x="257" y="82"/>
                  <a:pt x="257" y="82"/>
                </a:cubicBezTo>
                <a:cubicBezTo>
                  <a:pt x="257" y="79"/>
                  <a:pt x="250" y="77"/>
                  <a:pt x="247" y="76"/>
                </a:cubicBezTo>
                <a:cubicBezTo>
                  <a:pt x="245" y="74"/>
                  <a:pt x="233" y="72"/>
                  <a:pt x="231" y="73"/>
                </a:cubicBezTo>
                <a:cubicBezTo>
                  <a:pt x="228" y="75"/>
                  <a:pt x="231" y="80"/>
                  <a:pt x="231" y="83"/>
                </a:cubicBezTo>
                <a:cubicBezTo>
                  <a:pt x="232" y="86"/>
                  <a:pt x="228" y="86"/>
                  <a:pt x="228" y="89"/>
                </a:cubicBezTo>
                <a:cubicBezTo>
                  <a:pt x="228" y="93"/>
                  <a:pt x="236" y="92"/>
                  <a:pt x="234" y="98"/>
                </a:cubicBezTo>
                <a:cubicBezTo>
                  <a:pt x="233" y="102"/>
                  <a:pt x="228" y="102"/>
                  <a:pt x="226" y="105"/>
                </a:cubicBezTo>
                <a:cubicBezTo>
                  <a:pt x="224" y="108"/>
                  <a:pt x="227" y="112"/>
                  <a:pt x="229" y="114"/>
                </a:cubicBezTo>
                <a:cubicBezTo>
                  <a:pt x="231" y="115"/>
                  <a:pt x="225" y="118"/>
                  <a:pt x="224" y="118"/>
                </a:cubicBezTo>
                <a:cubicBezTo>
                  <a:pt x="220" y="120"/>
                  <a:pt x="217" y="114"/>
                  <a:pt x="216" y="110"/>
                </a:cubicBezTo>
                <a:cubicBezTo>
                  <a:pt x="215" y="108"/>
                  <a:pt x="215" y="104"/>
                  <a:pt x="212" y="103"/>
                </a:cubicBezTo>
                <a:cubicBezTo>
                  <a:pt x="210" y="102"/>
                  <a:pt x="206" y="102"/>
                  <a:pt x="205" y="103"/>
                </a:cubicBezTo>
                <a:cubicBezTo>
                  <a:pt x="203" y="99"/>
                  <a:pt x="198" y="98"/>
                  <a:pt x="194" y="97"/>
                </a:cubicBezTo>
                <a:cubicBezTo>
                  <a:pt x="189" y="95"/>
                  <a:pt x="185" y="95"/>
                  <a:pt x="180" y="96"/>
                </a:cubicBezTo>
                <a:cubicBezTo>
                  <a:pt x="181" y="95"/>
                  <a:pt x="179" y="88"/>
                  <a:pt x="175" y="89"/>
                </a:cubicBezTo>
                <a:cubicBezTo>
                  <a:pt x="176" y="86"/>
                  <a:pt x="176" y="84"/>
                  <a:pt x="176" y="81"/>
                </a:cubicBezTo>
                <a:cubicBezTo>
                  <a:pt x="177" y="79"/>
                  <a:pt x="178" y="77"/>
                  <a:pt x="179" y="75"/>
                </a:cubicBezTo>
                <a:cubicBezTo>
                  <a:pt x="180" y="74"/>
                  <a:pt x="185" y="69"/>
                  <a:pt x="183" y="68"/>
                </a:cubicBezTo>
                <a:cubicBezTo>
                  <a:pt x="188" y="69"/>
                  <a:pt x="193" y="69"/>
                  <a:pt x="196" y="66"/>
                </a:cubicBezTo>
                <a:cubicBezTo>
                  <a:pt x="198" y="63"/>
                  <a:pt x="199" y="60"/>
                  <a:pt x="202" y="57"/>
                </a:cubicBezTo>
                <a:cubicBezTo>
                  <a:pt x="205" y="53"/>
                  <a:pt x="209" y="58"/>
                  <a:pt x="212" y="58"/>
                </a:cubicBezTo>
                <a:cubicBezTo>
                  <a:pt x="217" y="59"/>
                  <a:pt x="217" y="53"/>
                  <a:pt x="214" y="51"/>
                </a:cubicBezTo>
                <a:cubicBezTo>
                  <a:pt x="218" y="51"/>
                  <a:pt x="215" y="45"/>
                  <a:pt x="213" y="44"/>
                </a:cubicBezTo>
                <a:cubicBezTo>
                  <a:pt x="211" y="43"/>
                  <a:pt x="202" y="46"/>
                  <a:pt x="207" y="47"/>
                </a:cubicBezTo>
                <a:cubicBezTo>
                  <a:pt x="206" y="47"/>
                  <a:pt x="200" y="59"/>
                  <a:pt x="196" y="53"/>
                </a:cubicBezTo>
                <a:cubicBezTo>
                  <a:pt x="195" y="52"/>
                  <a:pt x="195" y="47"/>
                  <a:pt x="193" y="46"/>
                </a:cubicBezTo>
                <a:cubicBezTo>
                  <a:pt x="190" y="46"/>
                  <a:pt x="189" y="49"/>
                  <a:pt x="188" y="50"/>
                </a:cubicBezTo>
                <a:cubicBezTo>
                  <a:pt x="190" y="47"/>
                  <a:pt x="181" y="45"/>
                  <a:pt x="180" y="44"/>
                </a:cubicBezTo>
                <a:cubicBezTo>
                  <a:pt x="183" y="42"/>
                  <a:pt x="180" y="39"/>
                  <a:pt x="178" y="38"/>
                </a:cubicBezTo>
                <a:cubicBezTo>
                  <a:pt x="176" y="36"/>
                  <a:pt x="169" y="35"/>
                  <a:pt x="168" y="37"/>
                </a:cubicBezTo>
                <a:cubicBezTo>
                  <a:pt x="163" y="43"/>
                  <a:pt x="173" y="44"/>
                  <a:pt x="175" y="45"/>
                </a:cubicBezTo>
                <a:cubicBezTo>
                  <a:pt x="176" y="46"/>
                  <a:pt x="179" y="48"/>
                  <a:pt x="177" y="49"/>
                </a:cubicBezTo>
                <a:cubicBezTo>
                  <a:pt x="176" y="50"/>
                  <a:pt x="171" y="51"/>
                  <a:pt x="171" y="52"/>
                </a:cubicBezTo>
                <a:cubicBezTo>
                  <a:pt x="169" y="54"/>
                  <a:pt x="172" y="57"/>
                  <a:pt x="170" y="59"/>
                </a:cubicBezTo>
                <a:cubicBezTo>
                  <a:pt x="168" y="57"/>
                  <a:pt x="168" y="53"/>
                  <a:pt x="166" y="50"/>
                </a:cubicBezTo>
                <a:cubicBezTo>
                  <a:pt x="168" y="53"/>
                  <a:pt x="157" y="52"/>
                  <a:pt x="157" y="52"/>
                </a:cubicBezTo>
                <a:cubicBezTo>
                  <a:pt x="154" y="52"/>
                  <a:pt x="148" y="54"/>
                  <a:pt x="145" y="50"/>
                </a:cubicBezTo>
                <a:cubicBezTo>
                  <a:pt x="144" y="49"/>
                  <a:pt x="144" y="44"/>
                  <a:pt x="146" y="45"/>
                </a:cubicBezTo>
                <a:cubicBezTo>
                  <a:pt x="144" y="43"/>
                  <a:pt x="142" y="41"/>
                  <a:pt x="141" y="40"/>
                </a:cubicBezTo>
                <a:cubicBezTo>
                  <a:pt x="132" y="43"/>
                  <a:pt x="125" y="47"/>
                  <a:pt x="117" y="51"/>
                </a:cubicBezTo>
                <a:cubicBezTo>
                  <a:pt x="118" y="51"/>
                  <a:pt x="119" y="51"/>
                  <a:pt x="120" y="50"/>
                </a:cubicBezTo>
                <a:cubicBezTo>
                  <a:pt x="122" y="50"/>
                  <a:pt x="124" y="48"/>
                  <a:pt x="126" y="47"/>
                </a:cubicBezTo>
                <a:cubicBezTo>
                  <a:pt x="128" y="46"/>
                  <a:pt x="134" y="43"/>
                  <a:pt x="136" y="46"/>
                </a:cubicBezTo>
                <a:cubicBezTo>
                  <a:pt x="137" y="45"/>
                  <a:pt x="137" y="45"/>
                  <a:pt x="138" y="44"/>
                </a:cubicBezTo>
                <a:cubicBezTo>
                  <a:pt x="139" y="46"/>
                  <a:pt x="141" y="48"/>
                  <a:pt x="143" y="51"/>
                </a:cubicBezTo>
                <a:cubicBezTo>
                  <a:pt x="141" y="50"/>
                  <a:pt x="137" y="50"/>
                  <a:pt x="135" y="50"/>
                </a:cubicBezTo>
                <a:cubicBezTo>
                  <a:pt x="133" y="51"/>
                  <a:pt x="130" y="51"/>
                  <a:pt x="130" y="53"/>
                </a:cubicBezTo>
                <a:cubicBezTo>
                  <a:pt x="130" y="55"/>
                  <a:pt x="131" y="57"/>
                  <a:pt x="131" y="58"/>
                </a:cubicBezTo>
                <a:cubicBezTo>
                  <a:pt x="128" y="56"/>
                  <a:pt x="125" y="52"/>
                  <a:pt x="121" y="51"/>
                </a:cubicBezTo>
                <a:cubicBezTo>
                  <a:pt x="119" y="51"/>
                  <a:pt x="117" y="51"/>
                  <a:pt x="115" y="52"/>
                </a:cubicBezTo>
                <a:cubicBezTo>
                  <a:pt x="91" y="65"/>
                  <a:pt x="71" y="84"/>
                  <a:pt x="56" y="107"/>
                </a:cubicBezTo>
                <a:cubicBezTo>
                  <a:pt x="57" y="108"/>
                  <a:pt x="58" y="109"/>
                  <a:pt x="59" y="109"/>
                </a:cubicBezTo>
                <a:cubicBezTo>
                  <a:pt x="62" y="110"/>
                  <a:pt x="59" y="117"/>
                  <a:pt x="64" y="113"/>
                </a:cubicBezTo>
                <a:cubicBezTo>
                  <a:pt x="66" y="115"/>
                  <a:pt x="66" y="116"/>
                  <a:pt x="65" y="118"/>
                </a:cubicBezTo>
                <a:cubicBezTo>
                  <a:pt x="65" y="118"/>
                  <a:pt x="75" y="124"/>
                  <a:pt x="76" y="125"/>
                </a:cubicBezTo>
                <a:cubicBezTo>
                  <a:pt x="78" y="126"/>
                  <a:pt x="80" y="128"/>
                  <a:pt x="81" y="130"/>
                </a:cubicBezTo>
                <a:cubicBezTo>
                  <a:pt x="82" y="132"/>
                  <a:pt x="80" y="134"/>
                  <a:pt x="79" y="135"/>
                </a:cubicBezTo>
                <a:cubicBezTo>
                  <a:pt x="78" y="134"/>
                  <a:pt x="75" y="130"/>
                  <a:pt x="74" y="131"/>
                </a:cubicBezTo>
                <a:cubicBezTo>
                  <a:pt x="73" y="133"/>
                  <a:pt x="74" y="139"/>
                  <a:pt x="77" y="139"/>
                </a:cubicBezTo>
                <a:cubicBezTo>
                  <a:pt x="73" y="139"/>
                  <a:pt x="75" y="155"/>
                  <a:pt x="74" y="158"/>
                </a:cubicBezTo>
                <a:cubicBezTo>
                  <a:pt x="74" y="158"/>
                  <a:pt x="74" y="158"/>
                  <a:pt x="74" y="158"/>
                </a:cubicBezTo>
                <a:cubicBezTo>
                  <a:pt x="73" y="161"/>
                  <a:pt x="76" y="173"/>
                  <a:pt x="81" y="172"/>
                </a:cubicBezTo>
                <a:cubicBezTo>
                  <a:pt x="78" y="172"/>
                  <a:pt x="87" y="184"/>
                  <a:pt x="88" y="185"/>
                </a:cubicBezTo>
                <a:cubicBezTo>
                  <a:pt x="91" y="187"/>
                  <a:pt x="95" y="188"/>
                  <a:pt x="97" y="192"/>
                </a:cubicBezTo>
                <a:cubicBezTo>
                  <a:pt x="100" y="195"/>
                  <a:pt x="100" y="201"/>
                  <a:pt x="103" y="203"/>
                </a:cubicBezTo>
                <a:cubicBezTo>
                  <a:pt x="102" y="206"/>
                  <a:pt x="108" y="210"/>
                  <a:pt x="108" y="214"/>
                </a:cubicBezTo>
                <a:cubicBezTo>
                  <a:pt x="108" y="214"/>
                  <a:pt x="107" y="214"/>
                  <a:pt x="107" y="215"/>
                </a:cubicBezTo>
                <a:cubicBezTo>
                  <a:pt x="108" y="218"/>
                  <a:pt x="113" y="218"/>
                  <a:pt x="115" y="221"/>
                </a:cubicBezTo>
                <a:cubicBezTo>
                  <a:pt x="116" y="223"/>
                  <a:pt x="115" y="228"/>
                  <a:pt x="118" y="227"/>
                </a:cubicBezTo>
                <a:cubicBezTo>
                  <a:pt x="118" y="222"/>
                  <a:pt x="115" y="216"/>
                  <a:pt x="112" y="212"/>
                </a:cubicBezTo>
                <a:cubicBezTo>
                  <a:pt x="110" y="209"/>
                  <a:pt x="109" y="207"/>
                  <a:pt x="108" y="204"/>
                </a:cubicBezTo>
                <a:cubicBezTo>
                  <a:pt x="106" y="202"/>
                  <a:pt x="106" y="199"/>
                  <a:pt x="105" y="197"/>
                </a:cubicBezTo>
                <a:cubicBezTo>
                  <a:pt x="106" y="197"/>
                  <a:pt x="112" y="199"/>
                  <a:pt x="111" y="200"/>
                </a:cubicBezTo>
                <a:cubicBezTo>
                  <a:pt x="109" y="205"/>
                  <a:pt x="119" y="214"/>
                  <a:pt x="122" y="217"/>
                </a:cubicBezTo>
                <a:cubicBezTo>
                  <a:pt x="123" y="218"/>
                  <a:pt x="128" y="225"/>
                  <a:pt x="125" y="225"/>
                </a:cubicBezTo>
                <a:cubicBezTo>
                  <a:pt x="129" y="225"/>
                  <a:pt x="133" y="230"/>
                  <a:pt x="135" y="233"/>
                </a:cubicBezTo>
                <a:cubicBezTo>
                  <a:pt x="137" y="236"/>
                  <a:pt x="136" y="241"/>
                  <a:pt x="138" y="245"/>
                </a:cubicBezTo>
                <a:cubicBezTo>
                  <a:pt x="139" y="250"/>
                  <a:pt x="146" y="252"/>
                  <a:pt x="150" y="255"/>
                </a:cubicBezTo>
                <a:cubicBezTo>
                  <a:pt x="154" y="256"/>
                  <a:pt x="157" y="259"/>
                  <a:pt x="160" y="260"/>
                </a:cubicBezTo>
                <a:cubicBezTo>
                  <a:pt x="166" y="262"/>
                  <a:pt x="167" y="260"/>
                  <a:pt x="171" y="260"/>
                </a:cubicBezTo>
                <a:cubicBezTo>
                  <a:pt x="178" y="259"/>
                  <a:pt x="179" y="266"/>
                  <a:pt x="184" y="269"/>
                </a:cubicBezTo>
                <a:cubicBezTo>
                  <a:pt x="187" y="270"/>
                  <a:pt x="194" y="273"/>
                  <a:pt x="198" y="271"/>
                </a:cubicBezTo>
                <a:cubicBezTo>
                  <a:pt x="196" y="272"/>
                  <a:pt x="203" y="282"/>
                  <a:pt x="204" y="283"/>
                </a:cubicBezTo>
                <a:cubicBezTo>
                  <a:pt x="206" y="286"/>
                  <a:pt x="210" y="287"/>
                  <a:pt x="213" y="290"/>
                </a:cubicBezTo>
                <a:cubicBezTo>
                  <a:pt x="213" y="290"/>
                  <a:pt x="214" y="289"/>
                  <a:pt x="214" y="288"/>
                </a:cubicBezTo>
                <a:cubicBezTo>
                  <a:pt x="213" y="291"/>
                  <a:pt x="218" y="296"/>
                  <a:pt x="221" y="296"/>
                </a:cubicBezTo>
                <a:cubicBezTo>
                  <a:pt x="223" y="295"/>
                  <a:pt x="224" y="290"/>
                  <a:pt x="224" y="288"/>
                </a:cubicBezTo>
                <a:cubicBezTo>
                  <a:pt x="219" y="290"/>
                  <a:pt x="215" y="288"/>
                  <a:pt x="212" y="283"/>
                </a:cubicBezTo>
                <a:cubicBezTo>
                  <a:pt x="211" y="282"/>
                  <a:pt x="207" y="275"/>
                  <a:pt x="211" y="275"/>
                </a:cubicBezTo>
                <a:cubicBezTo>
                  <a:pt x="216" y="275"/>
                  <a:pt x="212" y="271"/>
                  <a:pt x="212" y="268"/>
                </a:cubicBezTo>
                <a:cubicBezTo>
                  <a:pt x="211" y="264"/>
                  <a:pt x="208" y="262"/>
                  <a:pt x="206" y="259"/>
                </a:cubicBezTo>
                <a:cubicBezTo>
                  <a:pt x="205" y="262"/>
                  <a:pt x="200" y="261"/>
                  <a:pt x="198" y="259"/>
                </a:cubicBezTo>
                <a:cubicBezTo>
                  <a:pt x="198" y="259"/>
                  <a:pt x="197" y="261"/>
                  <a:pt x="197" y="262"/>
                </a:cubicBezTo>
                <a:cubicBezTo>
                  <a:pt x="196" y="262"/>
                  <a:pt x="195" y="262"/>
                  <a:pt x="194" y="261"/>
                </a:cubicBezTo>
                <a:cubicBezTo>
                  <a:pt x="194" y="258"/>
                  <a:pt x="194" y="255"/>
                  <a:pt x="195" y="251"/>
                </a:cubicBezTo>
                <a:cubicBezTo>
                  <a:pt x="196" y="247"/>
                  <a:pt x="205" y="238"/>
                  <a:pt x="194" y="239"/>
                </a:cubicBezTo>
                <a:cubicBezTo>
                  <a:pt x="190" y="239"/>
                  <a:pt x="188" y="240"/>
                  <a:pt x="187" y="244"/>
                </a:cubicBezTo>
                <a:cubicBezTo>
                  <a:pt x="186" y="247"/>
                  <a:pt x="186" y="249"/>
                  <a:pt x="183" y="251"/>
                </a:cubicBezTo>
                <a:cubicBezTo>
                  <a:pt x="181" y="252"/>
                  <a:pt x="173" y="251"/>
                  <a:pt x="171" y="250"/>
                </a:cubicBezTo>
                <a:cubicBezTo>
                  <a:pt x="166" y="247"/>
                  <a:pt x="163" y="239"/>
                  <a:pt x="163" y="234"/>
                </a:cubicBezTo>
                <a:cubicBezTo>
                  <a:pt x="163" y="227"/>
                  <a:pt x="166" y="221"/>
                  <a:pt x="163" y="215"/>
                </a:cubicBezTo>
                <a:cubicBezTo>
                  <a:pt x="164" y="213"/>
                  <a:pt x="166" y="211"/>
                  <a:pt x="168" y="210"/>
                </a:cubicBezTo>
                <a:cubicBezTo>
                  <a:pt x="169" y="209"/>
                  <a:pt x="171" y="210"/>
                  <a:pt x="172" y="207"/>
                </a:cubicBezTo>
                <a:cubicBezTo>
                  <a:pt x="171" y="207"/>
                  <a:pt x="170" y="206"/>
                  <a:pt x="170" y="206"/>
                </a:cubicBezTo>
                <a:cubicBezTo>
                  <a:pt x="173" y="208"/>
                  <a:pt x="180" y="203"/>
                  <a:pt x="184" y="206"/>
                </a:cubicBezTo>
                <a:cubicBezTo>
                  <a:pt x="186" y="207"/>
                  <a:pt x="188" y="208"/>
                  <a:pt x="189" y="205"/>
                </a:cubicBezTo>
                <a:cubicBezTo>
                  <a:pt x="189" y="205"/>
                  <a:pt x="187" y="202"/>
                  <a:pt x="188" y="200"/>
                </a:cubicBezTo>
                <a:cubicBezTo>
                  <a:pt x="189" y="204"/>
                  <a:pt x="192" y="205"/>
                  <a:pt x="196" y="202"/>
                </a:cubicBezTo>
                <a:cubicBezTo>
                  <a:pt x="197" y="203"/>
                  <a:pt x="201" y="203"/>
                  <a:pt x="204" y="204"/>
                </a:cubicBezTo>
                <a:cubicBezTo>
                  <a:pt x="207" y="206"/>
                  <a:pt x="207" y="209"/>
                  <a:pt x="211" y="205"/>
                </a:cubicBezTo>
                <a:cubicBezTo>
                  <a:pt x="213" y="208"/>
                  <a:pt x="213" y="208"/>
                  <a:pt x="214" y="211"/>
                </a:cubicBezTo>
                <a:cubicBezTo>
                  <a:pt x="214" y="214"/>
                  <a:pt x="216" y="221"/>
                  <a:pt x="218" y="222"/>
                </a:cubicBezTo>
                <a:cubicBezTo>
                  <a:pt x="224" y="225"/>
                  <a:pt x="222" y="217"/>
                  <a:pt x="222" y="214"/>
                </a:cubicBezTo>
                <a:cubicBezTo>
                  <a:pt x="222" y="213"/>
                  <a:pt x="222" y="205"/>
                  <a:pt x="221" y="205"/>
                </a:cubicBezTo>
                <a:cubicBezTo>
                  <a:pt x="213" y="203"/>
                  <a:pt x="216" y="197"/>
                  <a:pt x="221" y="193"/>
                </a:cubicBezTo>
                <a:cubicBezTo>
                  <a:pt x="222" y="192"/>
                  <a:pt x="227" y="190"/>
                  <a:pt x="230" y="188"/>
                </a:cubicBezTo>
                <a:cubicBezTo>
                  <a:pt x="232" y="186"/>
                  <a:pt x="235" y="183"/>
                  <a:pt x="234" y="179"/>
                </a:cubicBezTo>
                <a:cubicBezTo>
                  <a:pt x="235" y="179"/>
                  <a:pt x="236" y="178"/>
                  <a:pt x="236" y="177"/>
                </a:cubicBezTo>
                <a:cubicBezTo>
                  <a:pt x="236" y="177"/>
                  <a:pt x="233" y="174"/>
                  <a:pt x="232" y="175"/>
                </a:cubicBezTo>
                <a:cubicBezTo>
                  <a:pt x="234" y="174"/>
                  <a:pt x="234" y="172"/>
                  <a:pt x="233" y="171"/>
                </a:cubicBezTo>
                <a:cubicBezTo>
                  <a:pt x="235" y="169"/>
                  <a:pt x="234" y="166"/>
                  <a:pt x="236" y="165"/>
                </a:cubicBezTo>
                <a:cubicBezTo>
                  <a:pt x="239" y="169"/>
                  <a:pt x="245" y="165"/>
                  <a:pt x="242" y="162"/>
                </a:cubicBezTo>
                <a:cubicBezTo>
                  <a:pt x="244" y="158"/>
                  <a:pt x="250" y="160"/>
                  <a:pt x="252" y="157"/>
                </a:cubicBezTo>
                <a:cubicBezTo>
                  <a:pt x="255" y="158"/>
                  <a:pt x="253" y="153"/>
                  <a:pt x="255" y="150"/>
                </a:cubicBezTo>
                <a:cubicBezTo>
                  <a:pt x="256" y="148"/>
                  <a:pt x="259" y="148"/>
                  <a:pt x="262" y="147"/>
                </a:cubicBezTo>
                <a:cubicBezTo>
                  <a:pt x="262" y="147"/>
                  <a:pt x="268" y="143"/>
                  <a:pt x="266" y="143"/>
                </a:cubicBezTo>
                <a:cubicBezTo>
                  <a:pt x="270" y="144"/>
                  <a:pt x="279" y="139"/>
                  <a:pt x="272" y="135"/>
                </a:cubicBezTo>
                <a:cubicBezTo>
                  <a:pt x="273" y="133"/>
                  <a:pt x="270" y="132"/>
                  <a:pt x="268" y="132"/>
                </a:cubicBezTo>
                <a:cubicBezTo>
                  <a:pt x="269" y="131"/>
                  <a:pt x="272" y="132"/>
                  <a:pt x="273" y="131"/>
                </a:cubicBezTo>
                <a:cubicBezTo>
                  <a:pt x="276" y="129"/>
                  <a:pt x="274" y="128"/>
                  <a:pt x="271" y="127"/>
                </a:cubicBezTo>
                <a:cubicBezTo>
                  <a:pt x="268" y="126"/>
                  <a:pt x="263" y="128"/>
                  <a:pt x="261" y="130"/>
                </a:cubicBezTo>
                <a:cubicBezTo>
                  <a:pt x="259" y="132"/>
                  <a:pt x="257" y="134"/>
                  <a:pt x="255" y="135"/>
                </a:cubicBezTo>
                <a:close/>
                <a:moveTo>
                  <a:pt x="308" y="302"/>
                </a:moveTo>
                <a:cubicBezTo>
                  <a:pt x="306" y="301"/>
                  <a:pt x="303" y="301"/>
                  <a:pt x="301" y="300"/>
                </a:cubicBezTo>
                <a:cubicBezTo>
                  <a:pt x="299" y="300"/>
                  <a:pt x="298" y="299"/>
                  <a:pt x="295" y="298"/>
                </a:cubicBezTo>
                <a:cubicBezTo>
                  <a:pt x="296" y="293"/>
                  <a:pt x="290" y="292"/>
                  <a:pt x="287" y="289"/>
                </a:cubicBezTo>
                <a:cubicBezTo>
                  <a:pt x="284" y="287"/>
                  <a:pt x="282" y="284"/>
                  <a:pt x="277" y="285"/>
                </a:cubicBezTo>
                <a:cubicBezTo>
                  <a:pt x="276" y="285"/>
                  <a:pt x="271" y="287"/>
                  <a:pt x="272" y="288"/>
                </a:cubicBezTo>
                <a:cubicBezTo>
                  <a:pt x="269" y="285"/>
                  <a:pt x="268" y="284"/>
                  <a:pt x="263" y="282"/>
                </a:cubicBezTo>
                <a:cubicBezTo>
                  <a:pt x="259" y="281"/>
                  <a:pt x="257" y="276"/>
                  <a:pt x="253" y="281"/>
                </a:cubicBezTo>
                <a:cubicBezTo>
                  <a:pt x="251" y="283"/>
                  <a:pt x="252" y="286"/>
                  <a:pt x="251" y="288"/>
                </a:cubicBezTo>
                <a:cubicBezTo>
                  <a:pt x="247" y="285"/>
                  <a:pt x="254" y="282"/>
                  <a:pt x="251" y="279"/>
                </a:cubicBezTo>
                <a:cubicBezTo>
                  <a:pt x="248" y="275"/>
                  <a:pt x="243" y="281"/>
                  <a:pt x="240" y="282"/>
                </a:cubicBezTo>
                <a:cubicBezTo>
                  <a:pt x="239" y="284"/>
                  <a:pt x="237" y="284"/>
                  <a:pt x="236" y="286"/>
                </a:cubicBezTo>
                <a:cubicBezTo>
                  <a:pt x="235" y="287"/>
                  <a:pt x="234" y="290"/>
                  <a:pt x="233" y="291"/>
                </a:cubicBezTo>
                <a:cubicBezTo>
                  <a:pt x="233" y="289"/>
                  <a:pt x="228" y="290"/>
                  <a:pt x="228" y="288"/>
                </a:cubicBezTo>
                <a:cubicBezTo>
                  <a:pt x="229" y="294"/>
                  <a:pt x="229" y="301"/>
                  <a:pt x="230" y="307"/>
                </a:cubicBezTo>
                <a:cubicBezTo>
                  <a:pt x="231" y="310"/>
                  <a:pt x="230" y="316"/>
                  <a:pt x="227" y="319"/>
                </a:cubicBezTo>
                <a:cubicBezTo>
                  <a:pt x="224" y="321"/>
                  <a:pt x="221" y="324"/>
                  <a:pt x="220" y="329"/>
                </a:cubicBezTo>
                <a:cubicBezTo>
                  <a:pt x="220" y="332"/>
                  <a:pt x="220" y="334"/>
                  <a:pt x="223" y="335"/>
                </a:cubicBezTo>
                <a:cubicBezTo>
                  <a:pt x="223" y="339"/>
                  <a:pt x="219" y="342"/>
                  <a:pt x="219" y="346"/>
                </a:cubicBezTo>
                <a:cubicBezTo>
                  <a:pt x="219" y="346"/>
                  <a:pt x="220" y="348"/>
                  <a:pt x="220" y="350"/>
                </a:cubicBezTo>
                <a:cubicBezTo>
                  <a:pt x="254" y="344"/>
                  <a:pt x="285" y="327"/>
                  <a:pt x="308" y="302"/>
                </a:cubicBezTo>
                <a:close/>
              </a:path>
            </a:pathLst>
          </a:custGeom>
          <a:solidFill>
            <a:srgbClr val="D0E1EB"/>
          </a:solidFill>
          <a:ln w="9525">
            <a:noFill/>
            <a:round/>
          </a:ln>
        </p:spPr>
        <p:txBody>
          <a:bodyPr vert="horz" wrap="square" lIns="128580" tIns="64290" rIns="128580" bIns="64290" numCol="1" anchor="t" anchorCtr="0" compatLnSpc="1"/>
          <a:lstStyle/>
          <a:p>
            <a:pPr marL="0" marR="0" lvl="0" indent="0" defTabSz="91440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317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1610E04C-4347-C0EF-61EE-D69F2D14710F}"/>
              </a:ext>
            </a:extLst>
          </p:cNvPr>
          <p:cNvSpPr txBox="1"/>
          <p:nvPr/>
        </p:nvSpPr>
        <p:spPr>
          <a:xfrm>
            <a:off x="3951823" y="4493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系统架构与数据流水线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2EE25A-1C27-1610-4760-5DFD078BC5B0}"/>
              </a:ext>
            </a:extLst>
          </p:cNvPr>
          <p:cNvGrpSpPr/>
          <p:nvPr/>
        </p:nvGrpSpPr>
        <p:grpSpPr>
          <a:xfrm>
            <a:off x="2648554" y="1445665"/>
            <a:ext cx="6894890" cy="4511639"/>
            <a:chOff x="2211525" y="1412535"/>
            <a:chExt cx="6894890" cy="451163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8148ED1E-D1D9-01FE-13BB-EAF465A6DAB5}"/>
                </a:ext>
              </a:extLst>
            </p:cNvPr>
            <p:cNvGrpSpPr/>
            <p:nvPr/>
          </p:nvGrpSpPr>
          <p:grpSpPr>
            <a:xfrm>
              <a:off x="2211525" y="1412535"/>
              <a:ext cx="6894890" cy="4511639"/>
              <a:chOff x="1826367" y="1304959"/>
              <a:chExt cx="6894890" cy="451163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96B42D4-4F7E-8359-CD56-EC4D4AE689C9}"/>
                  </a:ext>
                </a:extLst>
              </p:cNvPr>
              <p:cNvGrpSpPr/>
              <p:nvPr/>
            </p:nvGrpSpPr>
            <p:grpSpPr>
              <a:xfrm>
                <a:off x="3000414" y="1304959"/>
                <a:ext cx="2785756" cy="1798371"/>
                <a:chOff x="387750" y="743123"/>
                <a:chExt cx="2785756" cy="179837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0574631-AA53-2E23-7611-8B8FE63B57C3}"/>
                    </a:ext>
                  </a:extLst>
                </p:cNvPr>
                <p:cNvSpPr/>
                <p:nvPr/>
              </p:nvSpPr>
              <p:spPr>
                <a:xfrm>
                  <a:off x="387750" y="743123"/>
                  <a:ext cx="2785756" cy="1798371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41917811-9E4D-ADC3-D992-327F9FB4B1A9}"/>
                    </a:ext>
                  </a:extLst>
                </p:cNvPr>
                <p:cNvSpPr txBox="1"/>
                <p:nvPr/>
              </p:nvSpPr>
              <p:spPr>
                <a:xfrm>
                  <a:off x="387750" y="1035712"/>
                  <a:ext cx="2613772" cy="12003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数据源层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GitHub Archive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、</a:t>
                  </a:r>
                  <a:r>
                    <a:rPr lang="en-US" altLang="zh-CN" b="0" i="0" dirty="0" err="1">
                      <a:solidFill>
                        <a:srgbClr val="F9FAFB"/>
                      </a:solidFill>
                      <a:effectLst/>
                      <a:latin typeface="quote-cjk-patch"/>
                    </a:rPr>
                    <a:t>OpenDigger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等开放数据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（可扩展）</a:t>
                  </a:r>
                  <a:endParaRPr lang="zh-CN" altLang="en-US" dirty="0"/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A6659F63-A409-951D-9C49-434318400BFB}"/>
                  </a:ext>
                </a:extLst>
              </p:cNvPr>
              <p:cNvGrpSpPr/>
              <p:nvPr/>
            </p:nvGrpSpPr>
            <p:grpSpPr>
              <a:xfrm>
                <a:off x="1826367" y="3090466"/>
                <a:ext cx="2886610" cy="1846022"/>
                <a:chOff x="7746346" y="998286"/>
                <a:chExt cx="2886610" cy="1846022"/>
              </a:xfrm>
            </p:grpSpPr>
            <p:sp>
              <p:nvSpPr>
                <p:cNvPr id="25" name="Rectangle 1">
                  <a:extLst>
                    <a:ext uri="{FF2B5EF4-FFF2-40B4-BE49-F238E27FC236}">
                      <a16:creationId xmlns:a16="http://schemas.microsoft.com/office/drawing/2014/main" id="{30999602-2FCA-FA24-08A5-DB3469551A1B}"/>
                    </a:ext>
                  </a:extLst>
                </p:cNvPr>
                <p:cNvSpPr/>
                <p:nvPr/>
              </p:nvSpPr>
              <p:spPr>
                <a:xfrm>
                  <a:off x="7746346" y="998286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C20AE817-2F17-1A99-F900-7B32FF6B90E6}"/>
                    </a:ext>
                  </a:extLst>
                </p:cNvPr>
                <p:cNvSpPr txBox="1"/>
                <p:nvPr/>
              </p:nvSpPr>
              <p:spPr>
                <a:xfrm>
                  <a:off x="7746346" y="1459632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分析计算层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社区发现、关键节点识别时序指标计算</a:t>
                  </a:r>
                  <a:endParaRPr lang="zh-CN" altLang="en-US" dirty="0"/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95AEB9E-0C7C-9435-C7D7-657C090BAA8A}"/>
                  </a:ext>
                </a:extLst>
              </p:cNvPr>
              <p:cNvGrpSpPr/>
              <p:nvPr/>
            </p:nvGrpSpPr>
            <p:grpSpPr>
              <a:xfrm>
                <a:off x="4723635" y="3970576"/>
                <a:ext cx="2898986" cy="1846022"/>
                <a:chOff x="4991126" y="4289613"/>
                <a:chExt cx="2898986" cy="1846022"/>
              </a:xfrm>
            </p:grpSpPr>
            <p:sp>
              <p:nvSpPr>
                <p:cNvPr id="28" name="Rectangle 1">
                  <a:extLst>
                    <a:ext uri="{FF2B5EF4-FFF2-40B4-BE49-F238E27FC236}">
                      <a16:creationId xmlns:a16="http://schemas.microsoft.com/office/drawing/2014/main" id="{224ED1E3-7226-0990-BF64-3C2BB69BB48D}"/>
                    </a:ext>
                  </a:extLst>
                </p:cNvPr>
                <p:cNvSpPr/>
                <p:nvPr/>
              </p:nvSpPr>
              <p:spPr>
                <a:xfrm>
                  <a:off x="4991126" y="4289613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15F23E08-EB56-1AC2-9266-BDF2D81F46FA}"/>
                    </a:ext>
                  </a:extLst>
                </p:cNvPr>
                <p:cNvSpPr txBox="1"/>
                <p:nvPr/>
              </p:nvSpPr>
              <p:spPr>
                <a:xfrm>
                  <a:off x="5041017" y="4738628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可视化与应用层</a:t>
                  </a:r>
                  <a:endParaRPr lang="en-US" altLang="zh-CN" b="1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DataEase</a:t>
                  </a:r>
                  <a:r>
                    <a:rPr lang="zh-CN" altLang="en-US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交互式仪表板</a:t>
                  </a:r>
                  <a:endParaRPr lang="en-US" altLang="zh-CN" b="0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chemeClr val="bg1"/>
                      </a:solidFill>
                    </a:rPr>
                    <a:t>提供三大叙事视图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4A044B48-AB95-E6AD-6C8B-3DF66740002D}"/>
                  </a:ext>
                </a:extLst>
              </p:cNvPr>
              <p:cNvGrpSpPr/>
              <p:nvPr/>
            </p:nvGrpSpPr>
            <p:grpSpPr>
              <a:xfrm>
                <a:off x="5786170" y="2111694"/>
                <a:ext cx="2935087" cy="1858883"/>
                <a:chOff x="6765122" y="924658"/>
                <a:chExt cx="2935087" cy="1858883"/>
              </a:xfrm>
            </p:grpSpPr>
            <p:sp>
              <p:nvSpPr>
                <p:cNvPr id="23" name="Rectangle 1">
                  <a:extLst>
                    <a:ext uri="{FF2B5EF4-FFF2-40B4-BE49-F238E27FC236}">
                      <a16:creationId xmlns:a16="http://schemas.microsoft.com/office/drawing/2014/main" id="{A2073E0B-21F2-D08F-7180-F16A524A0202}"/>
                    </a:ext>
                  </a:extLst>
                </p:cNvPr>
                <p:cNvSpPr/>
                <p:nvPr/>
              </p:nvSpPr>
              <p:spPr>
                <a:xfrm>
                  <a:off x="6765122" y="924658"/>
                  <a:ext cx="2935087" cy="1858883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A7C8206B-BB33-6D13-CADF-1EA5D29E342D}"/>
                    </a:ext>
                  </a:extLst>
                </p:cNvPr>
                <p:cNvSpPr txBox="1"/>
                <p:nvPr/>
              </p:nvSpPr>
              <p:spPr>
                <a:xfrm>
                  <a:off x="6808117" y="1392434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数据处理层</a:t>
                  </a:r>
                  <a:endParaRPr lang="en-US" altLang="zh-CN" b="1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智能图引擎适配器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统一处理时序数据</a:t>
                  </a:r>
                  <a:endParaRPr lang="zh-CN" altLang="en-US" dirty="0"/>
                </a:p>
              </p:txBody>
            </p:sp>
          </p:grpSp>
        </p:grp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D891D5D-6052-8E54-5613-B5C64FB767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9083" y="3273735"/>
              <a:ext cx="741590" cy="741588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D0E1EB"/>
            </a:solidFill>
            <a:ln w="9525">
              <a:noFill/>
              <a:round/>
            </a:ln>
          </p:spPr>
          <p:txBody>
            <a:bodyPr vert="horz" wrap="square" lIns="128580" tIns="64290" rIns="128580" bIns="64290" numCol="1" anchor="t" anchorCtr="0" compatLnSpc="1"/>
            <a:lstStyle/>
            <a:p>
              <a:pPr marL="0" marR="0" lvl="0" indent="0" defTabSz="91440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9DEE5-8D95-4235-5697-89D04C5D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A6FACFF-48B7-0C6A-6624-5AE91FB2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18D14F0-F29E-CB4E-CBF9-1DBBB6CA0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9975172B-E9A1-3BDB-A2F3-42F713B4EB7D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8B4CA6-9E78-33E5-2C85-FD1ACEB8A0A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03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7B096F-F40F-6374-E1E5-DFD0EB9DD8D4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技术实现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047984F-1C0D-C3CC-F4CC-F14792E1AB58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43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:p15="http://schemas.microsoft.com/office/powerpoint/2012/main" xmlns="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4167-B490-2774-E0EC-C081B1E9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A24190A-5763-3F73-EF5E-9CBD12685E02}"/>
              </a:ext>
            </a:extLst>
          </p:cNvPr>
          <p:cNvSpPr txBox="1"/>
          <p:nvPr/>
        </p:nvSpPr>
        <p:spPr>
          <a:xfrm>
            <a:off x="3951823" y="299233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数据源层：灵活可扩展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99421A90-525C-EB04-DF20-8CF62CC42482}"/>
              </a:ext>
            </a:extLst>
          </p:cNvPr>
          <p:cNvSpPr/>
          <p:nvPr/>
        </p:nvSpPr>
        <p:spPr>
          <a:xfrm>
            <a:off x="312766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策略一：模拟数据验证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快速原型开发与验证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基于统计模型的程序化生成器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0334376-8D37-C20A-E9FA-28D3E933C18B}"/>
              </a:ext>
            </a:extLst>
          </p:cNvPr>
          <p:cNvSpPr txBox="1"/>
          <p:nvPr/>
        </p:nvSpPr>
        <p:spPr>
          <a:xfrm>
            <a:off x="383609" y="1640984"/>
            <a:ext cx="9580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①</a:t>
            </a:r>
            <a:r>
              <a:rPr lang="zh-CN" altLang="en-US" b="1" i="0" dirty="0">
                <a:solidFill>
                  <a:schemeClr val="bg1"/>
                </a:solidFill>
                <a:effectLst/>
                <a:latin typeface="quote-cjk-patch"/>
              </a:rPr>
              <a:t>基于配置的生成</a:t>
            </a:r>
            <a:r>
              <a:rPr lang="zh-CN" altLang="en-US" b="0" i="0" dirty="0">
                <a:solidFill>
                  <a:schemeClr val="bg1"/>
                </a:solidFill>
                <a:effectLst/>
                <a:latin typeface="quote-cjk-patch"/>
              </a:rPr>
              <a:t>：开发者数量、时间范围、活跃度分布等参数可调</a:t>
            </a:r>
          </a:p>
          <a:p>
            <a:r>
              <a:rPr lang="zh-CN" altLang="en-US" b="1" dirty="0">
                <a:solidFill>
                  <a:schemeClr val="bg1"/>
                </a:solidFill>
              </a:rPr>
              <a:t>②属性生成</a:t>
            </a:r>
            <a:r>
              <a:rPr lang="zh-CN" altLang="en-US" dirty="0">
                <a:solidFill>
                  <a:schemeClr val="bg1"/>
                </a:solidFill>
              </a:rPr>
              <a:t>：技术栈服从预设分布，模拟真实社区技术生态</a:t>
            </a:r>
            <a:br>
              <a:rPr lang="zh-CN" altLang="en-US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③</a:t>
            </a:r>
            <a:r>
              <a:rPr lang="zh-CN" altLang="en-US" b="1" dirty="0">
                <a:solidFill>
                  <a:schemeClr val="bg1"/>
                </a:solidFill>
              </a:rPr>
              <a:t>关系生成</a:t>
            </a:r>
            <a:r>
              <a:rPr lang="zh-CN" altLang="en-US" dirty="0">
                <a:solidFill>
                  <a:schemeClr val="bg1"/>
                </a:solidFill>
              </a:rPr>
              <a:t>：活跃度预测协作可能、赋予熟悉伙伴更高的选择权重，模拟网络动态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D807AE5-30ED-E3E0-2C81-8476E6B94B11}"/>
              </a:ext>
            </a:extLst>
          </p:cNvPr>
          <p:cNvGrpSpPr/>
          <p:nvPr/>
        </p:nvGrpSpPr>
        <p:grpSpPr>
          <a:xfrm>
            <a:off x="1349301" y="2776283"/>
            <a:ext cx="11035559" cy="3594950"/>
            <a:chOff x="772832" y="2749779"/>
            <a:chExt cx="11035559" cy="359495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5B9A027-9031-9296-B6A1-6467B653D0DC}"/>
                </a:ext>
              </a:extLst>
            </p:cNvPr>
            <p:cNvGrpSpPr/>
            <p:nvPr/>
          </p:nvGrpSpPr>
          <p:grpSpPr>
            <a:xfrm>
              <a:off x="772832" y="2787710"/>
              <a:ext cx="3867875" cy="2175860"/>
              <a:chOff x="394840" y="4067139"/>
              <a:chExt cx="3867875" cy="2175860"/>
            </a:xfrm>
          </p:grpSpPr>
          <p:pic>
            <p:nvPicPr>
              <p:cNvPr id="12" name="图片 11" descr="表格&#10;&#10;AI 生成的内容可能不正确。">
                <a:extLst>
                  <a:ext uri="{FF2B5EF4-FFF2-40B4-BE49-F238E27FC236}">
                    <a16:creationId xmlns:a16="http://schemas.microsoft.com/office/drawing/2014/main" id="{71BE0A6B-8D17-356D-BF14-590E7B0CCE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4840" y="4439147"/>
                <a:ext cx="3867875" cy="1803852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CB0BC36-FE51-DB0B-C5BF-371ADAEEF988}"/>
                  </a:ext>
                </a:extLst>
              </p:cNvPr>
              <p:cNvSpPr/>
              <p:nvPr/>
            </p:nvSpPr>
            <p:spPr>
              <a:xfrm>
                <a:off x="432318" y="4067139"/>
                <a:ext cx="3754969" cy="324485"/>
              </a:xfrm>
              <a:prstGeom prst="rect">
                <a:avLst/>
              </a:prstGeom>
            </p:spPr>
            <p:txBody>
              <a:bodyPr vert="horz" wrap="square" lIns="182880" tIns="91440" rIns="182880" bIns="91440" rtlCol="0" anchor="ctr">
                <a:no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1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：开发者静态数据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4A947AE-7654-7908-1245-787063BE2802}"/>
                </a:ext>
              </a:extLst>
            </p:cNvPr>
            <p:cNvGrpSpPr/>
            <p:nvPr/>
          </p:nvGrpSpPr>
          <p:grpSpPr>
            <a:xfrm>
              <a:off x="5713513" y="2749779"/>
              <a:ext cx="6094878" cy="2213791"/>
              <a:chOff x="4358529" y="2729347"/>
              <a:chExt cx="6094878" cy="2213791"/>
            </a:xfrm>
          </p:grpSpPr>
          <p:pic>
            <p:nvPicPr>
              <p:cNvPr id="22" name="图片 21" descr="电脑萤幕画面&#10;&#10;AI 生成的内容可能不正确。">
                <a:extLst>
                  <a:ext uri="{FF2B5EF4-FFF2-40B4-BE49-F238E27FC236}">
                    <a16:creationId xmlns:a16="http://schemas.microsoft.com/office/drawing/2014/main" id="{A806C246-1AEF-3748-5B36-AB890F929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2877" y="3098679"/>
                <a:ext cx="4213383" cy="1844459"/>
              </a:xfrm>
              <a:prstGeom prst="rect">
                <a:avLst/>
              </a:prstGeom>
            </p:spPr>
          </p:pic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D21B154-865C-BC69-3AA8-005BDFF79AAC}"/>
                  </a:ext>
                </a:extLst>
              </p:cNvPr>
              <p:cNvSpPr txBox="1"/>
              <p:nvPr/>
            </p:nvSpPr>
            <p:spPr>
              <a:xfrm>
                <a:off x="4358529" y="2729347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2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：协作关系时序数据（时间戳）</a:t>
                </a:r>
              </a:p>
            </p:txBody>
          </p:sp>
        </p:grp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D179FA60-A028-E050-E162-BA9897DE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10815" y="5754097"/>
              <a:ext cx="6344535" cy="590632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3AA8682-92DA-1826-DF99-EF57C809C8F0}"/>
                </a:ext>
              </a:extLst>
            </p:cNvPr>
            <p:cNvSpPr txBox="1"/>
            <p:nvPr/>
          </p:nvSpPr>
          <p:spPr>
            <a:xfrm>
              <a:off x="1676994" y="5217016"/>
              <a:ext cx="88380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协作强度的算法说明：相同语言项目的协作强度更高、引入随机波动变量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88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0452-CABD-10C7-F0A6-E015751C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BADCEF71-E738-F608-AD15-FD471A508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05846"/>
            <a:ext cx="3554361" cy="12192000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B29A61F3-9577-5623-2454-3E7D9301C5A2}"/>
              </a:ext>
            </a:extLst>
          </p:cNvPr>
          <p:cNvGrpSpPr/>
          <p:nvPr/>
        </p:nvGrpSpPr>
        <p:grpSpPr>
          <a:xfrm>
            <a:off x="639560" y="429556"/>
            <a:ext cx="5266990" cy="2016984"/>
            <a:chOff x="148428" y="427752"/>
            <a:chExt cx="5266990" cy="2016984"/>
          </a:xfrm>
        </p:grpSpPr>
        <p:sp>
          <p:nvSpPr>
            <p:cNvPr id="2" name="Rectangle 17">
              <a:extLst>
                <a:ext uri="{FF2B5EF4-FFF2-40B4-BE49-F238E27FC236}">
                  <a16:creationId xmlns:a16="http://schemas.microsoft.com/office/drawing/2014/main" id="{5068B063-FF5C-BA8D-2D7D-7DECF7A1912D}"/>
                </a:ext>
              </a:extLst>
            </p:cNvPr>
            <p:cNvSpPr/>
            <p:nvPr/>
          </p:nvSpPr>
          <p:spPr>
            <a:xfrm>
              <a:off x="904439" y="427752"/>
              <a:ext cx="3754969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3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：月度聚合数据</a:t>
              </a:r>
            </a:p>
          </p:txBody>
        </p:sp>
        <p:pic>
          <p:nvPicPr>
            <p:cNvPr id="5" name="图片 4" descr="表格&#10;&#10;AI 生成的内容可能不正确。">
              <a:extLst>
                <a:ext uri="{FF2B5EF4-FFF2-40B4-BE49-F238E27FC236}">
                  <a16:creationId xmlns:a16="http://schemas.microsoft.com/office/drawing/2014/main" id="{EA57CB34-552E-24EC-8AE9-FB2E6AB83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428" y="894229"/>
              <a:ext cx="5266990" cy="1550507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4508E87-C9D7-9123-6F6A-90771DBDE88D}"/>
              </a:ext>
            </a:extLst>
          </p:cNvPr>
          <p:cNvSpPr txBox="1"/>
          <p:nvPr/>
        </p:nvSpPr>
        <p:spPr>
          <a:xfrm>
            <a:off x="148428" y="2654922"/>
            <a:ext cx="6155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活跃开发者：至少参与一次协作的开发者数，检测社区活力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独一协作对：不同的开发者配对总数，衡量协作网络广度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6C68798-CD35-1DBA-CC57-F1E093CB9961}"/>
              </a:ext>
            </a:extLst>
          </p:cNvPr>
          <p:cNvGrpSpPr/>
          <p:nvPr/>
        </p:nvGrpSpPr>
        <p:grpSpPr>
          <a:xfrm>
            <a:off x="6845798" y="417965"/>
            <a:ext cx="4590926" cy="2235653"/>
            <a:chOff x="7020610" y="425198"/>
            <a:chExt cx="4590926" cy="2235653"/>
          </a:xfrm>
        </p:grpSpPr>
        <p:sp>
          <p:nvSpPr>
            <p:cNvPr id="8" name="Rectangle 17">
              <a:extLst>
                <a:ext uri="{FF2B5EF4-FFF2-40B4-BE49-F238E27FC236}">
                  <a16:creationId xmlns:a16="http://schemas.microsoft.com/office/drawing/2014/main" id="{3184BDE3-7AD9-BF46-59C6-E589E83C87B7}"/>
                </a:ext>
              </a:extLst>
            </p:cNvPr>
            <p:cNvSpPr/>
            <p:nvPr/>
          </p:nvSpPr>
          <p:spPr>
            <a:xfrm>
              <a:off x="7020610" y="425198"/>
              <a:ext cx="4590926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4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：最近一个月的网络快照</a:t>
              </a:r>
            </a:p>
          </p:txBody>
        </p:sp>
        <p:pic>
          <p:nvPicPr>
            <p:cNvPr id="10" name="图片 9" descr="日历&#10;&#10;AI 生成的内容可能不正确。">
              <a:extLst>
                <a:ext uri="{FF2B5EF4-FFF2-40B4-BE49-F238E27FC236}">
                  <a16:creationId xmlns:a16="http://schemas.microsoft.com/office/drawing/2014/main" id="{5E506F96-4489-8299-6BB3-44E05CF3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2466" y="896033"/>
              <a:ext cx="1567213" cy="1764818"/>
            </a:xfrm>
            <a:prstGeom prst="rect">
              <a:avLst/>
            </a:prstGeom>
          </p:spPr>
        </p:pic>
      </p:grpSp>
      <p:sp>
        <p:nvSpPr>
          <p:cNvPr id="11" name="Rectangle 17">
            <a:extLst>
              <a:ext uri="{FF2B5EF4-FFF2-40B4-BE49-F238E27FC236}">
                <a16:creationId xmlns:a16="http://schemas.microsoft.com/office/drawing/2014/main" id="{BDA1A3D7-29FE-E402-F070-510CC681DDD0}"/>
              </a:ext>
            </a:extLst>
          </p:cNvPr>
          <p:cNvSpPr/>
          <p:nvPr/>
        </p:nvSpPr>
        <p:spPr>
          <a:xfrm>
            <a:off x="148428" y="408878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策略二：开放数据接入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真实场景分析与洞察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标准化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客户端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+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增量爬取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5CA6425-EB22-2141-6793-399F771546BA}"/>
              </a:ext>
            </a:extLst>
          </p:cNvPr>
          <p:cNvSpPr txBox="1"/>
          <p:nvPr/>
        </p:nvSpPr>
        <p:spPr>
          <a:xfrm>
            <a:off x="215665" y="4720822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对爬取后的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csv</a:t>
            </a: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文件进行数据清洗和指标计算，详见下一页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PPT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00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589-7B79-441B-CE6D-BCFB99A0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B6DBD04-2667-4031-15A4-AF68CC90B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9285521" y="-1708606"/>
            <a:ext cx="2892916" cy="992314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2624AE-BEE4-2E16-3E37-A817879F70CD}"/>
              </a:ext>
            </a:extLst>
          </p:cNvPr>
          <p:cNvSpPr txBox="1"/>
          <p:nvPr/>
        </p:nvSpPr>
        <p:spPr>
          <a:xfrm>
            <a:off x="4889799" y="35302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数据处理层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EFA32985-6D4C-7284-97FB-C15F26BFF977}"/>
              </a:ext>
            </a:extLst>
          </p:cNvPr>
          <p:cNvSpPr/>
          <p:nvPr/>
        </p:nvSpPr>
        <p:spPr>
          <a:xfrm>
            <a:off x="420342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技术一：智能引擎适配系统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环境检测与决策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EasyGraph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或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NetworkX</a:t>
            </a:r>
            <a:endParaRPr lang="zh-CN" alt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26EFA-7728-A06A-648D-5F20B636CDC3}"/>
              </a:ext>
            </a:extLst>
          </p:cNvPr>
          <p:cNvSpPr txBox="1"/>
          <p:nvPr/>
        </p:nvSpPr>
        <p:spPr>
          <a:xfrm>
            <a:off x="518079" y="1729565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解决环境不稳定性带来的问题，为上层业务逻辑提供稳定、一致的调用接口</a:t>
            </a:r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F8197EDB-7ADC-3958-BAA5-FDA6C797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14" y="2243301"/>
            <a:ext cx="3365051" cy="4123882"/>
          </a:xfrm>
          <a:prstGeom prst="rect">
            <a:avLst/>
          </a:prstGeom>
        </p:spPr>
      </p:pic>
      <p:pic>
        <p:nvPicPr>
          <p:cNvPr id="9" name="图片 8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335901A-A2BF-F26D-41D5-E2CFDC9C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8410" y="4768412"/>
            <a:ext cx="5125165" cy="1009791"/>
          </a:xfrm>
          <a:prstGeom prst="rect">
            <a:avLst/>
          </a:prstGeom>
        </p:spPr>
      </p:pic>
      <p:pic>
        <p:nvPicPr>
          <p:cNvPr id="11" name="图片 10" descr="文本&#10;&#10;AI 生成的内容可能不正确。">
            <a:extLst>
              <a:ext uri="{FF2B5EF4-FFF2-40B4-BE49-F238E27FC236}">
                <a16:creationId xmlns:a16="http://schemas.microsoft.com/office/drawing/2014/main" id="{D8612F6D-38B1-7D04-0E1D-6ADDB6476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410" y="2971940"/>
            <a:ext cx="2086266" cy="562053"/>
          </a:xfrm>
          <a:prstGeom prst="rect">
            <a:avLst/>
          </a:prstGeom>
        </p:spPr>
      </p:pic>
      <p:sp>
        <p:nvSpPr>
          <p:cNvPr id="31" name="Freeform 2591">
            <a:extLst>
              <a:ext uri="{FF2B5EF4-FFF2-40B4-BE49-F238E27FC236}">
                <a16:creationId xmlns:a16="http://schemas.microsoft.com/office/drawing/2014/main" id="{35612525-7C20-903E-700F-98405A41E3DB}"/>
              </a:ext>
            </a:extLst>
          </p:cNvPr>
          <p:cNvSpPr/>
          <p:nvPr/>
        </p:nvSpPr>
        <p:spPr bwMode="auto">
          <a:xfrm rot="1287611">
            <a:off x="4143974" y="3234959"/>
            <a:ext cx="852260" cy="1100259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33" name="Freeform 2591">
            <a:extLst>
              <a:ext uri="{FF2B5EF4-FFF2-40B4-BE49-F238E27FC236}">
                <a16:creationId xmlns:a16="http://schemas.microsoft.com/office/drawing/2014/main" id="{A2239428-C3DB-ED42-177D-F26E9B717437}"/>
              </a:ext>
            </a:extLst>
          </p:cNvPr>
          <p:cNvSpPr/>
          <p:nvPr/>
        </p:nvSpPr>
        <p:spPr bwMode="auto">
          <a:xfrm rot="5400000" flipH="1">
            <a:off x="4223083" y="5235067"/>
            <a:ext cx="747309" cy="114244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099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8152C-E5BB-59F2-790A-BE3A7C79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E9D0814F-C7D2-BB38-65E2-9E31BF933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95162" y="-4906223"/>
            <a:ext cx="3660717" cy="1255681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D3E8B24-894D-1D4E-F172-2CE098DD9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7122607" y="-4944730"/>
            <a:ext cx="3660717" cy="12556819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6487EBE-5F1C-3C1D-7BF9-DB7DAD30227B}"/>
              </a:ext>
            </a:extLst>
          </p:cNvPr>
          <p:cNvSpPr/>
          <p:nvPr/>
        </p:nvSpPr>
        <p:spPr>
          <a:xfrm>
            <a:off x="482145" y="72096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技术二：统一时序数据处理管道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时间戳记录到时序图序列</a:t>
            </a: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57340778-04DF-8F6A-B28F-03A7902F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4" y="1557942"/>
            <a:ext cx="4420599" cy="4773633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5383FE-FD05-FF91-4928-304C47E16F10}"/>
              </a:ext>
            </a:extLst>
          </p:cNvPr>
          <p:cNvGrpSpPr/>
          <p:nvPr/>
        </p:nvGrpSpPr>
        <p:grpSpPr>
          <a:xfrm>
            <a:off x="6067345" y="1690751"/>
            <a:ext cx="2885620" cy="3874788"/>
            <a:chOff x="7087107" y="1915333"/>
            <a:chExt cx="2885620" cy="387478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099050F-E035-CC2F-894A-B927CCA30412}"/>
                </a:ext>
              </a:extLst>
            </p:cNvPr>
            <p:cNvSpPr txBox="1"/>
            <p:nvPr/>
          </p:nvSpPr>
          <p:spPr>
            <a:xfrm>
              <a:off x="7813251" y="1915333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原始数据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2E73246-CA35-CA1D-7417-F2817238396C}"/>
                </a:ext>
              </a:extLst>
            </p:cNvPr>
            <p:cNvSpPr txBox="1"/>
            <p:nvPr/>
          </p:nvSpPr>
          <p:spPr>
            <a:xfrm>
              <a:off x="7813250" y="2581716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按月分组</a:t>
              </a:r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E2DC505-6FC1-29FE-8D77-2E39523EB85B}"/>
                </a:ext>
              </a:extLst>
            </p:cNvPr>
            <p:cNvSpPr txBox="1"/>
            <p:nvPr/>
          </p:nvSpPr>
          <p:spPr>
            <a:xfrm>
              <a:off x="7580167" y="3342230"/>
              <a:ext cx="157503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并行图构建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15E8CDA-14EB-EF5B-26F7-5A7F3C046659}"/>
                </a:ext>
              </a:extLst>
            </p:cNvPr>
            <p:cNvSpPr txBox="1"/>
            <p:nvPr/>
          </p:nvSpPr>
          <p:spPr>
            <a:xfrm>
              <a:off x="7087107" y="4048318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时序图对象列表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442045D-F3C6-B9DB-8C7C-F7947F272ABA}"/>
                </a:ext>
              </a:extLst>
            </p:cNvPr>
            <p:cNvSpPr txBox="1"/>
            <p:nvPr/>
          </p:nvSpPr>
          <p:spPr>
            <a:xfrm>
              <a:off x="7087107" y="4714701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并行图指标计算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F4B156E-0B89-4226-26FF-FEDCC91E94E6}"/>
                </a:ext>
              </a:extLst>
            </p:cNvPr>
            <p:cNvSpPr txBox="1"/>
            <p:nvPr/>
          </p:nvSpPr>
          <p:spPr>
            <a:xfrm>
              <a:off x="7156077" y="5420789"/>
              <a:ext cx="28166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结构化时序指标数据源</a:t>
              </a:r>
              <a:endParaRPr lang="zh-CN" altLang="en-US" sz="28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8330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3160-0983-7400-D459-20649BB2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CCD50324-E4E0-732F-A0B4-57DC7390A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720490" y="-888409"/>
            <a:ext cx="3554361" cy="12192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0E3C0B2-C745-998B-98BA-26C60EB6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393227" y="-731809"/>
            <a:ext cx="3554361" cy="12192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EC0F5D9-E255-D108-5641-F83476DF8F46}"/>
              </a:ext>
            </a:extLst>
          </p:cNvPr>
          <p:cNvSpPr txBox="1"/>
          <p:nvPr/>
        </p:nvSpPr>
        <p:spPr>
          <a:xfrm>
            <a:off x="4856181" y="1836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分析计算层</a:t>
            </a:r>
          </a:p>
        </p:txBody>
      </p:sp>
      <p:sp>
        <p:nvSpPr>
          <p:cNvPr id="3" name="Rectangle 17">
            <a:extLst>
              <a:ext uri="{FF2B5EF4-FFF2-40B4-BE49-F238E27FC236}">
                <a16:creationId xmlns:a16="http://schemas.microsoft.com/office/drawing/2014/main" id="{4F5E8208-29B5-3D49-01A2-E2F193B1B6F5}"/>
              </a:ext>
            </a:extLst>
          </p:cNvPr>
          <p:cNvSpPr/>
          <p:nvPr/>
        </p:nvSpPr>
        <p:spPr>
          <a:xfrm>
            <a:off x="730915" y="894501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技术一：社区发现、结构洞察</a:t>
            </a:r>
            <a:r>
              <a:rPr lang="en-US" altLang="zh-CN" sz="2400" b="1" dirty="0">
                <a:solidFill>
                  <a:schemeClr val="bg1"/>
                </a:solidFill>
              </a:rPr>
              <a:t>——Louvain</a:t>
            </a:r>
            <a:r>
              <a:rPr lang="zh-CN" altLang="en-US" sz="2400" b="1" dirty="0">
                <a:solidFill>
                  <a:schemeClr val="bg1"/>
                </a:solidFill>
              </a:rPr>
              <a:t>算法的运用</a:t>
            </a:r>
          </a:p>
        </p:txBody>
      </p:sp>
      <p:pic>
        <p:nvPicPr>
          <p:cNvPr id="5" name="图片 4" descr="文本, 信件">
            <a:extLst>
              <a:ext uri="{FF2B5EF4-FFF2-40B4-BE49-F238E27FC236}">
                <a16:creationId xmlns:a16="http://schemas.microsoft.com/office/drawing/2014/main" id="{DAD4806B-EEA1-AB9D-7505-4A30FCF3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406" y="1432874"/>
            <a:ext cx="4363059" cy="1619476"/>
          </a:xfrm>
          <a:prstGeom prst="rect">
            <a:avLst/>
          </a:prstGeom>
        </p:spPr>
      </p:pic>
      <p:pic>
        <p:nvPicPr>
          <p:cNvPr id="7" name="图片 6" descr="图片包含 日历&#10;&#10;AI 生成的内容可能不正确。">
            <a:extLst>
              <a:ext uri="{FF2B5EF4-FFF2-40B4-BE49-F238E27FC236}">
                <a16:creationId xmlns:a16="http://schemas.microsoft.com/office/drawing/2014/main" id="{C2DB6502-145B-3275-6BA8-87EFE75C5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406" y="3274381"/>
            <a:ext cx="4560017" cy="314208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9FE5923-1E9E-F02D-F77F-8CCA26638AFC}"/>
              </a:ext>
            </a:extLst>
          </p:cNvPr>
          <p:cNvSpPr txBox="1"/>
          <p:nvPr/>
        </p:nvSpPr>
        <p:spPr>
          <a:xfrm>
            <a:off x="2568" y="3077085"/>
            <a:ext cx="4302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对每月的网络单独运行</a:t>
            </a:r>
            <a:r>
              <a:rPr lang="en-US" altLang="zh-CN" dirty="0">
                <a:solidFill>
                  <a:schemeClr val="bg1"/>
                </a:solidFill>
              </a:rPr>
              <a:t>Louvain</a:t>
            </a:r>
            <a:r>
              <a:rPr lang="zh-CN" altLang="en-US" dirty="0">
                <a:solidFill>
                  <a:schemeClr val="bg1"/>
                </a:solidFill>
              </a:rPr>
              <a:t>算法，</a:t>
            </a:r>
            <a:endParaRPr lang="en-US" altLang="zh-CN" dirty="0">
              <a:solidFill>
                <a:schemeClr val="bg1"/>
              </a:solidFill>
            </a:endParaRPr>
          </a:p>
          <a:p>
            <a:pPr algn="ctr"/>
            <a:r>
              <a:rPr lang="zh-CN" altLang="en-US" dirty="0">
                <a:solidFill>
                  <a:schemeClr val="bg1"/>
                </a:solidFill>
              </a:rPr>
              <a:t>得到随时间演化的社区结构序列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5697C-7C1D-7093-85AD-D126AFA5B351}"/>
              </a:ext>
            </a:extLst>
          </p:cNvPr>
          <p:cNvSpPr txBox="1"/>
          <p:nvPr/>
        </p:nvSpPr>
        <p:spPr>
          <a:xfrm>
            <a:off x="2563934" y="1892362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社区结构时序演化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475BE4-0ACD-A3C8-8B2D-1E5301D97157}"/>
              </a:ext>
            </a:extLst>
          </p:cNvPr>
          <p:cNvSpPr txBox="1"/>
          <p:nvPr/>
        </p:nvSpPr>
        <p:spPr>
          <a:xfrm>
            <a:off x="2489975" y="4702590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人员流动桑基图数据基础</a:t>
            </a:r>
          </a:p>
        </p:txBody>
      </p:sp>
      <p:sp>
        <p:nvSpPr>
          <p:cNvPr id="22" name="Freeform 2591">
            <a:extLst>
              <a:ext uri="{FF2B5EF4-FFF2-40B4-BE49-F238E27FC236}">
                <a16:creationId xmlns:a16="http://schemas.microsoft.com/office/drawing/2014/main" id="{222A516D-2F79-AAD3-5B3D-1EE1EF64093C}"/>
              </a:ext>
            </a:extLst>
          </p:cNvPr>
          <p:cNvSpPr/>
          <p:nvPr/>
        </p:nvSpPr>
        <p:spPr bwMode="auto">
          <a:xfrm rot="3235373">
            <a:off x="4344172" y="2000399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Freeform 2591">
            <a:extLst>
              <a:ext uri="{FF2B5EF4-FFF2-40B4-BE49-F238E27FC236}">
                <a16:creationId xmlns:a16="http://schemas.microsoft.com/office/drawing/2014/main" id="{D0B63CF8-7AA7-0A51-E4C8-D7353EB9367F}"/>
              </a:ext>
            </a:extLst>
          </p:cNvPr>
          <p:cNvSpPr/>
          <p:nvPr/>
        </p:nvSpPr>
        <p:spPr bwMode="auto">
          <a:xfrm rot="8319434" flipH="1">
            <a:off x="4189263" y="3308131"/>
            <a:ext cx="1199620" cy="1463604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150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A6A49-6B23-744F-D46C-6B39B480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6257DFF-A9DF-8E50-16FE-80BE8122F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746419">
            <a:off x="8844562" y="-20461"/>
            <a:ext cx="3469968" cy="1190252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EC55D2C-CC49-7A47-43CA-C2A024C7D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835760">
            <a:off x="-2102071" y="835154"/>
            <a:ext cx="2892916" cy="992314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6A984E6-7DB5-3CB4-29E5-EED9473A0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7892325">
            <a:off x="894283" y="287398"/>
            <a:ext cx="2892916" cy="9923144"/>
          </a:xfrm>
          <a:prstGeom prst="rect">
            <a:avLst/>
          </a:prstGeom>
        </p:spPr>
      </p:pic>
      <p:sp>
        <p:nvSpPr>
          <p:cNvPr id="2" name="Rectangle 17">
            <a:extLst>
              <a:ext uri="{FF2B5EF4-FFF2-40B4-BE49-F238E27FC236}">
                <a16:creationId xmlns:a16="http://schemas.microsoft.com/office/drawing/2014/main" id="{CEE4D691-A1E6-FF91-D309-A5646E72E94F}"/>
              </a:ext>
            </a:extLst>
          </p:cNvPr>
          <p:cNvSpPr/>
          <p:nvPr/>
        </p:nvSpPr>
        <p:spPr>
          <a:xfrm>
            <a:off x="607065" y="46987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技术二：关键节点识别、影响力衡量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/>
                </a:solidFill>
              </a:rPr>
              <a:t>PangRank</a:t>
            </a:r>
            <a:r>
              <a:rPr lang="zh-CN" altLang="en-US" sz="2400" b="1" dirty="0">
                <a:solidFill>
                  <a:schemeClr val="bg1"/>
                </a:solidFill>
              </a:rPr>
              <a:t>算法和度中心性</a:t>
            </a:r>
          </a:p>
        </p:txBody>
      </p:sp>
      <p:pic>
        <p:nvPicPr>
          <p:cNvPr id="4" name="图片 3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235D7BA-976C-9262-863A-1AF34CE9C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6" y="2452551"/>
            <a:ext cx="10450383" cy="195289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7FAFA1F-B051-2A8D-8D66-31AA3A30E583}"/>
              </a:ext>
            </a:extLst>
          </p:cNvPr>
          <p:cNvSpPr txBox="1"/>
          <p:nvPr/>
        </p:nvSpPr>
        <p:spPr>
          <a:xfrm>
            <a:off x="765606" y="1137465"/>
            <a:ext cx="62192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识别节点基于网络结构的全局影响力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度中心性衡量节点的直接活跃度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介数中心性衡量节点在不同群体中的关键作用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C72F7A-0465-3C5D-0162-FF4EA7F8D5A2}"/>
              </a:ext>
            </a:extLst>
          </p:cNvPr>
          <p:cNvSpPr txBox="1"/>
          <p:nvPr/>
        </p:nvSpPr>
        <p:spPr>
          <a:xfrm>
            <a:off x="4416637" y="4748557"/>
            <a:ext cx="6219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我们利用</a:t>
            </a:r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值排位开发者的贡献，同时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计算度中心性和介数中心性来综合为一位开发者的定位：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值高 → 技术大佬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度中心性高 → 和团队其他人的协作关系强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介数中心性高 → 跨模块协作能力强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484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92-8FFA-935B-8E24-6E8EB627E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>
            <a:extLst>
              <a:ext uri="{FF2B5EF4-FFF2-40B4-BE49-F238E27FC236}">
                <a16:creationId xmlns:a16="http://schemas.microsoft.com/office/drawing/2014/main" id="{C3BC916B-6050-5DDC-AC36-2573CF59E393}"/>
              </a:ext>
            </a:extLst>
          </p:cNvPr>
          <p:cNvSpPr/>
          <p:nvPr/>
        </p:nvSpPr>
        <p:spPr>
          <a:xfrm>
            <a:off x="328770" y="40076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技术三：时序指标计算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量化演化的核心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396C364-5A6B-6EC3-153B-25EBFC864B8E}"/>
              </a:ext>
            </a:extLst>
          </p:cNvPr>
          <p:cNvSpPr txBox="1"/>
          <p:nvPr/>
        </p:nvSpPr>
        <p:spPr>
          <a:xfrm>
            <a:off x="6183697" y="12878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网络级指标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：每月网络密度、平均聚类系数、连通分量数</a:t>
            </a: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4A99BA2-C36A-8F40-FFBF-025B3D3E4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3922"/>
            <a:ext cx="12192000" cy="972368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3F83AB99-0759-CFCE-DCA0-6F2283CCAE45}"/>
              </a:ext>
            </a:extLst>
          </p:cNvPr>
          <p:cNvSpPr txBox="1"/>
          <p:nvPr/>
        </p:nvSpPr>
        <p:spPr>
          <a:xfrm>
            <a:off x="3526735" y="3609417"/>
            <a:ext cx="6756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社区级指标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：每月社区数量、平均社区规模、社区规模标准差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282A6AD-01F0-8BBF-B45B-27F8D2DC8CE0}"/>
              </a:ext>
            </a:extLst>
          </p:cNvPr>
          <p:cNvSpPr txBox="1"/>
          <p:nvPr/>
        </p:nvSpPr>
        <p:spPr>
          <a:xfrm>
            <a:off x="3114163" y="4172635"/>
            <a:ext cx="705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活动级指标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：月度协作事件总数、活跃开发者数、平均协作权重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49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356D-566F-9CFB-F87D-3DD40FF6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5C359D15-94FA-F667-2AB3-03EDAEA5B608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584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643-039C-4956-1F42-2635CCDC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B105FDDD-B9E9-AD43-CF37-73449B746C7C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1215895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6" y="-1015181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499" y="-4270579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2781459" y="2182505"/>
            <a:ext cx="645427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7200" b="1" dirty="0">
                <a:solidFill>
                  <a:schemeClr val="bg1"/>
                </a:solidFill>
                <a:cs typeface="+mn-ea"/>
                <a:sym typeface="+mn-lt"/>
              </a:rPr>
              <a:t>Thank you</a:t>
            </a:r>
            <a:endParaRPr lang="zh-CN" altLang="en-US" sz="7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39797" y="3552791"/>
            <a:ext cx="16209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队伍名称：珀修斯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400" b="1" kern="0" dirty="0">
              <a:solidFill>
                <a:schemeClr val="bg1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队长：毛浩然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Freeform 26">
            <a:extLst>
              <a:ext uri="{FF2B5EF4-FFF2-40B4-BE49-F238E27FC236}">
                <a16:creationId xmlns:a16="http://schemas.microsoft.com/office/drawing/2014/main" id="{DBE413A3-5615-146A-C70D-58A589B41191}"/>
              </a:ext>
            </a:extLst>
          </p:cNvPr>
          <p:cNvSpPr>
            <a:spLocks noEditPoints="1"/>
          </p:cNvSpPr>
          <p:nvPr/>
        </p:nvSpPr>
        <p:spPr bwMode="auto">
          <a:xfrm>
            <a:off x="4630632" y="3645544"/>
            <a:ext cx="533504" cy="533504"/>
          </a:xfrm>
          <a:custGeom>
            <a:avLst/>
            <a:gdLst>
              <a:gd name="T0" fmla="*/ 96 w 660"/>
              <a:gd name="T1" fmla="*/ 96 h 660"/>
              <a:gd name="T2" fmla="*/ 96 w 660"/>
              <a:gd name="T3" fmla="*/ 563 h 660"/>
              <a:gd name="T4" fmla="*/ 563 w 660"/>
              <a:gd name="T5" fmla="*/ 563 h 660"/>
              <a:gd name="T6" fmla="*/ 563 w 660"/>
              <a:gd name="T7" fmla="*/ 96 h 660"/>
              <a:gd name="T8" fmla="*/ 578 w 660"/>
              <a:gd name="T9" fmla="*/ 180 h 660"/>
              <a:gd name="T10" fmla="*/ 465 w 660"/>
              <a:gd name="T11" fmla="*/ 120 h 660"/>
              <a:gd name="T12" fmla="*/ 380 w 660"/>
              <a:gd name="T13" fmla="*/ 44 h 660"/>
              <a:gd name="T14" fmla="*/ 578 w 660"/>
              <a:gd name="T15" fmla="*/ 180 h 660"/>
              <a:gd name="T16" fmla="*/ 482 w 660"/>
              <a:gd name="T17" fmla="*/ 474 h 660"/>
              <a:gd name="T18" fmla="*/ 619 w 660"/>
              <a:gd name="T19" fmla="*/ 340 h 660"/>
              <a:gd name="T20" fmla="*/ 341 w 660"/>
              <a:gd name="T21" fmla="*/ 619 h 660"/>
              <a:gd name="T22" fmla="*/ 340 w 660"/>
              <a:gd name="T23" fmla="*/ 548 h 660"/>
              <a:gd name="T24" fmla="*/ 440 w 660"/>
              <a:gd name="T25" fmla="*/ 506 h 660"/>
              <a:gd name="T26" fmla="*/ 220 w 660"/>
              <a:gd name="T27" fmla="*/ 506 h 660"/>
              <a:gd name="T28" fmla="*/ 320 w 660"/>
              <a:gd name="T29" fmla="*/ 548 h 660"/>
              <a:gd name="T30" fmla="*/ 319 w 660"/>
              <a:gd name="T31" fmla="*/ 619 h 660"/>
              <a:gd name="T32" fmla="*/ 65 w 660"/>
              <a:gd name="T33" fmla="*/ 213 h 660"/>
              <a:gd name="T34" fmla="*/ 151 w 660"/>
              <a:gd name="T35" fmla="*/ 281 h 660"/>
              <a:gd name="T36" fmla="*/ 40 w 660"/>
              <a:gd name="T37" fmla="*/ 320 h 660"/>
              <a:gd name="T38" fmla="*/ 319 w 660"/>
              <a:gd name="T39" fmla="*/ 40 h 660"/>
              <a:gd name="T40" fmla="*/ 320 w 660"/>
              <a:gd name="T41" fmla="*/ 147 h 660"/>
              <a:gd name="T42" fmla="*/ 319 w 660"/>
              <a:gd name="T43" fmla="*/ 40 h 660"/>
              <a:gd name="T44" fmla="*/ 419 w 660"/>
              <a:gd name="T45" fmla="*/ 151 h 660"/>
              <a:gd name="T46" fmla="*/ 340 w 660"/>
              <a:gd name="T47" fmla="*/ 40 h 660"/>
              <a:gd name="T48" fmla="*/ 429 w 660"/>
              <a:gd name="T49" fmla="*/ 135 h 660"/>
              <a:gd name="T50" fmla="*/ 416 w 660"/>
              <a:gd name="T51" fmla="*/ 177 h 660"/>
              <a:gd name="T52" fmla="*/ 471 w 660"/>
              <a:gd name="T53" fmla="*/ 219 h 660"/>
              <a:gd name="T54" fmla="*/ 340 w 660"/>
              <a:gd name="T55" fmla="*/ 320 h 660"/>
              <a:gd name="T56" fmla="*/ 488 w 660"/>
              <a:gd name="T57" fmla="*/ 169 h 660"/>
              <a:gd name="T58" fmla="*/ 442 w 660"/>
              <a:gd name="T59" fmla="*/ 169 h 660"/>
              <a:gd name="T60" fmla="*/ 488 w 660"/>
              <a:gd name="T61" fmla="*/ 169 h 660"/>
              <a:gd name="T62" fmla="*/ 320 w 660"/>
              <a:gd name="T63" fmla="*/ 320 h 660"/>
              <a:gd name="T64" fmla="*/ 173 w 660"/>
              <a:gd name="T65" fmla="*/ 282 h 660"/>
              <a:gd name="T66" fmla="*/ 320 w 660"/>
              <a:gd name="T67" fmla="*/ 173 h 660"/>
              <a:gd name="T68" fmla="*/ 159 w 660"/>
              <a:gd name="T69" fmla="*/ 352 h 660"/>
              <a:gd name="T70" fmla="*/ 159 w 660"/>
              <a:gd name="T71" fmla="*/ 307 h 660"/>
              <a:gd name="T72" fmla="*/ 40 w 660"/>
              <a:gd name="T73" fmla="*/ 340 h 660"/>
              <a:gd name="T74" fmla="*/ 151 w 660"/>
              <a:gd name="T75" fmla="*/ 379 h 660"/>
              <a:gd name="T76" fmla="*/ 65 w 660"/>
              <a:gd name="T77" fmla="*/ 447 h 660"/>
              <a:gd name="T78" fmla="*/ 173 w 660"/>
              <a:gd name="T79" fmla="*/ 377 h 660"/>
              <a:gd name="T80" fmla="*/ 320 w 660"/>
              <a:gd name="T81" fmla="*/ 340 h 660"/>
              <a:gd name="T82" fmla="*/ 282 w 660"/>
              <a:gd name="T83" fmla="*/ 486 h 660"/>
              <a:gd name="T84" fmla="*/ 173 w 660"/>
              <a:gd name="T85" fmla="*/ 377 h 660"/>
              <a:gd name="T86" fmla="*/ 330 w 660"/>
              <a:gd name="T87" fmla="*/ 523 h 660"/>
              <a:gd name="T88" fmla="*/ 330 w 660"/>
              <a:gd name="T89" fmla="*/ 477 h 660"/>
              <a:gd name="T90" fmla="*/ 377 w 660"/>
              <a:gd name="T91" fmla="*/ 486 h 660"/>
              <a:gd name="T92" fmla="*/ 340 w 660"/>
              <a:gd name="T93" fmla="*/ 340 h 660"/>
              <a:gd name="T94" fmla="*/ 455 w 660"/>
              <a:gd name="T95" fmla="*/ 478 h 660"/>
              <a:gd name="T96" fmla="*/ 512 w 660"/>
              <a:gd name="T97" fmla="*/ 320 h 660"/>
              <a:gd name="T98" fmla="*/ 510 w 660"/>
              <a:gd name="T99" fmla="*/ 191 h 660"/>
              <a:gd name="T100" fmla="*/ 619 w 660"/>
              <a:gd name="T101" fmla="*/ 320 h 660"/>
              <a:gd name="T102" fmla="*/ 125 w 660"/>
              <a:gd name="T103" fmla="*/ 125 h 660"/>
              <a:gd name="T104" fmla="*/ 195 w 660"/>
              <a:gd name="T105" fmla="*/ 151 h 660"/>
              <a:gd name="T106" fmla="*/ 81 w 660"/>
              <a:gd name="T107" fmla="*/ 180 h 660"/>
              <a:gd name="T108" fmla="*/ 81 w 660"/>
              <a:gd name="T109" fmla="*/ 479 h 660"/>
              <a:gd name="T110" fmla="*/ 195 w 660"/>
              <a:gd name="T111" fmla="*/ 508 h 660"/>
              <a:gd name="T112" fmla="*/ 125 w 660"/>
              <a:gd name="T113" fmla="*/ 535 h 660"/>
              <a:gd name="T114" fmla="*/ 535 w 660"/>
              <a:gd name="T115" fmla="*/ 535 h 660"/>
              <a:gd name="T116" fmla="*/ 465 w 660"/>
              <a:gd name="T117" fmla="*/ 508 h 660"/>
              <a:gd name="T118" fmla="*/ 578 w 660"/>
              <a:gd name="T119" fmla="*/ 479 h 6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660" h="660">
                <a:moveTo>
                  <a:pt x="330" y="0"/>
                </a:moveTo>
                <a:cubicBezTo>
                  <a:pt x="242" y="0"/>
                  <a:pt x="159" y="34"/>
                  <a:pt x="96" y="96"/>
                </a:cubicBezTo>
                <a:cubicBezTo>
                  <a:pt x="34" y="159"/>
                  <a:pt x="0" y="242"/>
                  <a:pt x="0" y="330"/>
                </a:cubicBezTo>
                <a:cubicBezTo>
                  <a:pt x="0" y="418"/>
                  <a:pt x="34" y="501"/>
                  <a:pt x="96" y="563"/>
                </a:cubicBezTo>
                <a:cubicBezTo>
                  <a:pt x="159" y="626"/>
                  <a:pt x="242" y="660"/>
                  <a:pt x="330" y="660"/>
                </a:cubicBezTo>
                <a:cubicBezTo>
                  <a:pt x="418" y="660"/>
                  <a:pt x="501" y="626"/>
                  <a:pt x="563" y="563"/>
                </a:cubicBezTo>
                <a:cubicBezTo>
                  <a:pt x="626" y="501"/>
                  <a:pt x="660" y="418"/>
                  <a:pt x="660" y="330"/>
                </a:cubicBezTo>
                <a:cubicBezTo>
                  <a:pt x="660" y="242"/>
                  <a:pt x="626" y="159"/>
                  <a:pt x="563" y="96"/>
                </a:cubicBezTo>
                <a:cubicBezTo>
                  <a:pt x="501" y="34"/>
                  <a:pt x="418" y="0"/>
                  <a:pt x="330" y="0"/>
                </a:cubicBezTo>
                <a:close/>
                <a:moveTo>
                  <a:pt x="578" y="180"/>
                </a:moveTo>
                <a:cubicBezTo>
                  <a:pt x="557" y="175"/>
                  <a:pt x="536" y="169"/>
                  <a:pt x="514" y="165"/>
                </a:cubicBezTo>
                <a:cubicBezTo>
                  <a:pt x="512" y="140"/>
                  <a:pt x="491" y="120"/>
                  <a:pt x="465" y="120"/>
                </a:cubicBezTo>
                <a:cubicBezTo>
                  <a:pt x="459" y="120"/>
                  <a:pt x="453" y="121"/>
                  <a:pt x="448" y="123"/>
                </a:cubicBezTo>
                <a:cubicBezTo>
                  <a:pt x="429" y="95"/>
                  <a:pt x="406" y="68"/>
                  <a:pt x="380" y="44"/>
                </a:cubicBezTo>
                <a:cubicBezTo>
                  <a:pt x="438" y="54"/>
                  <a:pt x="492" y="82"/>
                  <a:pt x="535" y="125"/>
                </a:cubicBezTo>
                <a:cubicBezTo>
                  <a:pt x="552" y="142"/>
                  <a:pt x="566" y="160"/>
                  <a:pt x="578" y="180"/>
                </a:cubicBezTo>
                <a:close/>
                <a:moveTo>
                  <a:pt x="595" y="447"/>
                </a:moveTo>
                <a:cubicBezTo>
                  <a:pt x="558" y="458"/>
                  <a:pt x="520" y="467"/>
                  <a:pt x="482" y="474"/>
                </a:cubicBezTo>
                <a:cubicBezTo>
                  <a:pt x="501" y="431"/>
                  <a:pt x="511" y="386"/>
                  <a:pt x="512" y="340"/>
                </a:cubicBezTo>
                <a:cubicBezTo>
                  <a:pt x="619" y="340"/>
                  <a:pt x="619" y="340"/>
                  <a:pt x="619" y="340"/>
                </a:cubicBezTo>
                <a:cubicBezTo>
                  <a:pt x="618" y="377"/>
                  <a:pt x="610" y="413"/>
                  <a:pt x="595" y="447"/>
                </a:cubicBezTo>
                <a:close/>
                <a:moveTo>
                  <a:pt x="341" y="619"/>
                </a:moveTo>
                <a:cubicBezTo>
                  <a:pt x="341" y="619"/>
                  <a:pt x="340" y="619"/>
                  <a:pt x="340" y="619"/>
                </a:cubicBezTo>
                <a:cubicBezTo>
                  <a:pt x="340" y="548"/>
                  <a:pt x="340" y="548"/>
                  <a:pt x="340" y="548"/>
                </a:cubicBezTo>
                <a:cubicBezTo>
                  <a:pt x="359" y="545"/>
                  <a:pt x="374" y="530"/>
                  <a:pt x="378" y="512"/>
                </a:cubicBezTo>
                <a:cubicBezTo>
                  <a:pt x="399" y="511"/>
                  <a:pt x="419" y="509"/>
                  <a:pt x="440" y="506"/>
                </a:cubicBezTo>
                <a:cubicBezTo>
                  <a:pt x="415" y="548"/>
                  <a:pt x="382" y="586"/>
                  <a:pt x="341" y="619"/>
                </a:cubicBezTo>
                <a:close/>
                <a:moveTo>
                  <a:pt x="220" y="506"/>
                </a:moveTo>
                <a:cubicBezTo>
                  <a:pt x="240" y="509"/>
                  <a:pt x="261" y="511"/>
                  <a:pt x="282" y="512"/>
                </a:cubicBezTo>
                <a:cubicBezTo>
                  <a:pt x="286" y="530"/>
                  <a:pt x="301" y="545"/>
                  <a:pt x="320" y="548"/>
                </a:cubicBezTo>
                <a:cubicBezTo>
                  <a:pt x="320" y="619"/>
                  <a:pt x="320" y="619"/>
                  <a:pt x="320" y="619"/>
                </a:cubicBezTo>
                <a:cubicBezTo>
                  <a:pt x="319" y="619"/>
                  <a:pt x="319" y="619"/>
                  <a:pt x="319" y="619"/>
                </a:cubicBezTo>
                <a:cubicBezTo>
                  <a:pt x="278" y="586"/>
                  <a:pt x="245" y="548"/>
                  <a:pt x="220" y="506"/>
                </a:cubicBezTo>
                <a:close/>
                <a:moveTo>
                  <a:pt x="65" y="213"/>
                </a:moveTo>
                <a:cubicBezTo>
                  <a:pt x="102" y="201"/>
                  <a:pt x="140" y="192"/>
                  <a:pt x="178" y="186"/>
                </a:cubicBezTo>
                <a:cubicBezTo>
                  <a:pt x="164" y="216"/>
                  <a:pt x="155" y="248"/>
                  <a:pt x="151" y="281"/>
                </a:cubicBezTo>
                <a:cubicBezTo>
                  <a:pt x="130" y="284"/>
                  <a:pt x="114" y="300"/>
                  <a:pt x="110" y="320"/>
                </a:cubicBezTo>
                <a:cubicBezTo>
                  <a:pt x="40" y="320"/>
                  <a:pt x="40" y="320"/>
                  <a:pt x="40" y="320"/>
                </a:cubicBezTo>
                <a:cubicBezTo>
                  <a:pt x="42" y="282"/>
                  <a:pt x="50" y="246"/>
                  <a:pt x="65" y="213"/>
                </a:cubicBezTo>
                <a:close/>
                <a:moveTo>
                  <a:pt x="319" y="40"/>
                </a:moveTo>
                <a:cubicBezTo>
                  <a:pt x="319" y="40"/>
                  <a:pt x="319" y="40"/>
                  <a:pt x="320" y="40"/>
                </a:cubicBezTo>
                <a:cubicBezTo>
                  <a:pt x="320" y="147"/>
                  <a:pt x="320" y="147"/>
                  <a:pt x="320" y="147"/>
                </a:cubicBezTo>
                <a:cubicBezTo>
                  <a:pt x="286" y="147"/>
                  <a:pt x="253" y="149"/>
                  <a:pt x="220" y="153"/>
                </a:cubicBezTo>
                <a:cubicBezTo>
                  <a:pt x="245" y="111"/>
                  <a:pt x="278" y="73"/>
                  <a:pt x="319" y="40"/>
                </a:cubicBezTo>
                <a:close/>
                <a:moveTo>
                  <a:pt x="429" y="135"/>
                </a:moveTo>
                <a:cubicBezTo>
                  <a:pt x="425" y="140"/>
                  <a:pt x="421" y="145"/>
                  <a:pt x="419" y="151"/>
                </a:cubicBezTo>
                <a:cubicBezTo>
                  <a:pt x="393" y="148"/>
                  <a:pt x="366" y="147"/>
                  <a:pt x="340" y="147"/>
                </a:cubicBezTo>
                <a:cubicBezTo>
                  <a:pt x="340" y="40"/>
                  <a:pt x="340" y="40"/>
                  <a:pt x="340" y="40"/>
                </a:cubicBezTo>
                <a:cubicBezTo>
                  <a:pt x="340" y="40"/>
                  <a:pt x="341" y="40"/>
                  <a:pt x="341" y="40"/>
                </a:cubicBezTo>
                <a:cubicBezTo>
                  <a:pt x="376" y="69"/>
                  <a:pt x="406" y="101"/>
                  <a:pt x="429" y="135"/>
                </a:cubicBezTo>
                <a:close/>
                <a:moveTo>
                  <a:pt x="340" y="173"/>
                </a:moveTo>
                <a:cubicBezTo>
                  <a:pt x="365" y="173"/>
                  <a:pt x="391" y="174"/>
                  <a:pt x="416" y="177"/>
                </a:cubicBezTo>
                <a:cubicBezTo>
                  <a:pt x="420" y="201"/>
                  <a:pt x="440" y="219"/>
                  <a:pt x="465" y="219"/>
                </a:cubicBezTo>
                <a:cubicBezTo>
                  <a:pt x="467" y="219"/>
                  <a:pt x="469" y="219"/>
                  <a:pt x="471" y="219"/>
                </a:cubicBezTo>
                <a:cubicBezTo>
                  <a:pt x="482" y="251"/>
                  <a:pt x="489" y="285"/>
                  <a:pt x="490" y="320"/>
                </a:cubicBezTo>
                <a:cubicBezTo>
                  <a:pt x="340" y="320"/>
                  <a:pt x="340" y="320"/>
                  <a:pt x="340" y="320"/>
                </a:cubicBezTo>
                <a:lnTo>
                  <a:pt x="340" y="173"/>
                </a:lnTo>
                <a:close/>
                <a:moveTo>
                  <a:pt x="488" y="169"/>
                </a:moveTo>
                <a:cubicBezTo>
                  <a:pt x="488" y="182"/>
                  <a:pt x="478" y="192"/>
                  <a:pt x="465" y="192"/>
                </a:cubicBezTo>
                <a:cubicBezTo>
                  <a:pt x="452" y="192"/>
                  <a:pt x="442" y="182"/>
                  <a:pt x="442" y="169"/>
                </a:cubicBezTo>
                <a:cubicBezTo>
                  <a:pt x="442" y="157"/>
                  <a:pt x="452" y="147"/>
                  <a:pt x="465" y="147"/>
                </a:cubicBezTo>
                <a:cubicBezTo>
                  <a:pt x="478" y="147"/>
                  <a:pt x="488" y="157"/>
                  <a:pt x="488" y="169"/>
                </a:cubicBezTo>
                <a:close/>
                <a:moveTo>
                  <a:pt x="320" y="173"/>
                </a:moveTo>
                <a:cubicBezTo>
                  <a:pt x="320" y="320"/>
                  <a:pt x="320" y="320"/>
                  <a:pt x="320" y="320"/>
                </a:cubicBezTo>
                <a:cubicBezTo>
                  <a:pt x="207" y="320"/>
                  <a:pt x="207" y="320"/>
                  <a:pt x="207" y="320"/>
                </a:cubicBezTo>
                <a:cubicBezTo>
                  <a:pt x="204" y="302"/>
                  <a:pt x="190" y="288"/>
                  <a:pt x="173" y="282"/>
                </a:cubicBezTo>
                <a:cubicBezTo>
                  <a:pt x="178" y="248"/>
                  <a:pt x="189" y="214"/>
                  <a:pt x="204" y="181"/>
                </a:cubicBezTo>
                <a:cubicBezTo>
                  <a:pt x="243" y="176"/>
                  <a:pt x="281" y="173"/>
                  <a:pt x="320" y="173"/>
                </a:cubicBezTo>
                <a:close/>
                <a:moveTo>
                  <a:pt x="181" y="330"/>
                </a:moveTo>
                <a:cubicBezTo>
                  <a:pt x="181" y="342"/>
                  <a:pt x="171" y="352"/>
                  <a:pt x="159" y="352"/>
                </a:cubicBezTo>
                <a:cubicBezTo>
                  <a:pt x="146" y="352"/>
                  <a:pt x="136" y="342"/>
                  <a:pt x="136" y="330"/>
                </a:cubicBezTo>
                <a:cubicBezTo>
                  <a:pt x="136" y="317"/>
                  <a:pt x="146" y="307"/>
                  <a:pt x="159" y="307"/>
                </a:cubicBezTo>
                <a:cubicBezTo>
                  <a:pt x="171" y="307"/>
                  <a:pt x="181" y="317"/>
                  <a:pt x="181" y="330"/>
                </a:cubicBezTo>
                <a:close/>
                <a:moveTo>
                  <a:pt x="40" y="340"/>
                </a:moveTo>
                <a:cubicBezTo>
                  <a:pt x="110" y="340"/>
                  <a:pt x="110" y="340"/>
                  <a:pt x="110" y="340"/>
                </a:cubicBezTo>
                <a:cubicBezTo>
                  <a:pt x="114" y="360"/>
                  <a:pt x="130" y="375"/>
                  <a:pt x="151" y="379"/>
                </a:cubicBezTo>
                <a:cubicBezTo>
                  <a:pt x="155" y="411"/>
                  <a:pt x="164" y="443"/>
                  <a:pt x="178" y="474"/>
                </a:cubicBezTo>
                <a:cubicBezTo>
                  <a:pt x="140" y="467"/>
                  <a:pt x="102" y="458"/>
                  <a:pt x="65" y="447"/>
                </a:cubicBezTo>
                <a:cubicBezTo>
                  <a:pt x="50" y="413"/>
                  <a:pt x="42" y="377"/>
                  <a:pt x="40" y="340"/>
                </a:cubicBezTo>
                <a:close/>
                <a:moveTo>
                  <a:pt x="173" y="377"/>
                </a:moveTo>
                <a:cubicBezTo>
                  <a:pt x="190" y="372"/>
                  <a:pt x="204" y="358"/>
                  <a:pt x="207" y="340"/>
                </a:cubicBezTo>
                <a:cubicBezTo>
                  <a:pt x="320" y="340"/>
                  <a:pt x="320" y="340"/>
                  <a:pt x="320" y="340"/>
                </a:cubicBezTo>
                <a:cubicBezTo>
                  <a:pt x="320" y="451"/>
                  <a:pt x="320" y="451"/>
                  <a:pt x="320" y="451"/>
                </a:cubicBezTo>
                <a:cubicBezTo>
                  <a:pt x="302" y="455"/>
                  <a:pt x="288" y="468"/>
                  <a:pt x="282" y="486"/>
                </a:cubicBezTo>
                <a:cubicBezTo>
                  <a:pt x="256" y="484"/>
                  <a:pt x="230" y="482"/>
                  <a:pt x="204" y="478"/>
                </a:cubicBezTo>
                <a:cubicBezTo>
                  <a:pt x="189" y="446"/>
                  <a:pt x="178" y="412"/>
                  <a:pt x="173" y="377"/>
                </a:cubicBezTo>
                <a:close/>
                <a:moveTo>
                  <a:pt x="353" y="500"/>
                </a:moveTo>
                <a:cubicBezTo>
                  <a:pt x="353" y="512"/>
                  <a:pt x="342" y="523"/>
                  <a:pt x="330" y="523"/>
                </a:cubicBezTo>
                <a:cubicBezTo>
                  <a:pt x="317" y="523"/>
                  <a:pt x="307" y="512"/>
                  <a:pt x="307" y="500"/>
                </a:cubicBezTo>
                <a:cubicBezTo>
                  <a:pt x="307" y="487"/>
                  <a:pt x="317" y="477"/>
                  <a:pt x="330" y="477"/>
                </a:cubicBezTo>
                <a:cubicBezTo>
                  <a:pt x="342" y="477"/>
                  <a:pt x="353" y="487"/>
                  <a:pt x="353" y="500"/>
                </a:cubicBezTo>
                <a:close/>
                <a:moveTo>
                  <a:pt x="377" y="486"/>
                </a:moveTo>
                <a:cubicBezTo>
                  <a:pt x="372" y="468"/>
                  <a:pt x="358" y="455"/>
                  <a:pt x="340" y="451"/>
                </a:cubicBezTo>
                <a:cubicBezTo>
                  <a:pt x="340" y="340"/>
                  <a:pt x="340" y="340"/>
                  <a:pt x="340" y="340"/>
                </a:cubicBezTo>
                <a:cubicBezTo>
                  <a:pt x="490" y="340"/>
                  <a:pt x="490" y="340"/>
                  <a:pt x="490" y="340"/>
                </a:cubicBezTo>
                <a:cubicBezTo>
                  <a:pt x="488" y="387"/>
                  <a:pt x="477" y="434"/>
                  <a:pt x="455" y="478"/>
                </a:cubicBezTo>
                <a:cubicBezTo>
                  <a:pt x="430" y="482"/>
                  <a:pt x="404" y="484"/>
                  <a:pt x="377" y="486"/>
                </a:cubicBezTo>
                <a:close/>
                <a:moveTo>
                  <a:pt x="512" y="320"/>
                </a:moveTo>
                <a:cubicBezTo>
                  <a:pt x="511" y="283"/>
                  <a:pt x="504" y="246"/>
                  <a:pt x="492" y="211"/>
                </a:cubicBezTo>
                <a:cubicBezTo>
                  <a:pt x="500" y="206"/>
                  <a:pt x="506" y="199"/>
                  <a:pt x="510" y="191"/>
                </a:cubicBezTo>
                <a:cubicBezTo>
                  <a:pt x="539" y="197"/>
                  <a:pt x="567" y="204"/>
                  <a:pt x="595" y="213"/>
                </a:cubicBezTo>
                <a:cubicBezTo>
                  <a:pt x="610" y="246"/>
                  <a:pt x="618" y="282"/>
                  <a:pt x="619" y="320"/>
                </a:cubicBezTo>
                <a:lnTo>
                  <a:pt x="512" y="320"/>
                </a:lnTo>
                <a:close/>
                <a:moveTo>
                  <a:pt x="125" y="125"/>
                </a:moveTo>
                <a:cubicBezTo>
                  <a:pt x="168" y="82"/>
                  <a:pt x="221" y="54"/>
                  <a:pt x="280" y="44"/>
                </a:cubicBezTo>
                <a:cubicBezTo>
                  <a:pt x="245" y="76"/>
                  <a:pt x="217" y="112"/>
                  <a:pt x="195" y="151"/>
                </a:cubicBezTo>
                <a:cubicBezTo>
                  <a:pt x="194" y="153"/>
                  <a:pt x="193" y="155"/>
                  <a:pt x="192" y="157"/>
                </a:cubicBezTo>
                <a:cubicBezTo>
                  <a:pt x="155" y="162"/>
                  <a:pt x="118" y="170"/>
                  <a:pt x="81" y="180"/>
                </a:cubicBezTo>
                <a:cubicBezTo>
                  <a:pt x="93" y="160"/>
                  <a:pt x="108" y="142"/>
                  <a:pt x="125" y="125"/>
                </a:cubicBezTo>
                <a:close/>
                <a:moveTo>
                  <a:pt x="81" y="479"/>
                </a:moveTo>
                <a:cubicBezTo>
                  <a:pt x="118" y="489"/>
                  <a:pt x="155" y="497"/>
                  <a:pt x="192" y="503"/>
                </a:cubicBezTo>
                <a:cubicBezTo>
                  <a:pt x="193" y="505"/>
                  <a:pt x="194" y="506"/>
                  <a:pt x="195" y="508"/>
                </a:cubicBezTo>
                <a:cubicBezTo>
                  <a:pt x="217" y="547"/>
                  <a:pt x="245" y="583"/>
                  <a:pt x="280" y="615"/>
                </a:cubicBezTo>
                <a:cubicBezTo>
                  <a:pt x="221" y="605"/>
                  <a:pt x="168" y="577"/>
                  <a:pt x="125" y="535"/>
                </a:cubicBezTo>
                <a:cubicBezTo>
                  <a:pt x="108" y="518"/>
                  <a:pt x="93" y="499"/>
                  <a:pt x="81" y="479"/>
                </a:cubicBezTo>
                <a:close/>
                <a:moveTo>
                  <a:pt x="535" y="535"/>
                </a:moveTo>
                <a:cubicBezTo>
                  <a:pt x="492" y="577"/>
                  <a:pt x="438" y="605"/>
                  <a:pt x="380" y="615"/>
                </a:cubicBezTo>
                <a:cubicBezTo>
                  <a:pt x="415" y="583"/>
                  <a:pt x="443" y="547"/>
                  <a:pt x="465" y="508"/>
                </a:cubicBezTo>
                <a:cubicBezTo>
                  <a:pt x="466" y="506"/>
                  <a:pt x="467" y="505"/>
                  <a:pt x="468" y="503"/>
                </a:cubicBezTo>
                <a:cubicBezTo>
                  <a:pt x="505" y="497"/>
                  <a:pt x="542" y="489"/>
                  <a:pt x="578" y="479"/>
                </a:cubicBezTo>
                <a:cubicBezTo>
                  <a:pt x="566" y="499"/>
                  <a:pt x="552" y="518"/>
                  <a:pt x="535" y="5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id-ID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5308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2" grpId="0" bldLvl="0" animBg="1"/>
    </p:bldLst>
  </p:timing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3qymvth">
      <a:majorFont>
        <a:latin typeface="微软雅黑" panose="020F0302020204030204"/>
        <a:ea typeface="微软雅黑"/>
        <a:cs typeface="Arial"/>
      </a:majorFont>
      <a:minorFont>
        <a:latin typeface="微软雅黑" panose="020F0302020204030204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965</Words>
  <Application>Microsoft Office PowerPoint</Application>
  <PresentationFormat>宽屏</PresentationFormat>
  <Paragraphs>122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quote-cjk-patch</vt:lpstr>
      <vt:lpstr>等线</vt:lpstr>
      <vt:lpstr>微软雅黑</vt:lpstr>
      <vt:lpstr>Arial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毛浩然</dc:creator>
  <cp:lastModifiedBy>浩然 毛</cp:lastModifiedBy>
  <cp:revision>21</cp:revision>
  <cp:lastPrinted>2025-05-01T05:13:02Z</cp:lastPrinted>
  <dcterms:created xsi:type="dcterms:W3CDTF">2025-05-01T05:13:02Z</dcterms:created>
  <dcterms:modified xsi:type="dcterms:W3CDTF">2025-12-29T12:13:37Z</dcterms:modified>
</cp:coreProperties>
</file>